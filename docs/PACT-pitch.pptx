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varyColors/>
        <c:ser>
          <c:idx val="0"/>
          <c:order val="0"/>
          <c:tx>
            <c:strRef>
              <c:f>Sheet1!$B$1</c:f>
              <c:strCache>
                <c:ptCount val="1"/>
                <c:pt idx="0">
                  <c:v>Net per 100 sessions</c:v>
                </c:pt>
              </c:strCache>
            </c:strRef>
          </c:tx>
          <c:dPt>
            <c:idx val="0"/>
            <c:spPr>
              <a:solidFill>
                <a:srgbClr val="64748B"/>
              </a:solidFill>
              <a:ln>
                <a:noFill/>
              </a:ln>
            </c:spPr>
          </c:dPt>
          <c:dPt>
            <c:idx val="1"/>
            <c:spPr>
              <a:solidFill>
                <a:srgbClr val="EF4444"/>
              </a:solidFill>
              <a:ln>
                <a:noFill/>
              </a:ln>
            </c:spPr>
          </c:dPt>
          <c:dPt>
            <c:idx val="2"/>
            <c:spPr>
              <a:solidFill>
                <a:srgbClr val="F59E0B"/>
              </a:solidFill>
              <a:ln>
                <a:noFill/>
              </a:ln>
            </c:spPr>
          </c:dPt>
          <c:dPt>
            <c:idx val="3"/>
            <c:spPr>
              <a:solidFill>
                <a:srgbClr val="10B981"/>
              </a:solidFill>
              <a:ln>
                <a:noFill/>
              </a:ln>
            </c:spPr>
          </c:dPt>
          <c:cat>
            <c:strRef>
              <c:f>Sheet1!$A$2:$A$5</c:f>
              <c:strCache>
                <c:ptCount val="4"/>
                <c:pt idx="0">
                  <c:v>A  human only
(modelled)</c:v>
                </c:pt>
                <c:pt idx="1">
                  <c:v>B  agent, no
authority checks</c:v>
                </c:pt>
                <c:pt idx="2">
                  <c:v>C  client-side
cap</c:v>
                </c:pt>
                <c:pt idx="3">
                  <c:v>D  PACT</c:v>
                </c:pt>
              </c:strCache>
            </c:strRef>
          </c:cat>
          <c:val>
            <c:numRef>
              <c:f>Sheet1!$B$2:$B$5</c:f>
              <c:numCache>
                <c:formatCode>General</c:formatCode>
                <c:ptCount val="4"/>
                <c:pt idx="0">
                  <c:v>99.5</c:v>
                </c:pt>
                <c:pt idx="1">
                  <c:v>171.2</c:v>
                </c:pt>
                <c:pt idx="2">
                  <c:v>131.5</c:v>
                </c:pt>
                <c:pt idx="3">
                  <c:v>164.7</c:v>
                </c:pt>
              </c:numCache>
            </c:numRef>
          </c:val>
        </c:ser>
        <c:dLbls>
          <c:numFmt formatCode="₹#,##0.0&quot;k&quot;" sourceLinked="0"/>
          <c:txPr>
            <a:bodyPr/>
            <a:lstStyle/>
            <a:p>
              <a:pPr>
                <a:defRPr sz="1100" b="1">
                  <a:solidFill>
                    <a:srgbClr val="0F172A"/>
                  </a:solidFill>
                  <a:latin typeface="Aria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E2E8F0"/>
            </a:solidFill>
          </a:ln>
        </c:spPr>
        <c:txPr>
          <a:bodyPr/>
          <a:lstStyle/>
          <a:p>
            <a:pPr>
              <a:defRPr sz="1100">
                <a:solidFill>
                  <a:srgbClr val="64748B"/>
                </a:solidFill>
                <a:latin typeface="Arial"/>
              </a:defRPr>
            </a:pPr>
          </a:p>
        </c:txPr>
        <c:crossAx val="-2113994440"/>
        <c:crosses val="autoZero"/>
        <c:auto val="1"/>
        <c:lblAlgn val="ctr"/>
        <c:lblOffset val="100"/>
        <c:noMultiLvlLbl val="0"/>
      </c:catAx>
      <c:valAx>
        <c:axId val="-2113994440"/>
        <c:scaling/>
        <c:delete val="0"/>
        <c:axPos val="l"/>
        <c:majorGridlines>
          <c:spPr>
            <a:ln w="9525">
              <a:solidFill>
                <a:srgbClr val="E2E8F0"/>
              </a:solidFill>
            </a:ln>
          </c:spPr>
        </c:majorGridlines>
        <c:title>
          <c:tx>
            <c:rich>
              <a:bodyPr/>
              <a:lstStyle/>
              <a:p>
                <a:r>
                  <a:rPr sz="1000" b="0">
                    <a:solidFill>
                      <a:srgbClr val="64748B"/>
                    </a:solidFill>
                    <a:latin typeface="Arial"/>
                  </a:rPr>
                  <a:t>₹ thousands, net per 100 sessions</a:t>
                </a:r>
              </a:p>
            </c:rich>
          </c:tx>
          <c:layout/>
          <c:overlay val="0"/>
        </c:title>
        <c:majorTickMark val="out"/>
        <c:minorTickMark val="none"/>
        <c:tickLblPos val="nextTo"/>
        <c:spPr>
          <a:ln>
            <a:noFill/>
          </a:ln>
        </c:spPr>
        <c:txPr>
          <a:bodyPr/>
          <a:lstStyle/>
          <a:p>
            <a:pPr>
              <a:defRPr sz="1100">
                <a:solidFill>
                  <a:srgbClr val="64748B"/>
                </a:solidFill>
                <a:latin typeface="Arial"/>
              </a:defRPr>
            </a:pPr>
          </a:p>
        </c:txPr>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B — no authority checks</c:v>
                </c:pt>
              </c:strCache>
            </c:strRef>
          </c:tx>
          <c:spPr>
            <a:ln w="31750">
              <a:solidFill>
                <a:srgbClr val="EF4444"/>
              </a:solidFill>
            </a:ln>
          </c:spPr>
          <c:cat>
            <c:strRef>
              <c:f>Sheet1!$A$2:$A$7</c:f>
              <c:strCache>
                <c:ptCount val="6"/>
                <c:pt idx="0">
                  <c:v>0%</c:v>
                </c:pt>
                <c:pt idx="1">
                  <c:v>5%</c:v>
                </c:pt>
                <c:pt idx="2">
                  <c:v>10%</c:v>
                </c:pt>
                <c:pt idx="3">
                  <c:v>20%</c:v>
                </c:pt>
                <c:pt idx="4">
                  <c:v>35%</c:v>
                </c:pt>
                <c:pt idx="5">
                  <c:v>50%</c:v>
                </c:pt>
              </c:strCache>
            </c:strRef>
          </c:cat>
          <c:val>
            <c:numRef>
              <c:f>Sheet1!$B$2:$B$7</c:f>
              <c:numCache>
                <c:formatCode>General</c:formatCode>
                <c:ptCount val="6"/>
                <c:pt idx="0">
                  <c:v>111.1</c:v>
                </c:pt>
                <c:pt idx="1">
                  <c:v>108.5</c:v>
                </c:pt>
                <c:pt idx="2">
                  <c:v>106.0</c:v>
                </c:pt>
                <c:pt idx="3">
                  <c:v>98.5</c:v>
                </c:pt>
                <c:pt idx="4">
                  <c:v>90.1</c:v>
                </c:pt>
                <c:pt idx="5">
                  <c:v>82.4</c:v>
                </c:pt>
              </c:numCache>
            </c:numRef>
          </c:val>
          <c:smooth val="0"/>
        </c:ser>
        <c:ser>
          <c:idx val="1"/>
          <c:order val="1"/>
          <c:tx>
            <c:strRef>
              <c:f>Sheet1!$C$1</c:f>
              <c:strCache>
                <c:ptCount val="1"/>
                <c:pt idx="0">
                  <c:v>D — PACT</c:v>
                </c:pt>
              </c:strCache>
            </c:strRef>
          </c:tx>
          <c:spPr>
            <a:ln w="31750">
              <a:solidFill>
                <a:srgbClr val="10B981"/>
              </a:solidFill>
            </a:ln>
          </c:spPr>
          <c:cat>
            <c:strRef>
              <c:f>Sheet1!$A$2:$A$7</c:f>
              <c:strCache>
                <c:ptCount val="6"/>
                <c:pt idx="0">
                  <c:v>0%</c:v>
                </c:pt>
                <c:pt idx="1">
                  <c:v>5%</c:v>
                </c:pt>
                <c:pt idx="2">
                  <c:v>10%</c:v>
                </c:pt>
                <c:pt idx="3">
                  <c:v>20%</c:v>
                </c:pt>
                <c:pt idx="4">
                  <c:v>35%</c:v>
                </c:pt>
                <c:pt idx="5">
                  <c:v>50%</c:v>
                </c:pt>
              </c:strCache>
            </c:strRef>
          </c:cat>
          <c:val>
            <c:numRef>
              <c:f>Sheet1!$C$2:$C$7</c:f>
              <c:numCache>
                <c:formatCode>General</c:formatCode>
                <c:ptCount val="6"/>
                <c:pt idx="0">
                  <c:v>100.0</c:v>
                </c:pt>
                <c:pt idx="1">
                  <c:v>100.0</c:v>
                </c:pt>
                <c:pt idx="2">
                  <c:v>100.0</c:v>
                </c:pt>
                <c:pt idx="3">
                  <c:v>100.0</c:v>
                </c:pt>
                <c:pt idx="4">
                  <c:v>100.0</c:v>
                </c:pt>
                <c:pt idx="5">
                  <c:v>100.0</c:v>
                </c:pt>
              </c:numCache>
            </c:numRef>
          </c:val>
          <c:smooth val="0"/>
        </c:ser>
        <c:marker val="1"/>
        <c:smooth val="0"/>
        <c:axId val="2118791784"/>
        <c:axId val="2140495176"/>
      </c:lineChart>
      <c:catAx>
        <c:axId val="2118791784"/>
        <c:scaling>
          <c:orientation val="minMax"/>
        </c:scaling>
        <c:delete val="0"/>
        <c:axPos val="b"/>
        <c:title>
          <c:tx>
            <c:rich>
              <a:bodyPr/>
              <a:lstStyle/>
              <a:p>
                <a:r>
                  <a:rPr sz="1000" b="0">
                    <a:solidFill>
                      <a:srgbClr val="64748B"/>
                    </a:solidFill>
                    <a:latin typeface="Arial"/>
                  </a:rPr>
                  <a:t>share of sessions that are adversarial</a:t>
                </a:r>
              </a:p>
            </c:rich>
          </c:tx>
          <c:layout/>
          <c:overlay val="0"/>
        </c:title>
        <c:majorTickMark val="out"/>
        <c:minorTickMark val="none"/>
        <c:tickLblPos val="nextTo"/>
        <c:spPr>
          <a:ln>
            <a:solidFill>
              <a:srgbClr val="E2E8F0"/>
            </a:solidFill>
          </a:ln>
        </c:spPr>
        <c:txPr>
          <a:bodyPr/>
          <a:lstStyle/>
          <a:p>
            <a:pPr>
              <a:defRPr sz="1100">
                <a:solidFill>
                  <a:srgbClr val="64748B"/>
                </a:solidFill>
                <a:latin typeface="Arial"/>
              </a:defRPr>
            </a:pPr>
          </a:p>
        </c:txPr>
        <c:crossAx val="2140495176"/>
        <c:crosses val="autoZero"/>
        <c:auto val="1"/>
        <c:lblAlgn val="ctr"/>
        <c:lblOffset val="100"/>
        <c:noMultiLvlLbl val="0"/>
      </c:catAx>
      <c:valAx>
        <c:axId val="2140495176"/>
        <c:scaling>
          <c:max val="115.0"/>
          <c:min val="70.0"/>
        </c:scaling>
        <c:delete val="0"/>
        <c:axPos val="l"/>
        <c:majorGridlines>
          <c:spPr>
            <a:ln w="9525">
              <a:solidFill>
                <a:srgbClr val="E2E8F0"/>
              </a:solidFill>
            </a:ln>
          </c:spPr>
        </c:majorGridlines>
        <c:title>
          <c:tx>
            <c:rich>
              <a:bodyPr/>
              <a:lstStyle/>
              <a:p>
                <a:r>
                  <a:rPr sz="1000" b="0">
                    <a:solidFill>
                      <a:srgbClr val="64748B"/>
                    </a:solidFill>
                    <a:latin typeface="Arial"/>
                  </a:rPr>
                  <a:t>net, indexed to PACT = 100</a:t>
                </a:r>
              </a:p>
            </c:rich>
          </c:tx>
          <c:layout/>
          <c:overlay val="0"/>
        </c:title>
        <c:majorTickMark val="out"/>
        <c:minorTickMark val="none"/>
        <c:tickLblPos val="nextTo"/>
        <c:spPr>
          <a:ln>
            <a:noFill/>
          </a:ln>
        </c:spPr>
        <c:txPr>
          <a:bodyPr/>
          <a:lstStyle/>
          <a:p>
            <a:pPr>
              <a:defRPr sz="1100">
                <a:solidFill>
                  <a:srgbClr val="64748B"/>
                </a:solidFill>
                <a:latin typeface="Arial"/>
              </a:defRPr>
            </a:pPr>
          </a:p>
        </c:txPr>
        <c:crossAx val="2118791784"/>
        <c:crosses val="autoZero"/>
      </c:valAx>
    </c:plotArea>
    <c:legend>
      <c:legendPos val="b"/>
      <c:overlay val="0"/>
      <c:txPr>
        <a:bodyPr/>
        <a:lstStyle/>
        <a:p>
          <a:pPr>
            <a:defRPr sz="1100">
              <a:latin typeface="Arial"/>
            </a:defRPr>
          </a:pPr>
        </a:p>
      </c:txPr>
    </c:legend>
    <c:plotVisOnly val="1"/>
    <c:dispBlanksAs val="gap"/>
    <c:showDLblsOverMax val="0"/>
  </c:chart>
  <c:txPr>
    <a:bodyPr/>
    <a:lstStyle/>
    <a:p>
      <a:pPr>
        <a:defRPr sz="11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today a merchant cannot see what the buyer's agent is allowed to spend until after it has made the offer. PACT closes that, and the numbers on this slide are all generated by the repo — eval/results/results.md and CI.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claim nobody has solved payments for agents — they have. The claim is narrower and defensible: nothing exposes remaining authority to the merchant before the offer is made.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privacy line is the one judges remember. tests/test_headroom.py asserts the field set, so a future field cannot leak the budget by accident.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layering rule is what makes the second rail cheap and the demo runnable with no keys at all. tests/test_invariants.py.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10, intent, is the only probabilistic one. It is also optional by design: with no ANTHROPIC_API_KEY the gate runs checks 1-9 plus a deterministic injection scan, and says so rather than pretending.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tests/test_addons.py puts every suggested addon through the real gate — one BLOCK fails the suite. It also asserts the naive upsell still offers something the gate rejects, because a comparison with one side measured is not a comparison.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Arm A is modelled, not simulated — there is no agent to run — and the two assumptions behind it (34% completion, 11% addon) are stated in results.md. The comparison that matters is C against D: both fully simulated. 8% of sessions in every arm are adversarial.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this slide. It is the one that makes every other number credible. The sweep is six points from results.md, indexed so the shape is the message: B slopes down, D is a flat 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fires these live. The console shows the check that caught each one, in order, with timings — that is the artifact, not the verdict.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runs this live: forced stockout, refund, budget released, alternative accepted. The budget going back up on screen is the moment worth pausing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docs/RUNBOOK.md is the stage script. If anything breaks twice: play the video and keep talking — it is the same demo, captioned.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has to fail to complete or the contrast it exists to draw is not there — so the beats are asserted on what they prove, not on a 200.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Volunteering this is worth more than being asked. Each item names what stands in for the missing thing and what that substitute cannot catch.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one line you opened with. Then offer the console: it is running, and the six beats take about a minute.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417320"/>
            <a:ext cx="5486400" cy="365760"/>
          </a:xfrm>
          <a:prstGeom prst="rect">
            <a:avLst/>
          </a:prstGeom>
          <a:noFill/>
        </p:spPr>
        <p:txBody>
          <a:bodyPr wrap="square" anchor="t" lIns="0" rIns="0" tIns="0" bIns="0">
            <a:spAutoFit/>
          </a:bodyPr>
          <a:lstStyle/>
          <a:p>
            <a:pPr algn="l">
              <a:lnSpc>
                <a:spcPct val="100000"/>
              </a:lnSpc>
            </a:pPr>
            <a:r>
              <a:rPr sz="1150" b="1" i="0">
                <a:solidFill>
                  <a:srgbClr val="6366F1"/>
                </a:solidFill>
                <a:latin typeface="Arial"/>
              </a:rPr>
              <a:t>RAZORPAY  ·  AI GROWTH &amp; AGENTIC COMMERCE</a:t>
            </a:r>
          </a:p>
        </p:txBody>
      </p:sp>
      <p:sp>
        <p:nvSpPr>
          <p:cNvPr id="4" name="TextBox 3"/>
          <p:cNvSpPr txBox="1"/>
          <p:nvPr/>
        </p:nvSpPr>
        <p:spPr>
          <a:xfrm>
            <a:off x="658368" y="1828800"/>
            <a:ext cx="7315200" cy="1188720"/>
          </a:xfrm>
          <a:prstGeom prst="rect">
            <a:avLst/>
          </a:prstGeom>
          <a:noFill/>
        </p:spPr>
        <p:txBody>
          <a:bodyPr wrap="square" anchor="t" lIns="0" rIns="0" tIns="0" bIns="0">
            <a:spAutoFit/>
          </a:bodyPr>
          <a:lstStyle/>
          <a:p>
            <a:pPr algn="l">
              <a:lnSpc>
                <a:spcPct val="100000"/>
              </a:lnSpc>
            </a:pPr>
            <a:r>
              <a:rPr sz="8200" b="1" i="0">
                <a:solidFill>
                  <a:srgbClr val="FFFFFF"/>
                </a:solidFill>
                <a:latin typeface="Arial"/>
              </a:rPr>
              <a:t>PACT</a:t>
            </a:r>
          </a:p>
        </p:txBody>
      </p:sp>
      <p:sp>
        <p:nvSpPr>
          <p:cNvPr id="5" name="Rectangle 4"/>
          <p:cNvSpPr/>
          <p:nvPr/>
        </p:nvSpPr>
        <p:spPr>
          <a:xfrm>
            <a:off x="658368" y="3127248"/>
            <a:ext cx="1371600" cy="411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429000"/>
            <a:ext cx="8595360" cy="1188720"/>
          </a:xfrm>
          <a:prstGeom prst="rect">
            <a:avLst/>
          </a:prstGeom>
          <a:noFill/>
        </p:spPr>
        <p:txBody>
          <a:bodyPr wrap="square" anchor="t" lIns="0" rIns="0" tIns="0" bIns="0">
            <a:spAutoFit/>
          </a:bodyPr>
          <a:lstStyle/>
          <a:p>
            <a:pPr algn="l">
              <a:lnSpc>
                <a:spcPct val="125000"/>
              </a:lnSpc>
            </a:pPr>
            <a:r>
              <a:rPr sz="2500" b="0" i="0">
                <a:solidFill>
                  <a:srgbClr val="FFFFFF"/>
                </a:solidFill>
                <a:latin typeface="Arial"/>
              </a:rPr>
              <a:t>The merchant reads what the buyer is allowed to spend —
before it quotes.</a:t>
            </a:r>
          </a:p>
        </p:txBody>
      </p:sp>
      <p:sp>
        <p:nvSpPr>
          <p:cNvPr id="7" name="TextBox 6"/>
          <p:cNvSpPr txBox="1"/>
          <p:nvPr/>
        </p:nvSpPr>
        <p:spPr>
          <a:xfrm>
            <a:off x="658368" y="4617720"/>
            <a:ext cx="8046720" cy="548640"/>
          </a:xfrm>
          <a:prstGeom prst="rect">
            <a:avLst/>
          </a:prstGeom>
          <a:noFill/>
        </p:spPr>
        <p:txBody>
          <a:bodyPr wrap="square" anchor="t" lIns="0" rIns="0" tIns="0" bIns="0">
            <a:spAutoFit/>
          </a:bodyPr>
          <a:lstStyle/>
          <a:p>
            <a:pPr algn="l">
              <a:lnSpc>
                <a:spcPct val="130000"/>
              </a:lnSpc>
            </a:pPr>
            <a:r>
              <a:rPr sz="1350" b="0" i="0">
                <a:solidFill>
                  <a:srgbClr val="CBD5E1"/>
                </a:solidFill>
                <a:latin typeface="Arial"/>
              </a:rPr>
              <a:t>A signed delegation the buyer's agent carries, a gate that decides on authority alone, and a merchant that only ever offers what will be approved.</a:t>
            </a:r>
          </a:p>
        </p:txBody>
      </p:sp>
      <p:sp>
        <p:nvSpPr>
          <p:cNvPr id="8" name="TextBox 7"/>
          <p:cNvSpPr txBox="1"/>
          <p:nvPr/>
        </p:nvSpPr>
        <p:spPr>
          <a:xfrm>
            <a:off x="658368" y="5623560"/>
            <a:ext cx="2651760" cy="384048"/>
          </a:xfrm>
          <a:prstGeom prst="rect">
            <a:avLst/>
          </a:prstGeom>
          <a:noFill/>
        </p:spPr>
        <p:txBody>
          <a:bodyPr wrap="square" anchor="t" lIns="0" rIns="0" tIns="0" bIns="0">
            <a:spAutoFit/>
          </a:bodyPr>
          <a:lstStyle/>
          <a:p>
            <a:pPr algn="l">
              <a:lnSpc>
                <a:spcPct val="100000"/>
              </a:lnSpc>
            </a:pPr>
            <a:r>
              <a:rPr sz="2600" b="1" i="0">
                <a:solidFill>
                  <a:srgbClr val="10B981"/>
                </a:solidFill>
                <a:latin typeface="Arial"/>
              </a:rPr>
              <a:t>0%</a:t>
            </a:r>
          </a:p>
        </p:txBody>
      </p:sp>
      <p:sp>
        <p:nvSpPr>
          <p:cNvPr id="9" name="TextBox 8"/>
          <p:cNvSpPr txBox="1"/>
          <p:nvPr/>
        </p:nvSpPr>
        <p:spPr>
          <a:xfrm>
            <a:off x="658368" y="6053328"/>
            <a:ext cx="2651760" cy="274320"/>
          </a:xfrm>
          <a:prstGeom prst="rect">
            <a:avLst/>
          </a:prstGeom>
          <a:noFill/>
        </p:spPr>
        <p:txBody>
          <a:bodyPr wrap="square" anchor="t" lIns="0" rIns="0" tIns="0" bIns="0">
            <a:spAutoFit/>
          </a:bodyPr>
          <a:lstStyle/>
          <a:p>
            <a:pPr algn="l">
              <a:lnSpc>
                <a:spcPct val="100000"/>
              </a:lnSpc>
            </a:pPr>
            <a:r>
              <a:rPr sz="1100" b="0" i="0">
                <a:solidFill>
                  <a:srgbClr val="CBD5E1"/>
                </a:solidFill>
                <a:latin typeface="Arial"/>
              </a:rPr>
              <a:t>false block rate</a:t>
            </a:r>
          </a:p>
        </p:txBody>
      </p:sp>
      <p:sp>
        <p:nvSpPr>
          <p:cNvPr id="10" name="TextBox 9"/>
          <p:cNvSpPr txBox="1"/>
          <p:nvPr/>
        </p:nvSpPr>
        <p:spPr>
          <a:xfrm>
            <a:off x="3355848" y="5623560"/>
            <a:ext cx="2651760" cy="384048"/>
          </a:xfrm>
          <a:prstGeom prst="rect">
            <a:avLst/>
          </a:prstGeom>
          <a:noFill/>
        </p:spPr>
        <p:txBody>
          <a:bodyPr wrap="square" anchor="t" lIns="0" rIns="0" tIns="0" bIns="0">
            <a:spAutoFit/>
          </a:bodyPr>
          <a:lstStyle/>
          <a:p>
            <a:pPr algn="l">
              <a:lnSpc>
                <a:spcPct val="100000"/>
              </a:lnSpc>
            </a:pPr>
            <a:r>
              <a:rPr sz="2600" b="1" i="0">
                <a:solidFill>
                  <a:srgbClr val="3B82F6"/>
                </a:solidFill>
                <a:latin typeface="Arial"/>
              </a:rPr>
              <a:t>13 / 13</a:t>
            </a:r>
          </a:p>
        </p:txBody>
      </p:sp>
      <p:sp>
        <p:nvSpPr>
          <p:cNvPr id="11" name="TextBox 10"/>
          <p:cNvSpPr txBox="1"/>
          <p:nvPr/>
        </p:nvSpPr>
        <p:spPr>
          <a:xfrm>
            <a:off x="3355848" y="6053328"/>
            <a:ext cx="2651760" cy="274320"/>
          </a:xfrm>
          <a:prstGeom prst="rect">
            <a:avLst/>
          </a:prstGeom>
          <a:noFill/>
        </p:spPr>
        <p:txBody>
          <a:bodyPr wrap="square" anchor="t" lIns="0" rIns="0" tIns="0" bIns="0">
            <a:spAutoFit/>
          </a:bodyPr>
          <a:lstStyle/>
          <a:p>
            <a:pPr algn="l">
              <a:lnSpc>
                <a:spcPct val="100000"/>
              </a:lnSpc>
            </a:pPr>
            <a:r>
              <a:rPr sz="1100" b="0" i="0">
                <a:solidFill>
                  <a:srgbClr val="CBD5E1"/>
                </a:solidFill>
                <a:latin typeface="Arial"/>
              </a:rPr>
              <a:t>attack variants blocked</a:t>
            </a:r>
          </a:p>
        </p:txBody>
      </p:sp>
      <p:sp>
        <p:nvSpPr>
          <p:cNvPr id="12" name="TextBox 11"/>
          <p:cNvSpPr txBox="1"/>
          <p:nvPr/>
        </p:nvSpPr>
        <p:spPr>
          <a:xfrm>
            <a:off x="6053328" y="5623560"/>
            <a:ext cx="2651760" cy="384048"/>
          </a:xfrm>
          <a:prstGeom prst="rect">
            <a:avLst/>
          </a:prstGeom>
          <a:noFill/>
        </p:spPr>
        <p:txBody>
          <a:bodyPr wrap="square" anchor="t" lIns="0" rIns="0" tIns="0" bIns="0">
            <a:spAutoFit/>
          </a:bodyPr>
          <a:lstStyle/>
          <a:p>
            <a:pPr algn="l">
              <a:lnSpc>
                <a:spcPct val="100000"/>
              </a:lnSpc>
            </a:pPr>
            <a:r>
              <a:rPr sz="2600" b="1" i="0">
                <a:solidFill>
                  <a:srgbClr val="F59E0B"/>
                </a:solidFill>
                <a:latin typeface="Arial"/>
              </a:rPr>
              <a:t>+25%</a:t>
            </a:r>
          </a:p>
        </p:txBody>
      </p:sp>
      <p:sp>
        <p:nvSpPr>
          <p:cNvPr id="13" name="TextBox 12"/>
          <p:cNvSpPr txBox="1"/>
          <p:nvPr/>
        </p:nvSpPr>
        <p:spPr>
          <a:xfrm>
            <a:off x="6053328" y="6053328"/>
            <a:ext cx="2651760" cy="274320"/>
          </a:xfrm>
          <a:prstGeom prst="rect">
            <a:avLst/>
          </a:prstGeom>
          <a:noFill/>
        </p:spPr>
        <p:txBody>
          <a:bodyPr wrap="square" anchor="t" lIns="0" rIns="0" tIns="0" bIns="0">
            <a:spAutoFit/>
          </a:bodyPr>
          <a:lstStyle/>
          <a:p>
            <a:pPr algn="l">
              <a:lnSpc>
                <a:spcPct val="100000"/>
              </a:lnSpc>
            </a:pPr>
            <a:r>
              <a:rPr sz="1100" b="0" i="0">
                <a:solidFill>
                  <a:srgbClr val="CBD5E1"/>
                </a:solidFill>
                <a:latin typeface="Arial"/>
              </a:rPr>
              <a:t>net vs a client-side cap</a:t>
            </a:r>
          </a:p>
        </p:txBody>
      </p:sp>
      <p:sp>
        <p:nvSpPr>
          <p:cNvPr id="14" name="TextBox 13"/>
          <p:cNvSpPr txBox="1"/>
          <p:nvPr/>
        </p:nvSpPr>
        <p:spPr>
          <a:xfrm>
            <a:off x="8750808" y="5623560"/>
            <a:ext cx="2651760" cy="384048"/>
          </a:xfrm>
          <a:prstGeom prst="rect">
            <a:avLst/>
          </a:prstGeom>
          <a:noFill/>
        </p:spPr>
        <p:txBody>
          <a:bodyPr wrap="square" anchor="t" lIns="0" rIns="0" tIns="0" bIns="0">
            <a:spAutoFit/>
          </a:bodyPr>
          <a:lstStyle/>
          <a:p>
            <a:pPr algn="l">
              <a:lnSpc>
                <a:spcPct val="100000"/>
              </a:lnSpc>
            </a:pPr>
            <a:r>
              <a:rPr sz="2600" b="1" i="0">
                <a:solidFill>
                  <a:srgbClr val="6366F1"/>
                </a:solidFill>
                <a:latin typeface="Arial"/>
              </a:rPr>
              <a:t>269</a:t>
            </a:r>
          </a:p>
        </p:txBody>
      </p:sp>
      <p:sp>
        <p:nvSpPr>
          <p:cNvPr id="15" name="TextBox 14"/>
          <p:cNvSpPr txBox="1"/>
          <p:nvPr/>
        </p:nvSpPr>
        <p:spPr>
          <a:xfrm>
            <a:off x="8750808" y="6053328"/>
            <a:ext cx="2651760" cy="274320"/>
          </a:xfrm>
          <a:prstGeom prst="rect">
            <a:avLst/>
          </a:prstGeom>
          <a:noFill/>
        </p:spPr>
        <p:txBody>
          <a:bodyPr wrap="square" anchor="t" lIns="0" rIns="0" tIns="0" bIns="0">
            <a:spAutoFit/>
          </a:bodyPr>
          <a:lstStyle/>
          <a:p>
            <a:pPr algn="l">
              <a:lnSpc>
                <a:spcPct val="100000"/>
              </a:lnSpc>
            </a:pPr>
            <a:r>
              <a:rPr sz="1100" b="0" i="0">
                <a:solidFill>
                  <a:srgbClr val="CBD5E1"/>
                </a:solidFill>
                <a:latin typeface="Arial"/>
              </a:rPr>
              <a:t>tests, green on every push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10874959" cy="219456"/>
          </a:xfrm>
          <a:prstGeom prst="rect">
            <a:avLst/>
          </a:prstGeom>
          <a:noFill/>
        </p:spPr>
        <p:txBody>
          <a:bodyPr wrap="square" anchor="t" lIns="0" rIns="0" tIns="0" bIns="0">
            <a:spAutoFit/>
          </a:bodyPr>
          <a:lstStyle/>
          <a:p>
            <a:pPr algn="l">
              <a:lnSpc>
                <a:spcPct val="100000"/>
              </a:lnSpc>
            </a:pPr>
            <a:r>
              <a:rPr sz="1100" b="1" i="0">
                <a:solidFill>
                  <a:srgbClr val="6366F1"/>
                </a:solidFill>
                <a:latin typeface="Arial"/>
              </a:rPr>
              <a:t>THE GAP</a:t>
            </a:r>
          </a:p>
        </p:txBody>
      </p:sp>
      <p:sp>
        <p:nvSpPr>
          <p:cNvPr id="3" name="TextBox 2"/>
          <p:cNvSpPr txBox="1"/>
          <p:nvPr/>
        </p:nvSpPr>
        <p:spPr>
          <a:xfrm>
            <a:off x="658368" y="676656"/>
            <a:ext cx="10874959" cy="566928"/>
          </a:xfrm>
          <a:prstGeom prst="rect">
            <a:avLst/>
          </a:prstGeom>
          <a:noFill/>
        </p:spPr>
        <p:txBody>
          <a:bodyPr wrap="square" anchor="t" lIns="0" rIns="0" tIns="0" bIns="0">
            <a:spAutoFit/>
          </a:bodyPr>
          <a:lstStyle/>
          <a:p>
            <a:pPr algn="l">
              <a:lnSpc>
                <a:spcPct val="100000"/>
              </a:lnSpc>
            </a:pPr>
            <a:r>
              <a:rPr sz="2600" b="1" i="0">
                <a:solidFill>
                  <a:srgbClr val="0F172A"/>
                </a:solidFill>
                <a:latin typeface="Arial"/>
              </a:rPr>
              <a:t>Agentic commerce standardised the payment. Not the authority.</a:t>
            </a:r>
          </a:p>
        </p:txBody>
      </p:sp>
      <p:sp>
        <p:nvSpPr>
          <p:cNvPr id="4" name="TextBox 3"/>
          <p:cNvSpPr txBox="1"/>
          <p:nvPr/>
        </p:nvSpPr>
        <p:spPr>
          <a:xfrm>
            <a:off x="658368" y="1243584"/>
            <a:ext cx="9352464" cy="457200"/>
          </a:xfrm>
          <a:prstGeom prst="rect">
            <a:avLst/>
          </a:prstGeom>
          <a:noFill/>
        </p:spPr>
        <p:txBody>
          <a:bodyPr wrap="square" anchor="t" lIns="0" rIns="0" tIns="0" bIns="0">
            <a:spAutoFit/>
          </a:bodyPr>
          <a:lstStyle/>
          <a:p>
            <a:pPr algn="l">
              <a:lnSpc>
                <a:spcPct val="115000"/>
              </a:lnSpc>
            </a:pPr>
            <a:r>
              <a:rPr sz="1400" b="0" i="0">
                <a:solidFill>
                  <a:srgbClr val="64748B"/>
                </a:solidFill>
                <a:latin typeface="Arial"/>
              </a:rPr>
              <a:t>Every protocol in this space answers "how does an agent pay?". None of them lets the merchant read the buyer's authority envelope before it makes an offer.</a:t>
            </a:r>
          </a:p>
        </p:txBody>
      </p:sp>
      <p:sp>
        <p:nvSpPr>
          <p:cNvPr id="5" name="Rounded Rectangle 4"/>
          <p:cNvSpPr/>
          <p:nvPr/>
        </p:nvSpPr>
        <p:spPr>
          <a:xfrm>
            <a:off x="658368" y="1965960"/>
            <a:ext cx="10874959" cy="1874519"/>
          </a:xfrm>
          <a:prstGeom prst="roundRect">
            <a:avLst>
              <a:gd name="adj" fmla="val 45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2148840"/>
            <a:ext cx="2743200" cy="228600"/>
          </a:xfrm>
          <a:prstGeom prst="rect">
            <a:avLst/>
          </a:prstGeom>
          <a:noFill/>
        </p:spPr>
        <p:txBody>
          <a:bodyPr wrap="square" anchor="t" lIns="0" rIns="0" tIns="0" bIns="0">
            <a:spAutoFit/>
          </a:bodyPr>
          <a:lstStyle/>
          <a:p>
            <a:pPr algn="l">
              <a:lnSpc>
                <a:spcPct val="100000"/>
              </a:lnSpc>
            </a:pPr>
            <a:r>
              <a:rPr sz="1050" b="1" i="0">
                <a:solidFill>
                  <a:srgbClr val="64748B"/>
                </a:solidFill>
                <a:latin typeface="Arial"/>
              </a:rPr>
              <a:t>TODAY — THE MERCHANT OFFERS BLIND</a:t>
            </a:r>
          </a:p>
        </p:txBody>
      </p:sp>
      <p:sp>
        <p:nvSpPr>
          <p:cNvPr id="7" name="Rounded Rectangle 6"/>
          <p:cNvSpPr/>
          <p:nvPr/>
        </p:nvSpPr>
        <p:spPr>
          <a:xfrm>
            <a:off x="914400" y="2624328"/>
            <a:ext cx="2286000" cy="749808"/>
          </a:xfrm>
          <a:prstGeom prst="roundRect">
            <a:avLst>
              <a:gd name="adj" fmla="val 18000"/>
            </a:avLst>
          </a:prstGeom>
          <a:solidFill>
            <a:srgbClr val="F8FAFC"/>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0F172A"/>
                </a:solidFill>
                <a:latin typeface="Arial"/>
              </a:rPr>
              <a:t>Buyer's agent</a:t>
            </a:r>
          </a:p>
          <a:p>
            <a:pPr algn="ctr"/>
            <a:r>
              <a:rPr sz="1100">
                <a:solidFill>
                  <a:srgbClr val="64748B"/>
                </a:solidFill>
                <a:latin typeface="Arial"/>
              </a:rPr>
              <a:t>carries a mandate</a:t>
            </a:r>
          </a:p>
        </p:txBody>
      </p:sp>
      <p:sp>
        <p:nvSpPr>
          <p:cNvPr id="8" name="Right Arrow 7"/>
          <p:cNvSpPr/>
          <p:nvPr/>
        </p:nvSpPr>
        <p:spPr>
          <a:xfrm>
            <a:off x="3282696" y="2926080"/>
            <a:ext cx="246888" cy="146304"/>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611880" y="2624328"/>
            <a:ext cx="2286000" cy="749808"/>
          </a:xfrm>
          <a:prstGeom prst="roundRect">
            <a:avLst>
              <a:gd name="adj" fmla="val 18000"/>
            </a:avLst>
          </a:prstGeom>
          <a:solidFill>
            <a:srgbClr val="F8FAFC"/>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0F172A"/>
                </a:solidFill>
                <a:latin typeface="Arial"/>
              </a:rPr>
              <a:t>Merchant</a:t>
            </a:r>
          </a:p>
          <a:p>
            <a:pPr algn="ctr"/>
            <a:r>
              <a:rPr sz="1100">
                <a:solidFill>
                  <a:srgbClr val="64748B"/>
                </a:solidFill>
                <a:latin typeface="Arial"/>
              </a:rPr>
              <a:t>quotes and upsells</a:t>
            </a:r>
          </a:p>
        </p:txBody>
      </p:sp>
      <p:sp>
        <p:nvSpPr>
          <p:cNvPr id="10" name="Right Arrow 9"/>
          <p:cNvSpPr/>
          <p:nvPr/>
        </p:nvSpPr>
        <p:spPr>
          <a:xfrm>
            <a:off x="5980176" y="2926080"/>
            <a:ext cx="246888" cy="146304"/>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09360" y="2624328"/>
            <a:ext cx="2286000" cy="749808"/>
          </a:xfrm>
          <a:prstGeom prst="roundRect">
            <a:avLst>
              <a:gd name="adj" fmla="val 18000"/>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59E0B"/>
                </a:solidFill>
                <a:latin typeface="Arial"/>
              </a:rPr>
              <a:t>Authority</a:t>
            </a:r>
          </a:p>
          <a:p>
            <a:pPr algn="ctr"/>
            <a:r>
              <a:rPr sz="1100">
                <a:solidFill>
                  <a:srgbClr val="64748B"/>
                </a:solidFill>
                <a:latin typeface="Arial"/>
              </a:rPr>
              <a:t>opaque to the merchant</a:t>
            </a:r>
          </a:p>
        </p:txBody>
      </p:sp>
      <p:sp>
        <p:nvSpPr>
          <p:cNvPr id="12" name="Right Arrow 11"/>
          <p:cNvSpPr/>
          <p:nvPr/>
        </p:nvSpPr>
        <p:spPr>
          <a:xfrm>
            <a:off x="8677656" y="2926080"/>
            <a:ext cx="246888" cy="146304"/>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006840" y="2624328"/>
            <a:ext cx="2286000" cy="749808"/>
          </a:xfrm>
          <a:prstGeom prst="roundRect">
            <a:avLst>
              <a:gd name="adj" fmla="val 18000"/>
            </a:avLst>
          </a:prstGeom>
          <a:solidFill>
            <a:srgbClr val="FEF2F2"/>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EF4444"/>
                </a:solidFill>
                <a:latin typeface="Arial"/>
              </a:rPr>
              <a:t>Decline</a:t>
            </a:r>
          </a:p>
          <a:p>
            <a:pPr algn="ctr"/>
            <a:r>
              <a:rPr sz="1100">
                <a:solidFill>
                  <a:srgbClr val="64748B"/>
                </a:solidFill>
                <a:latin typeface="Arial"/>
              </a:rPr>
              <a:t>found out at the end</a:t>
            </a:r>
          </a:p>
        </p:txBody>
      </p:sp>
      <p:sp>
        <p:nvSpPr>
          <p:cNvPr id="14" name="TextBox 13"/>
          <p:cNvSpPr txBox="1"/>
          <p:nvPr/>
        </p:nvSpPr>
        <p:spPr>
          <a:xfrm>
            <a:off x="914400" y="3483863"/>
            <a:ext cx="10326319" cy="274320"/>
          </a:xfrm>
          <a:prstGeom prst="rect">
            <a:avLst/>
          </a:prstGeom>
          <a:noFill/>
        </p:spPr>
        <p:txBody>
          <a:bodyPr wrap="square" anchor="t" lIns="0" rIns="0" tIns="0" bIns="0">
            <a:spAutoFit/>
          </a:bodyPr>
          <a:lstStyle/>
          <a:p>
            <a:pPr algn="l">
              <a:lnSpc>
                <a:spcPct val="100000"/>
              </a:lnSpc>
            </a:pPr>
            <a:r>
              <a:rPr sz="1200" b="0" i="1">
                <a:solidFill>
                  <a:srgbClr val="64748B"/>
                </a:solidFill>
                <a:latin typeface="Arial"/>
              </a:rPr>
              <a:t>The offer is a guess. The merchant learns the answer only when the payment fails.</a:t>
            </a:r>
          </a:p>
        </p:txBody>
      </p:sp>
      <p:sp>
        <p:nvSpPr>
          <p:cNvPr id="15" name="Rounded Rectangle 14"/>
          <p:cNvSpPr/>
          <p:nvPr/>
        </p:nvSpPr>
        <p:spPr>
          <a:xfrm>
            <a:off x="658368" y="4160520"/>
            <a:ext cx="3442106" cy="141732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58368" y="4160520"/>
            <a:ext cx="50292" cy="141732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416552"/>
            <a:ext cx="2984906" cy="320040"/>
          </a:xfrm>
          <a:prstGeom prst="rect">
            <a:avLst/>
          </a:prstGeom>
          <a:noFill/>
        </p:spPr>
        <p:txBody>
          <a:bodyPr wrap="square" anchor="t" lIns="0" rIns="0" tIns="0" bIns="0">
            <a:spAutoFit/>
          </a:bodyPr>
          <a:lstStyle/>
          <a:p>
            <a:pPr algn="l">
              <a:lnSpc>
                <a:spcPct val="100000"/>
              </a:lnSpc>
            </a:pPr>
            <a:r>
              <a:rPr sz="1400" b="1" i="0">
                <a:solidFill>
                  <a:srgbClr val="0F172A"/>
                </a:solidFill>
                <a:latin typeface="Arial"/>
              </a:rPr>
              <a:t>Legitimate sales refused</a:t>
            </a:r>
          </a:p>
        </p:txBody>
      </p:sp>
      <p:sp>
        <p:nvSpPr>
          <p:cNvPr id="18" name="TextBox 17"/>
          <p:cNvSpPr txBox="1"/>
          <p:nvPr/>
        </p:nvSpPr>
        <p:spPr>
          <a:xfrm>
            <a:off x="914400" y="4818888"/>
            <a:ext cx="2984906" cy="640080"/>
          </a:xfrm>
          <a:prstGeom prst="rect">
            <a:avLst/>
          </a:prstGeom>
          <a:noFill/>
        </p:spPr>
        <p:txBody>
          <a:bodyPr wrap="square" anchor="t" lIns="0" rIns="0" tIns="0" bIns="0">
            <a:spAutoFit/>
          </a:bodyPr>
          <a:lstStyle/>
          <a:p>
            <a:pPr algn="l">
              <a:lnSpc>
                <a:spcPct val="120000"/>
              </a:lnSpc>
            </a:pPr>
            <a:r>
              <a:rPr sz="1150" b="0" i="0">
                <a:solidFill>
                  <a:srgbClr val="64748B"/>
                </a:solidFill>
                <a:latin typeface="Arial"/>
              </a:rPr>
              <a:t>A hard cap has no way to ask a human. It just says no.</a:t>
            </a:r>
          </a:p>
        </p:txBody>
      </p:sp>
      <p:sp>
        <p:nvSpPr>
          <p:cNvPr id="19" name="Rounded Rectangle 18"/>
          <p:cNvSpPr/>
          <p:nvPr/>
        </p:nvSpPr>
        <p:spPr>
          <a:xfrm>
            <a:off x="4374794" y="4160520"/>
            <a:ext cx="3442106" cy="141732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4374794" y="4160520"/>
            <a:ext cx="50292" cy="141732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30826" y="4416552"/>
            <a:ext cx="2984906" cy="320040"/>
          </a:xfrm>
          <a:prstGeom prst="rect">
            <a:avLst/>
          </a:prstGeom>
          <a:noFill/>
        </p:spPr>
        <p:txBody>
          <a:bodyPr wrap="square" anchor="t" lIns="0" rIns="0" tIns="0" bIns="0">
            <a:spAutoFit/>
          </a:bodyPr>
          <a:lstStyle/>
          <a:p>
            <a:pPr algn="l">
              <a:lnSpc>
                <a:spcPct val="100000"/>
              </a:lnSpc>
            </a:pPr>
            <a:r>
              <a:rPr sz="1400" b="1" i="0">
                <a:solidFill>
                  <a:srgbClr val="0F172A"/>
                </a:solidFill>
                <a:latin typeface="Arial"/>
              </a:rPr>
              <a:t>Unauthorised agent spend</a:t>
            </a:r>
          </a:p>
        </p:txBody>
      </p:sp>
      <p:sp>
        <p:nvSpPr>
          <p:cNvPr id="22" name="TextBox 21"/>
          <p:cNvSpPr txBox="1"/>
          <p:nvPr/>
        </p:nvSpPr>
        <p:spPr>
          <a:xfrm>
            <a:off x="4630826" y="4818888"/>
            <a:ext cx="2984906" cy="640080"/>
          </a:xfrm>
          <a:prstGeom prst="rect">
            <a:avLst/>
          </a:prstGeom>
          <a:noFill/>
        </p:spPr>
        <p:txBody>
          <a:bodyPr wrap="square" anchor="t" lIns="0" rIns="0" tIns="0" bIns="0">
            <a:spAutoFit/>
          </a:bodyPr>
          <a:lstStyle/>
          <a:p>
            <a:pPr algn="l">
              <a:lnSpc>
                <a:spcPct val="120000"/>
              </a:lnSpc>
            </a:pPr>
            <a:r>
              <a:rPr sz="1150" b="0" i="0">
                <a:solidFill>
                  <a:srgbClr val="64748B"/>
                </a:solidFill>
                <a:latin typeface="Arial"/>
              </a:rPr>
              <a:t>A cap that lives in the agent is not run by a compromised agent.</a:t>
            </a:r>
          </a:p>
        </p:txBody>
      </p:sp>
      <p:sp>
        <p:nvSpPr>
          <p:cNvPr id="23" name="Rounded Rectangle 22"/>
          <p:cNvSpPr/>
          <p:nvPr/>
        </p:nvSpPr>
        <p:spPr>
          <a:xfrm>
            <a:off x="8091220" y="4160520"/>
            <a:ext cx="3442106" cy="141732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8091220" y="4160520"/>
            <a:ext cx="5029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47252" y="4416552"/>
            <a:ext cx="2984906" cy="320040"/>
          </a:xfrm>
          <a:prstGeom prst="rect">
            <a:avLst/>
          </a:prstGeom>
          <a:noFill/>
        </p:spPr>
        <p:txBody>
          <a:bodyPr wrap="square" anchor="t" lIns="0" rIns="0" tIns="0" bIns="0">
            <a:spAutoFit/>
          </a:bodyPr>
          <a:lstStyle/>
          <a:p>
            <a:pPr algn="l">
              <a:lnSpc>
                <a:spcPct val="100000"/>
              </a:lnSpc>
            </a:pPr>
            <a:r>
              <a:rPr sz="1400" b="1" i="0">
                <a:solidFill>
                  <a:srgbClr val="0F172A"/>
                </a:solidFill>
                <a:latin typeface="Arial"/>
              </a:rPr>
              <a:t>Every cross-sell is a guess</a:t>
            </a:r>
          </a:p>
        </p:txBody>
      </p:sp>
      <p:sp>
        <p:nvSpPr>
          <p:cNvPr id="26" name="TextBox 25"/>
          <p:cNvSpPr txBox="1"/>
          <p:nvPr/>
        </p:nvSpPr>
        <p:spPr>
          <a:xfrm>
            <a:off x="8347252" y="4818888"/>
            <a:ext cx="2984906" cy="640080"/>
          </a:xfrm>
          <a:prstGeom prst="rect">
            <a:avLst/>
          </a:prstGeom>
          <a:noFill/>
        </p:spPr>
        <p:txBody>
          <a:bodyPr wrap="square" anchor="t" lIns="0" rIns="0" tIns="0" bIns="0">
            <a:spAutoFit/>
          </a:bodyPr>
          <a:lstStyle/>
          <a:p>
            <a:pPr algn="l">
              <a:lnSpc>
                <a:spcPct val="120000"/>
              </a:lnSpc>
            </a:pPr>
            <a:r>
              <a:rPr sz="1150" b="0" i="0">
                <a:solidFill>
                  <a:srgbClr val="64748B"/>
                </a:solidFill>
                <a:latin typeface="Arial"/>
              </a:rPr>
              <a:t>So merchants do not make one — the safest upsell is none.</a:t>
            </a:r>
          </a:p>
        </p:txBody>
      </p:sp>
      <p:sp>
        <p:nvSpPr>
          <p:cNvPr id="27" name="Rectangle 26"/>
          <p:cNvSpPr/>
          <p:nvPr/>
        </p:nvSpPr>
        <p:spPr>
          <a:xfrm>
            <a:off x="658368" y="6291072"/>
            <a:ext cx="10874959"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6419088"/>
            <a:ext cx="7612471" cy="219456"/>
          </a:xfrm>
          <a:prstGeom prst="rect">
            <a:avLst/>
          </a:prstGeom>
          <a:noFill/>
        </p:spPr>
        <p:txBody>
          <a:bodyPr wrap="square" anchor="t" lIns="0" rIns="0" tIns="0" bIns="0">
            <a:spAutoFit/>
          </a:bodyPr>
          <a:lstStyle/>
          <a:p>
            <a:pPr algn="l">
              <a:lnSpc>
                <a:spcPct val="100000"/>
              </a:lnSpc>
            </a:pPr>
            <a:r>
              <a:rPr sz="950" b="0" i="0">
                <a:solidFill>
                  <a:srgbClr val="64748B"/>
                </a:solidFill>
                <a:latin typeface="Arial"/>
              </a:rPr>
              <a:t>The gap</a:t>
            </a:r>
          </a:p>
        </p:txBody>
      </p:sp>
      <p:sp>
        <p:nvSpPr>
          <p:cNvPr id="29" name="TextBox 28"/>
          <p:cNvSpPr txBox="1"/>
          <p:nvPr/>
        </p:nvSpPr>
        <p:spPr>
          <a:xfrm>
            <a:off x="10436047" y="6419088"/>
            <a:ext cx="1097280" cy="219456"/>
          </a:xfrm>
          <a:prstGeom prst="rect">
            <a:avLst/>
          </a:prstGeom>
          <a:noFill/>
        </p:spPr>
        <p:txBody>
          <a:bodyPr wrap="square" anchor="t" lIns="0" rIns="0" tIns="0" bIns="0">
            <a:spAutoFit/>
          </a:bodyPr>
          <a:lstStyle/>
          <a:p>
            <a:pPr algn="r">
              <a:lnSpc>
                <a:spcPct val="100000"/>
              </a:lnSpc>
            </a:pPr>
            <a:r>
              <a:rPr sz="950" b="0" i="0">
                <a:solidFill>
                  <a:srgbClr val="64748B"/>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10874959" cy="219456"/>
          </a:xfrm>
          <a:prstGeom prst="rect">
            <a:avLst/>
          </a:prstGeom>
          <a:noFill/>
        </p:spPr>
        <p:txBody>
          <a:bodyPr wrap="square" anchor="t" lIns="0" rIns="0" tIns="0" bIns="0">
            <a:spAutoFit/>
          </a:bodyPr>
          <a:lstStyle/>
          <a:p>
            <a:pPr algn="l">
              <a:lnSpc>
                <a:spcPct val="100000"/>
              </a:lnSpc>
            </a:pPr>
            <a:r>
              <a:rPr sz="1100" b="1" i="0">
                <a:solidFill>
                  <a:srgbClr val="6366F1"/>
                </a:solidFill>
                <a:latin typeface="Arial"/>
              </a:rPr>
              <a:t>THE IDEA</a:t>
            </a:r>
          </a:p>
        </p:txBody>
      </p:sp>
      <p:sp>
        <p:nvSpPr>
          <p:cNvPr id="3" name="TextBox 2"/>
          <p:cNvSpPr txBox="1"/>
          <p:nvPr/>
        </p:nvSpPr>
        <p:spPr>
          <a:xfrm>
            <a:off x="658368" y="676656"/>
            <a:ext cx="10874959" cy="566928"/>
          </a:xfrm>
          <a:prstGeom prst="rect">
            <a:avLst/>
          </a:prstGeom>
          <a:noFill/>
        </p:spPr>
        <p:txBody>
          <a:bodyPr wrap="square" anchor="t" lIns="0" rIns="0" tIns="0" bIns="0">
            <a:spAutoFit/>
          </a:bodyPr>
          <a:lstStyle/>
          <a:p>
            <a:pPr algn="l">
              <a:lnSpc>
                <a:spcPct val="100000"/>
              </a:lnSpc>
            </a:pPr>
            <a:r>
              <a:rPr sz="2300" b="1" i="0">
                <a:solidFill>
                  <a:srgbClr val="0F172A"/>
                </a:solidFill>
                <a:latin typeface="Arial"/>
              </a:rPr>
              <a:t>Read the authority envelope first. Then make an offer that cannot fail.</a:t>
            </a:r>
          </a:p>
        </p:txBody>
      </p:sp>
      <p:sp>
        <p:nvSpPr>
          <p:cNvPr id="4" name="TextBox 3"/>
          <p:cNvSpPr txBox="1"/>
          <p:nvPr/>
        </p:nvSpPr>
        <p:spPr>
          <a:xfrm>
            <a:off x="658368" y="1243584"/>
            <a:ext cx="9352464" cy="457200"/>
          </a:xfrm>
          <a:prstGeom prst="rect">
            <a:avLst/>
          </a:prstGeom>
          <a:noFill/>
        </p:spPr>
        <p:txBody>
          <a:bodyPr wrap="square" anchor="t" lIns="0" rIns="0" tIns="0" bIns="0">
            <a:spAutoFit/>
          </a:bodyPr>
          <a:lstStyle/>
          <a:p>
            <a:pPr algn="l">
              <a:lnSpc>
                <a:spcPct val="115000"/>
              </a:lnSpc>
            </a:pPr>
            <a:r>
              <a:rPr sz="1400" b="0" i="0">
                <a:solidFill>
                  <a:srgbClr val="64748B"/>
                </a:solidFill>
                <a:latin typeface="Arial"/>
              </a:rPr>
              <a:t>Five steps. The human signs once on their own device; the key never leaves it.</a:t>
            </a:r>
          </a:p>
        </p:txBody>
      </p:sp>
      <p:sp>
        <p:nvSpPr>
          <p:cNvPr id="5" name="Rounded Rectangle 4"/>
          <p:cNvSpPr/>
          <p:nvPr/>
        </p:nvSpPr>
        <p:spPr>
          <a:xfrm>
            <a:off x="658368" y="2011680"/>
            <a:ext cx="1926275" cy="210312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658368" y="2011680"/>
            <a:ext cx="1926275" cy="5029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77824" y="2249424"/>
            <a:ext cx="384048" cy="384048"/>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rial"/>
              </a:rPr>
              <a:t>1</a:t>
            </a:r>
          </a:p>
        </p:txBody>
      </p:sp>
      <p:sp>
        <p:nvSpPr>
          <p:cNvPr id="8" name="TextBox 7"/>
          <p:cNvSpPr txBox="1"/>
          <p:nvPr/>
        </p:nvSpPr>
        <p:spPr>
          <a:xfrm>
            <a:off x="877824" y="2798064"/>
            <a:ext cx="1514795" cy="274320"/>
          </a:xfrm>
          <a:prstGeom prst="rect">
            <a:avLst/>
          </a:prstGeom>
          <a:noFill/>
        </p:spPr>
        <p:txBody>
          <a:bodyPr wrap="square" anchor="t" lIns="0" rIns="0" tIns="0" bIns="0">
            <a:spAutoFit/>
          </a:bodyPr>
          <a:lstStyle/>
          <a:p>
            <a:pPr algn="l">
              <a:lnSpc>
                <a:spcPct val="100000"/>
              </a:lnSpc>
            </a:pPr>
            <a:r>
              <a:rPr sz="1400" b="1" i="0">
                <a:solidFill>
                  <a:srgbClr val="0F172A"/>
                </a:solidFill>
                <a:latin typeface="Arial"/>
              </a:rPr>
              <a:t>Human signs</a:t>
            </a:r>
          </a:p>
        </p:txBody>
      </p:sp>
      <p:sp>
        <p:nvSpPr>
          <p:cNvPr id="9" name="TextBox 8"/>
          <p:cNvSpPr txBox="1"/>
          <p:nvPr/>
        </p:nvSpPr>
        <p:spPr>
          <a:xfrm>
            <a:off x="877824" y="3145536"/>
            <a:ext cx="1523939" cy="868680"/>
          </a:xfrm>
          <a:prstGeom prst="rect">
            <a:avLst/>
          </a:prstGeom>
          <a:noFill/>
        </p:spPr>
        <p:txBody>
          <a:bodyPr wrap="square" anchor="t" lIns="0" rIns="0" tIns="0" bIns="0">
            <a:spAutoFit/>
          </a:bodyPr>
          <a:lstStyle/>
          <a:p>
            <a:pPr algn="l">
              <a:lnSpc>
                <a:spcPct val="118000"/>
              </a:lnSpc>
            </a:pPr>
            <a:r>
              <a:rPr sz="1050" b="0" i="0">
                <a:solidFill>
                  <a:srgbClr val="64748B"/>
                </a:solidFill>
                <a:latin typeface="Arial"/>
              </a:rPr>
              <a:t>A mandate signed in the browser. Ed25519, on the buyer's device.</a:t>
            </a:r>
          </a:p>
        </p:txBody>
      </p:sp>
      <p:sp>
        <p:nvSpPr>
          <p:cNvPr id="10" name="Right Arrow 9"/>
          <p:cNvSpPr/>
          <p:nvPr/>
        </p:nvSpPr>
        <p:spPr>
          <a:xfrm>
            <a:off x="2648651" y="2852928"/>
            <a:ext cx="182880" cy="128016"/>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95539" y="2011680"/>
            <a:ext cx="1926275" cy="210312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895539" y="2011680"/>
            <a:ext cx="1926275" cy="50292"/>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114995" y="2249424"/>
            <a:ext cx="384048" cy="384048"/>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rial"/>
              </a:rPr>
              <a:t>2</a:t>
            </a:r>
          </a:p>
        </p:txBody>
      </p:sp>
      <p:sp>
        <p:nvSpPr>
          <p:cNvPr id="14" name="TextBox 13"/>
          <p:cNvSpPr txBox="1"/>
          <p:nvPr/>
        </p:nvSpPr>
        <p:spPr>
          <a:xfrm>
            <a:off x="3114995" y="2798064"/>
            <a:ext cx="1514795" cy="274320"/>
          </a:xfrm>
          <a:prstGeom prst="rect">
            <a:avLst/>
          </a:prstGeom>
          <a:noFill/>
        </p:spPr>
        <p:txBody>
          <a:bodyPr wrap="square" anchor="t" lIns="0" rIns="0" tIns="0" bIns="0">
            <a:spAutoFit/>
          </a:bodyPr>
          <a:lstStyle/>
          <a:p>
            <a:pPr algn="l">
              <a:lnSpc>
                <a:spcPct val="100000"/>
              </a:lnSpc>
            </a:pPr>
            <a:r>
              <a:rPr sz="1400" b="1" i="0">
                <a:solidFill>
                  <a:srgbClr val="0F172A"/>
                </a:solidFill>
                <a:latin typeface="Arial"/>
              </a:rPr>
              <a:t>Agent carries</a:t>
            </a:r>
          </a:p>
        </p:txBody>
      </p:sp>
      <p:sp>
        <p:nvSpPr>
          <p:cNvPr id="15" name="TextBox 14"/>
          <p:cNvSpPr txBox="1"/>
          <p:nvPr/>
        </p:nvSpPr>
        <p:spPr>
          <a:xfrm>
            <a:off x="3114995" y="3145536"/>
            <a:ext cx="1523939" cy="868680"/>
          </a:xfrm>
          <a:prstGeom prst="rect">
            <a:avLst/>
          </a:prstGeom>
          <a:noFill/>
        </p:spPr>
        <p:txBody>
          <a:bodyPr wrap="square" anchor="t" lIns="0" rIns="0" tIns="0" bIns="0">
            <a:spAutoFit/>
          </a:bodyPr>
          <a:lstStyle/>
          <a:p>
            <a:pPr algn="l">
              <a:lnSpc>
                <a:spcPct val="118000"/>
              </a:lnSpc>
            </a:pPr>
            <a:r>
              <a:rPr sz="1050" b="0" i="0">
                <a:solidFill>
                  <a:srgbClr val="64748B"/>
                </a:solidFill>
                <a:latin typeface="Arial"/>
              </a:rPr>
              <a:t>The agent gets the signed mandate, and never the key.</a:t>
            </a:r>
          </a:p>
        </p:txBody>
      </p:sp>
      <p:sp>
        <p:nvSpPr>
          <p:cNvPr id="16" name="Right Arrow 15"/>
          <p:cNvSpPr/>
          <p:nvPr/>
        </p:nvSpPr>
        <p:spPr>
          <a:xfrm>
            <a:off x="4885822" y="2852928"/>
            <a:ext cx="182880" cy="128016"/>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132710" y="2011680"/>
            <a:ext cx="1926275" cy="210312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132710" y="2011680"/>
            <a:ext cx="1926275"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352166" y="224942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rial"/>
              </a:rPr>
              <a:t>3</a:t>
            </a:r>
          </a:p>
        </p:txBody>
      </p:sp>
      <p:sp>
        <p:nvSpPr>
          <p:cNvPr id="20" name="TextBox 19"/>
          <p:cNvSpPr txBox="1"/>
          <p:nvPr/>
        </p:nvSpPr>
        <p:spPr>
          <a:xfrm>
            <a:off x="5352166" y="2798064"/>
            <a:ext cx="1514795" cy="274320"/>
          </a:xfrm>
          <a:prstGeom prst="rect">
            <a:avLst/>
          </a:prstGeom>
          <a:noFill/>
        </p:spPr>
        <p:txBody>
          <a:bodyPr wrap="square" anchor="t" lIns="0" rIns="0" tIns="0" bIns="0">
            <a:spAutoFit/>
          </a:bodyPr>
          <a:lstStyle/>
          <a:p>
            <a:pPr algn="l">
              <a:lnSpc>
                <a:spcPct val="100000"/>
              </a:lnSpc>
            </a:pPr>
            <a:r>
              <a:rPr sz="1400" b="1" i="0">
                <a:solidFill>
                  <a:srgbClr val="0F172A"/>
                </a:solidFill>
                <a:latin typeface="Arial"/>
              </a:rPr>
              <a:t>Merchant reads</a:t>
            </a:r>
          </a:p>
        </p:txBody>
      </p:sp>
      <p:sp>
        <p:nvSpPr>
          <p:cNvPr id="21" name="TextBox 20"/>
          <p:cNvSpPr txBox="1"/>
          <p:nvPr/>
        </p:nvSpPr>
        <p:spPr>
          <a:xfrm>
            <a:off x="5352166" y="3145536"/>
            <a:ext cx="1523939" cy="868680"/>
          </a:xfrm>
          <a:prstGeom prst="rect">
            <a:avLst/>
          </a:prstGeom>
          <a:noFill/>
        </p:spPr>
        <p:txBody>
          <a:bodyPr wrap="square" anchor="t" lIns="0" rIns="0" tIns="0" bIns="0">
            <a:spAutoFit/>
          </a:bodyPr>
          <a:lstStyle/>
          <a:p>
            <a:pPr algn="l">
              <a:lnSpc>
                <a:spcPct val="118000"/>
              </a:lnSpc>
            </a:pPr>
            <a:r>
              <a:rPr sz="1050" b="0" i="0">
                <a:solidFill>
                  <a:srgbClr val="64748B"/>
                </a:solidFill>
                <a:latin typeface="Arial"/>
              </a:rPr>
              <a:t>Headroom before the quote: what is LEFT to spend.</a:t>
            </a:r>
          </a:p>
        </p:txBody>
      </p:sp>
      <p:sp>
        <p:nvSpPr>
          <p:cNvPr id="22" name="Right Arrow 21"/>
          <p:cNvSpPr/>
          <p:nvPr/>
        </p:nvSpPr>
        <p:spPr>
          <a:xfrm>
            <a:off x="7122993" y="2852928"/>
            <a:ext cx="182880" cy="128016"/>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69881" y="2011680"/>
            <a:ext cx="1926275" cy="210312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369881" y="2011680"/>
            <a:ext cx="1926275"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89337" y="224942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rial"/>
              </a:rPr>
              <a:t>4</a:t>
            </a:r>
          </a:p>
        </p:txBody>
      </p:sp>
      <p:sp>
        <p:nvSpPr>
          <p:cNvPr id="26" name="TextBox 25"/>
          <p:cNvSpPr txBox="1"/>
          <p:nvPr/>
        </p:nvSpPr>
        <p:spPr>
          <a:xfrm>
            <a:off x="7589337" y="2798064"/>
            <a:ext cx="1514795" cy="274320"/>
          </a:xfrm>
          <a:prstGeom prst="rect">
            <a:avLst/>
          </a:prstGeom>
          <a:noFill/>
        </p:spPr>
        <p:txBody>
          <a:bodyPr wrap="square" anchor="t" lIns="0" rIns="0" tIns="0" bIns="0">
            <a:spAutoFit/>
          </a:bodyPr>
          <a:lstStyle/>
          <a:p>
            <a:pPr algn="l">
              <a:lnSpc>
                <a:spcPct val="100000"/>
              </a:lnSpc>
            </a:pPr>
            <a:r>
              <a:rPr sz="1400" b="1" i="0">
                <a:solidFill>
                  <a:srgbClr val="0F172A"/>
                </a:solidFill>
                <a:latin typeface="Arial"/>
              </a:rPr>
              <a:t>Gate decides</a:t>
            </a:r>
          </a:p>
        </p:txBody>
      </p:sp>
      <p:sp>
        <p:nvSpPr>
          <p:cNvPr id="27" name="TextBox 26"/>
          <p:cNvSpPr txBox="1"/>
          <p:nvPr/>
        </p:nvSpPr>
        <p:spPr>
          <a:xfrm>
            <a:off x="7589337" y="3145536"/>
            <a:ext cx="1523939" cy="868680"/>
          </a:xfrm>
          <a:prstGeom prst="rect">
            <a:avLst/>
          </a:prstGeom>
          <a:noFill/>
        </p:spPr>
        <p:txBody>
          <a:bodyPr wrap="square" anchor="t" lIns="0" rIns="0" tIns="0" bIns="0">
            <a:spAutoFit/>
          </a:bodyPr>
          <a:lstStyle/>
          <a:p>
            <a:pPr algn="l">
              <a:lnSpc>
                <a:spcPct val="118000"/>
              </a:lnSpc>
            </a:pPr>
            <a:r>
              <a:rPr sz="1050" b="0" i="0">
                <a:solidFill>
                  <a:srgbClr val="64748B"/>
                </a:solidFill>
                <a:latin typeface="Arial"/>
              </a:rPr>
              <a:t>Ten checks on authority alone. ALLOW · STEP-UP · BLOCK.</a:t>
            </a:r>
          </a:p>
        </p:txBody>
      </p:sp>
      <p:sp>
        <p:nvSpPr>
          <p:cNvPr id="28" name="Right Arrow 27"/>
          <p:cNvSpPr/>
          <p:nvPr/>
        </p:nvSpPr>
        <p:spPr>
          <a:xfrm>
            <a:off x="9360164" y="2852928"/>
            <a:ext cx="182880" cy="128016"/>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07052" y="2011680"/>
            <a:ext cx="1926275" cy="210312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9607052" y="2011680"/>
            <a:ext cx="1926275" cy="5029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826508" y="2249424"/>
            <a:ext cx="384048" cy="384048"/>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rial"/>
              </a:rPr>
              <a:t>5</a:t>
            </a:r>
          </a:p>
        </p:txBody>
      </p:sp>
      <p:sp>
        <p:nvSpPr>
          <p:cNvPr id="32" name="TextBox 31"/>
          <p:cNvSpPr txBox="1"/>
          <p:nvPr/>
        </p:nvSpPr>
        <p:spPr>
          <a:xfrm>
            <a:off x="9826508" y="2798064"/>
            <a:ext cx="1514795" cy="274320"/>
          </a:xfrm>
          <a:prstGeom prst="rect">
            <a:avLst/>
          </a:prstGeom>
          <a:noFill/>
        </p:spPr>
        <p:txBody>
          <a:bodyPr wrap="square" anchor="t" lIns="0" rIns="0" tIns="0" bIns="0">
            <a:spAutoFit/>
          </a:bodyPr>
          <a:lstStyle/>
          <a:p>
            <a:pPr algn="l">
              <a:lnSpc>
                <a:spcPct val="100000"/>
              </a:lnSpc>
            </a:pPr>
            <a:r>
              <a:rPr sz="1400" b="1" i="0">
                <a:solidFill>
                  <a:srgbClr val="0F172A"/>
                </a:solidFill>
                <a:latin typeface="Arial"/>
              </a:rPr>
              <a:t>Token settles</a:t>
            </a:r>
          </a:p>
        </p:txBody>
      </p:sp>
      <p:sp>
        <p:nvSpPr>
          <p:cNvPr id="33" name="TextBox 32"/>
          <p:cNvSpPr txBox="1"/>
          <p:nvPr/>
        </p:nvSpPr>
        <p:spPr>
          <a:xfrm>
            <a:off x="9826508" y="3145536"/>
            <a:ext cx="1523939" cy="868680"/>
          </a:xfrm>
          <a:prstGeom prst="rect">
            <a:avLst/>
          </a:prstGeom>
          <a:noFill/>
        </p:spPr>
        <p:txBody>
          <a:bodyPr wrap="square" anchor="t" lIns="0" rIns="0" tIns="0" bIns="0">
            <a:spAutoFit/>
          </a:bodyPr>
          <a:lstStyle/>
          <a:p>
            <a:pPr algn="l">
              <a:lnSpc>
                <a:spcPct val="118000"/>
              </a:lnSpc>
            </a:pPr>
            <a:r>
              <a:rPr sz="1050" b="0" i="0">
                <a:solidFill>
                  <a:srgbClr val="64748B"/>
                </a:solidFill>
                <a:latin typeface="Arial"/>
              </a:rPr>
              <a:t>A settlement token, redeemable exactly once.</a:t>
            </a:r>
          </a:p>
        </p:txBody>
      </p:sp>
      <p:sp>
        <p:nvSpPr>
          <p:cNvPr id="34" name="Rounded Rectangle 33"/>
          <p:cNvSpPr/>
          <p:nvPr/>
        </p:nvSpPr>
        <p:spPr>
          <a:xfrm>
            <a:off x="658368" y="4389120"/>
            <a:ext cx="10874959" cy="1481328"/>
          </a:xfrm>
          <a:prstGeom prst="roundRect">
            <a:avLst>
              <a:gd name="adj" fmla="val 4500"/>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78407" y="4608576"/>
            <a:ext cx="10234879" cy="292608"/>
          </a:xfrm>
          <a:prstGeom prst="rect">
            <a:avLst/>
          </a:prstGeom>
          <a:noFill/>
        </p:spPr>
        <p:txBody>
          <a:bodyPr wrap="square" anchor="t" lIns="0" rIns="0" tIns="0" bIns="0">
            <a:spAutoFit/>
          </a:bodyPr>
          <a:lstStyle/>
          <a:p>
            <a:pPr algn="l">
              <a:lnSpc>
                <a:spcPct val="100000"/>
              </a:lnSpc>
            </a:pPr>
            <a:r>
              <a:rPr sz="1400" b="1" i="0">
                <a:solidFill>
                  <a:srgbClr val="0F172A"/>
                </a:solidFill>
                <a:latin typeface="Arial"/>
              </a:rPr>
              <a:t>What the merchant is told, and what it is never told</a:t>
            </a:r>
          </a:p>
        </p:txBody>
      </p:sp>
      <p:sp>
        <p:nvSpPr>
          <p:cNvPr id="36" name="TextBox 35"/>
          <p:cNvSpPr txBox="1"/>
          <p:nvPr/>
        </p:nvSpPr>
        <p:spPr>
          <a:xfrm>
            <a:off x="978407" y="5010912"/>
            <a:ext cx="10234879" cy="640080"/>
          </a:xfrm>
          <a:prstGeom prst="rect">
            <a:avLst/>
          </a:prstGeom>
          <a:noFill/>
        </p:spPr>
        <p:txBody>
          <a:bodyPr wrap="square" anchor="t" lIns="0" rIns="0" tIns="0" bIns="0">
            <a:spAutoFit/>
          </a:bodyPr>
          <a:lstStyle/>
          <a:p>
            <a:pPr algn="l">
              <a:lnSpc>
                <a:spcPct val="125000"/>
              </a:lnSpc>
            </a:pPr>
            <a:r>
              <a:rPr sz="1200" b="0" i="0">
                <a:solidFill>
                  <a:srgbClr val="334155"/>
                </a:solidFill>
                <a:latin typeface="Arial"/>
              </a:rPr>
              <a:t>headroom_paise is what is LEFT — never the budget. A merchant that learns “₹8,900 remaining” learns what it can sell. One that learns “₹8,900 of ₹15,000” learns how rich the buyer is. The delegator's identity, the intent text, the total budget and the spend history are absent from the type — asserted as a field set, not as one instance's values.</a:t>
            </a:r>
          </a:p>
        </p:txBody>
      </p:sp>
      <p:sp>
        <p:nvSpPr>
          <p:cNvPr id="37" name="Rectangle 36"/>
          <p:cNvSpPr/>
          <p:nvPr/>
        </p:nvSpPr>
        <p:spPr>
          <a:xfrm>
            <a:off x="658368" y="6291072"/>
            <a:ext cx="10874959"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 y="6419088"/>
            <a:ext cx="7612471" cy="219456"/>
          </a:xfrm>
          <a:prstGeom prst="rect">
            <a:avLst/>
          </a:prstGeom>
          <a:noFill/>
        </p:spPr>
        <p:txBody>
          <a:bodyPr wrap="square" anchor="t" lIns="0" rIns="0" tIns="0" bIns="0">
            <a:spAutoFit/>
          </a:bodyPr>
          <a:lstStyle/>
          <a:p>
            <a:pPr algn="l">
              <a:lnSpc>
                <a:spcPct val="100000"/>
              </a:lnSpc>
            </a:pPr>
            <a:r>
              <a:rPr sz="950" b="0" i="0">
                <a:solidFill>
                  <a:srgbClr val="64748B"/>
                </a:solidFill>
                <a:latin typeface="Arial"/>
              </a:rPr>
              <a:t>The idea</a:t>
            </a:r>
          </a:p>
        </p:txBody>
      </p:sp>
      <p:sp>
        <p:nvSpPr>
          <p:cNvPr id="39" name="TextBox 38"/>
          <p:cNvSpPr txBox="1"/>
          <p:nvPr/>
        </p:nvSpPr>
        <p:spPr>
          <a:xfrm>
            <a:off x="10436047" y="6419088"/>
            <a:ext cx="1097280" cy="219456"/>
          </a:xfrm>
          <a:prstGeom prst="rect">
            <a:avLst/>
          </a:prstGeom>
          <a:noFill/>
        </p:spPr>
        <p:txBody>
          <a:bodyPr wrap="square" anchor="t" lIns="0" rIns="0" tIns="0" bIns="0">
            <a:spAutoFit/>
          </a:bodyPr>
          <a:lstStyle/>
          <a:p>
            <a:pPr algn="r">
              <a:lnSpc>
                <a:spcPct val="100000"/>
              </a:lnSpc>
            </a:pPr>
            <a:r>
              <a:rPr sz="950" b="0" i="0">
                <a:solidFill>
                  <a:srgbClr val="64748B"/>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10874959" cy="219456"/>
          </a:xfrm>
          <a:prstGeom prst="rect">
            <a:avLst/>
          </a:prstGeom>
          <a:noFill/>
        </p:spPr>
        <p:txBody>
          <a:bodyPr wrap="square" anchor="t" lIns="0" rIns="0" tIns="0" bIns="0">
            <a:spAutoFit/>
          </a:bodyPr>
          <a:lstStyle/>
          <a:p>
            <a:pPr algn="l">
              <a:lnSpc>
                <a:spcPct val="100000"/>
              </a:lnSpc>
            </a:pPr>
            <a:r>
              <a:rPr sz="1100" b="1" i="0">
                <a:solidFill>
                  <a:srgbClr val="6366F1"/>
                </a:solidFill>
                <a:latin typeface="Arial"/>
              </a:rPr>
              <a:t>ARCHITECTURE</a:t>
            </a:r>
          </a:p>
        </p:txBody>
      </p:sp>
      <p:sp>
        <p:nvSpPr>
          <p:cNvPr id="3" name="TextBox 2"/>
          <p:cNvSpPr txBox="1"/>
          <p:nvPr/>
        </p:nvSpPr>
        <p:spPr>
          <a:xfrm>
            <a:off x="658368" y="676656"/>
            <a:ext cx="10874959" cy="566928"/>
          </a:xfrm>
          <a:prstGeom prst="rect">
            <a:avLst/>
          </a:prstGeom>
          <a:noFill/>
        </p:spPr>
        <p:txBody>
          <a:bodyPr wrap="square" anchor="t" lIns="0" rIns="0" tIns="0" bIns="0">
            <a:spAutoFit/>
          </a:bodyPr>
          <a:lstStyle/>
          <a:p>
            <a:pPr algn="l">
              <a:lnSpc>
                <a:spcPct val="100000"/>
              </a:lnSpc>
            </a:pPr>
            <a:r>
              <a:rPr sz="3000" b="1" i="0">
                <a:solidFill>
                  <a:srgbClr val="0F172A"/>
                </a:solidFill>
                <a:latin typeface="Arial"/>
              </a:rPr>
              <a:t>Three planes, one rule that keeps them honest.</a:t>
            </a:r>
          </a:p>
        </p:txBody>
      </p:sp>
      <p:sp>
        <p:nvSpPr>
          <p:cNvPr id="4" name="TextBox 3"/>
          <p:cNvSpPr txBox="1"/>
          <p:nvPr/>
        </p:nvSpPr>
        <p:spPr>
          <a:xfrm>
            <a:off x="658368" y="1243584"/>
            <a:ext cx="9352464" cy="457200"/>
          </a:xfrm>
          <a:prstGeom prst="rect">
            <a:avLst/>
          </a:prstGeom>
          <a:noFill/>
        </p:spPr>
        <p:txBody>
          <a:bodyPr wrap="square" anchor="t" lIns="0" rIns="0" tIns="0" bIns="0">
            <a:spAutoFit/>
          </a:bodyPr>
          <a:lstStyle/>
          <a:p>
            <a:pPr algn="l">
              <a:lnSpc>
                <a:spcPct val="115000"/>
              </a:lnSpc>
            </a:pPr>
            <a:r>
              <a:rPr sz="1400" b="0" i="0">
                <a:solidFill>
                  <a:srgbClr val="64748B"/>
                </a:solidFill>
                <a:latin typeface="Arial"/>
              </a:rPr>
              <a:t>The gate decides authority. A rail moves money. Neither knows about the other.</a:t>
            </a:r>
          </a:p>
        </p:txBody>
      </p:sp>
      <p:sp>
        <p:nvSpPr>
          <p:cNvPr id="5" name="Rounded Rectangle 4"/>
          <p:cNvSpPr/>
          <p:nvPr/>
        </p:nvSpPr>
        <p:spPr>
          <a:xfrm>
            <a:off x="658368" y="1874519"/>
            <a:ext cx="10874959" cy="896112"/>
          </a:xfrm>
          <a:prstGeom prst="roundRect">
            <a:avLst>
              <a:gd name="adj" fmla="val 4500"/>
            </a:avLst>
          </a:prstGeom>
          <a:solidFill>
            <a:srgbClr val="EEF2FF"/>
          </a:solidFill>
          <a:ln w="12700">
            <a:solidFill>
              <a:srgbClr val="6366F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32688" y="2075688"/>
            <a:ext cx="2377440" cy="256032"/>
          </a:xfrm>
          <a:prstGeom prst="rect">
            <a:avLst/>
          </a:prstGeom>
          <a:noFill/>
        </p:spPr>
        <p:txBody>
          <a:bodyPr wrap="square" anchor="t" lIns="0" rIns="0" tIns="0" bIns="0">
            <a:spAutoFit/>
          </a:bodyPr>
          <a:lstStyle/>
          <a:p>
            <a:pPr algn="l">
              <a:lnSpc>
                <a:spcPct val="100000"/>
              </a:lnSpc>
            </a:pPr>
            <a:r>
              <a:rPr sz="1200" b="1" i="0">
                <a:solidFill>
                  <a:srgbClr val="6366F1"/>
                </a:solidFill>
                <a:latin typeface="Arial"/>
              </a:rPr>
              <a:t>TRUST PLANE</a:t>
            </a:r>
          </a:p>
        </p:txBody>
      </p:sp>
      <p:sp>
        <p:nvSpPr>
          <p:cNvPr id="7" name="TextBox 6"/>
          <p:cNvSpPr txBox="1"/>
          <p:nvPr/>
        </p:nvSpPr>
        <p:spPr>
          <a:xfrm>
            <a:off x="932688" y="2386584"/>
            <a:ext cx="2377440" cy="237744"/>
          </a:xfrm>
          <a:prstGeom prst="rect">
            <a:avLst/>
          </a:prstGeom>
          <a:noFill/>
        </p:spPr>
        <p:txBody>
          <a:bodyPr wrap="square" anchor="t" lIns="0" rIns="0" tIns="0" bIns="0">
            <a:spAutoFit/>
          </a:bodyPr>
          <a:lstStyle/>
          <a:p>
            <a:pPr algn="l">
              <a:lnSpc>
                <a:spcPct val="100000"/>
              </a:lnSpc>
            </a:pPr>
            <a:r>
              <a:rPr sz="1050" b="0" i="0">
                <a:solidFill>
                  <a:srgbClr val="64748B"/>
                </a:solidFill>
                <a:latin typeface="Consolas"/>
              </a:rPr>
              <a:t>core/</a:t>
            </a:r>
          </a:p>
        </p:txBody>
      </p:sp>
      <p:sp>
        <p:nvSpPr>
          <p:cNvPr id="8" name="Rounded Rectangle 7"/>
          <p:cNvSpPr/>
          <p:nvPr/>
        </p:nvSpPr>
        <p:spPr>
          <a:xfrm>
            <a:off x="3538728" y="2112263"/>
            <a:ext cx="1425183" cy="502920"/>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a:solidFill>
                  <a:srgbClr val="0F172A"/>
                </a:solidFill>
                <a:latin typeface="Arial"/>
              </a:rPr>
              <a:t>Signed mandate</a:t>
            </a:r>
          </a:p>
        </p:txBody>
      </p:sp>
      <p:sp>
        <p:nvSpPr>
          <p:cNvPr id="9" name="Rounded Rectangle 8"/>
          <p:cNvSpPr/>
          <p:nvPr/>
        </p:nvSpPr>
        <p:spPr>
          <a:xfrm>
            <a:off x="5091927" y="2112263"/>
            <a:ext cx="1425183" cy="502920"/>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a:solidFill>
                  <a:srgbClr val="0F172A"/>
                </a:solidFill>
                <a:latin typeface="Arial"/>
              </a:rPr>
              <a:t>Ten checks</a:t>
            </a:r>
          </a:p>
        </p:txBody>
      </p:sp>
      <p:sp>
        <p:nvSpPr>
          <p:cNvPr id="10" name="Rounded Rectangle 9"/>
          <p:cNvSpPr/>
          <p:nvPr/>
        </p:nvSpPr>
        <p:spPr>
          <a:xfrm>
            <a:off x="6645127" y="2112263"/>
            <a:ext cx="1425183" cy="502920"/>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a:solidFill>
                  <a:srgbClr val="0F172A"/>
                </a:solidFill>
                <a:latin typeface="Arial"/>
              </a:rPr>
              <a:t>Ledger + reservations</a:t>
            </a:r>
          </a:p>
        </p:txBody>
      </p:sp>
      <p:sp>
        <p:nvSpPr>
          <p:cNvPr id="11" name="Rounded Rectangle 10"/>
          <p:cNvSpPr/>
          <p:nvPr/>
        </p:nvSpPr>
        <p:spPr>
          <a:xfrm>
            <a:off x="8198327" y="2112263"/>
            <a:ext cx="1425183" cy="502920"/>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a:solidFill>
                  <a:srgbClr val="0F172A"/>
                </a:solidFill>
                <a:latin typeface="Arial"/>
              </a:rPr>
              <a:t>Audit trail</a:t>
            </a:r>
          </a:p>
        </p:txBody>
      </p:sp>
      <p:sp>
        <p:nvSpPr>
          <p:cNvPr id="12" name="Rounded Rectangle 11"/>
          <p:cNvSpPr/>
          <p:nvPr/>
        </p:nvSpPr>
        <p:spPr>
          <a:xfrm>
            <a:off x="9751527" y="2112263"/>
            <a:ext cx="1425183" cy="502920"/>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a:solidFill>
                  <a:srgbClr val="0F172A"/>
                </a:solidFill>
                <a:latin typeface="Arial"/>
              </a:rPr>
              <a:t>Rollback saga</a:t>
            </a:r>
          </a:p>
        </p:txBody>
      </p:sp>
      <p:sp>
        <p:nvSpPr>
          <p:cNvPr id="13" name="Rounded Rectangle 12"/>
          <p:cNvSpPr/>
          <p:nvPr/>
        </p:nvSpPr>
        <p:spPr>
          <a:xfrm>
            <a:off x="658368" y="2898648"/>
            <a:ext cx="10874959" cy="896112"/>
          </a:xfrm>
          <a:prstGeom prst="roundRect">
            <a:avLst>
              <a:gd name="adj" fmla="val 4500"/>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099816"/>
            <a:ext cx="2377440" cy="256032"/>
          </a:xfrm>
          <a:prstGeom prst="rect">
            <a:avLst/>
          </a:prstGeom>
          <a:noFill/>
        </p:spPr>
        <p:txBody>
          <a:bodyPr wrap="square" anchor="t" lIns="0" rIns="0" tIns="0" bIns="0">
            <a:spAutoFit/>
          </a:bodyPr>
          <a:lstStyle/>
          <a:p>
            <a:pPr algn="l">
              <a:lnSpc>
                <a:spcPct val="100000"/>
              </a:lnSpc>
            </a:pPr>
            <a:r>
              <a:rPr sz="1200" b="1" i="0">
                <a:solidFill>
                  <a:srgbClr val="10B981"/>
                </a:solidFill>
                <a:latin typeface="Arial"/>
              </a:rPr>
              <a:t>GROWTH PLANE</a:t>
            </a:r>
          </a:p>
        </p:txBody>
      </p:sp>
      <p:sp>
        <p:nvSpPr>
          <p:cNvPr id="15" name="TextBox 14"/>
          <p:cNvSpPr txBox="1"/>
          <p:nvPr/>
        </p:nvSpPr>
        <p:spPr>
          <a:xfrm>
            <a:off x="932688" y="3410712"/>
            <a:ext cx="2377440" cy="237744"/>
          </a:xfrm>
          <a:prstGeom prst="rect">
            <a:avLst/>
          </a:prstGeom>
          <a:noFill/>
        </p:spPr>
        <p:txBody>
          <a:bodyPr wrap="square" anchor="t" lIns="0" rIns="0" tIns="0" bIns="0">
            <a:spAutoFit/>
          </a:bodyPr>
          <a:lstStyle/>
          <a:p>
            <a:pPr algn="l">
              <a:lnSpc>
                <a:spcPct val="100000"/>
              </a:lnSpc>
            </a:pPr>
            <a:r>
              <a:rPr sz="1050" b="0" i="0">
                <a:solidFill>
                  <a:srgbClr val="64748B"/>
                </a:solidFill>
                <a:latin typeface="Consolas"/>
              </a:rPr>
              <a:t>merchant/</a:t>
            </a:r>
          </a:p>
        </p:txBody>
      </p:sp>
      <p:sp>
        <p:nvSpPr>
          <p:cNvPr id="16" name="Rounded Rectangle 15"/>
          <p:cNvSpPr/>
          <p:nvPr/>
        </p:nvSpPr>
        <p:spPr>
          <a:xfrm>
            <a:off x="3538728" y="3136391"/>
            <a:ext cx="1813483" cy="502920"/>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a:solidFill>
                  <a:srgbClr val="0F172A"/>
                </a:solidFill>
                <a:latin typeface="Arial"/>
              </a:rPr>
              <a:t>Headroom-aware upsell</a:t>
            </a:r>
          </a:p>
        </p:txBody>
      </p:sp>
      <p:sp>
        <p:nvSpPr>
          <p:cNvPr id="17" name="Rounded Rectangle 16"/>
          <p:cNvSpPr/>
          <p:nvPr/>
        </p:nvSpPr>
        <p:spPr>
          <a:xfrm>
            <a:off x="5480227" y="3136391"/>
            <a:ext cx="1813483" cy="502920"/>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a:solidFill>
                  <a:srgbClr val="0F172A"/>
                </a:solidFill>
                <a:latin typeface="Arial"/>
              </a:rPr>
              <a:t>Provably approvable offers</a:t>
            </a:r>
          </a:p>
        </p:txBody>
      </p:sp>
      <p:sp>
        <p:nvSpPr>
          <p:cNvPr id="18" name="Rounded Rectangle 17"/>
          <p:cNvSpPr/>
          <p:nvPr/>
        </p:nvSpPr>
        <p:spPr>
          <a:xfrm>
            <a:off x="7421727" y="3136391"/>
            <a:ext cx="1813483" cy="502920"/>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a:solidFill>
                  <a:srgbClr val="0F172A"/>
                </a:solidFill>
                <a:latin typeface="Arial"/>
              </a:rPr>
              <a:t>Step-up recovery</a:t>
            </a:r>
          </a:p>
        </p:txBody>
      </p:sp>
      <p:sp>
        <p:nvSpPr>
          <p:cNvPr id="19" name="Rounded Rectangle 18"/>
          <p:cNvSpPr/>
          <p:nvPr/>
        </p:nvSpPr>
        <p:spPr>
          <a:xfrm>
            <a:off x="9363227" y="3136391"/>
            <a:ext cx="1813483" cy="502920"/>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a:solidFill>
                  <a:srgbClr val="0F172A"/>
                </a:solidFill>
                <a:latin typeface="Arial"/>
              </a:rPr>
              <a:t>Alternative on stockout</a:t>
            </a:r>
          </a:p>
        </p:txBody>
      </p:sp>
      <p:sp>
        <p:nvSpPr>
          <p:cNvPr id="20" name="Rounded Rectangle 19"/>
          <p:cNvSpPr/>
          <p:nvPr/>
        </p:nvSpPr>
        <p:spPr>
          <a:xfrm>
            <a:off x="658368" y="3922776"/>
            <a:ext cx="10874959" cy="896112"/>
          </a:xfrm>
          <a:prstGeom prst="roundRect">
            <a:avLst>
              <a:gd name="adj" fmla="val 4500"/>
            </a:avLst>
          </a:prstGeom>
          <a:solidFill>
            <a:srgbClr val="EFF6FF"/>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2688" y="4123944"/>
            <a:ext cx="2377440" cy="256032"/>
          </a:xfrm>
          <a:prstGeom prst="rect">
            <a:avLst/>
          </a:prstGeom>
          <a:noFill/>
        </p:spPr>
        <p:txBody>
          <a:bodyPr wrap="square" anchor="t" lIns="0" rIns="0" tIns="0" bIns="0">
            <a:spAutoFit/>
          </a:bodyPr>
          <a:lstStyle/>
          <a:p>
            <a:pPr algn="l">
              <a:lnSpc>
                <a:spcPct val="100000"/>
              </a:lnSpc>
            </a:pPr>
            <a:r>
              <a:rPr sz="1200" b="1" i="0">
                <a:solidFill>
                  <a:srgbClr val="3B82F6"/>
                </a:solidFill>
                <a:latin typeface="Arial"/>
              </a:rPr>
              <a:t>MERCHANT PLANE</a:t>
            </a:r>
          </a:p>
        </p:txBody>
      </p:sp>
      <p:sp>
        <p:nvSpPr>
          <p:cNvPr id="22" name="TextBox 21"/>
          <p:cNvSpPr txBox="1"/>
          <p:nvPr/>
        </p:nvSpPr>
        <p:spPr>
          <a:xfrm>
            <a:off x="932688" y="4434840"/>
            <a:ext cx="2377440" cy="237744"/>
          </a:xfrm>
          <a:prstGeom prst="rect">
            <a:avLst/>
          </a:prstGeom>
          <a:noFill/>
        </p:spPr>
        <p:txBody>
          <a:bodyPr wrap="square" anchor="t" lIns="0" rIns="0" tIns="0" bIns="0">
            <a:spAutoFit/>
          </a:bodyPr>
          <a:lstStyle/>
          <a:p>
            <a:pPr algn="l">
              <a:lnSpc>
                <a:spcPct val="100000"/>
              </a:lnSpc>
            </a:pPr>
            <a:r>
              <a:rPr sz="1050" b="0" i="0">
                <a:solidFill>
                  <a:srgbClr val="64748B"/>
                </a:solidFill>
                <a:latin typeface="Consolas"/>
              </a:rPr>
              <a:t>merchant/ + console/</a:t>
            </a:r>
          </a:p>
        </p:txBody>
      </p:sp>
      <p:sp>
        <p:nvSpPr>
          <p:cNvPr id="23" name="Rounded Rectangle 22"/>
          <p:cNvSpPr/>
          <p:nvPr/>
        </p:nvSpPr>
        <p:spPr>
          <a:xfrm>
            <a:off x="3538728" y="4160520"/>
            <a:ext cx="1425183" cy="502920"/>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a:solidFill>
                  <a:srgbClr val="0F172A"/>
                </a:solidFill>
                <a:latin typeface="Arial"/>
              </a:rPr>
              <a:t>Catalog</a:t>
            </a:r>
          </a:p>
        </p:txBody>
      </p:sp>
      <p:sp>
        <p:nvSpPr>
          <p:cNvPr id="24" name="Rounded Rectangle 23"/>
          <p:cNvSpPr/>
          <p:nvPr/>
        </p:nvSpPr>
        <p:spPr>
          <a:xfrm>
            <a:off x="5091927" y="4160520"/>
            <a:ext cx="1425183" cy="502920"/>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a:solidFill>
                  <a:srgbClr val="0F172A"/>
                </a:solidFill>
                <a:latin typeface="Arial"/>
              </a:rPr>
              <a:t>Deterministic quotes</a:t>
            </a:r>
          </a:p>
        </p:txBody>
      </p:sp>
      <p:sp>
        <p:nvSpPr>
          <p:cNvPr id="25" name="Rounded Rectangle 24"/>
          <p:cNvSpPr/>
          <p:nvPr/>
        </p:nvSpPr>
        <p:spPr>
          <a:xfrm>
            <a:off x="6645127" y="4160520"/>
            <a:ext cx="1425183" cy="502920"/>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a:solidFill>
                  <a:srgbClr val="0F172A"/>
                </a:solidFill>
                <a:latin typeface="Arial"/>
              </a:rPr>
              <a:t>Checkout</a:t>
            </a:r>
          </a:p>
        </p:txBody>
      </p:sp>
      <p:sp>
        <p:nvSpPr>
          <p:cNvPr id="26" name="Rounded Rectangle 25"/>
          <p:cNvSpPr/>
          <p:nvPr/>
        </p:nvSpPr>
        <p:spPr>
          <a:xfrm>
            <a:off x="8198327" y="4160520"/>
            <a:ext cx="1425183" cy="502920"/>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a:solidFill>
                  <a:srgbClr val="0F172A"/>
                </a:solidFill>
                <a:latin typeface="Arial"/>
              </a:rPr>
              <a:t>MCP tools</a:t>
            </a:r>
          </a:p>
        </p:txBody>
      </p:sp>
      <p:sp>
        <p:nvSpPr>
          <p:cNvPr id="27" name="Rounded Rectangle 26"/>
          <p:cNvSpPr/>
          <p:nvPr/>
        </p:nvSpPr>
        <p:spPr>
          <a:xfrm>
            <a:off x="9751527" y="4160520"/>
            <a:ext cx="1425183" cy="502920"/>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a:solidFill>
                  <a:srgbClr val="0F172A"/>
                </a:solidFill>
                <a:latin typeface="Arial"/>
              </a:rPr>
              <a:t>Three console surfaces</a:t>
            </a:r>
          </a:p>
        </p:txBody>
      </p:sp>
      <p:sp>
        <p:nvSpPr>
          <p:cNvPr id="28" name="TextBox 27"/>
          <p:cNvSpPr txBox="1"/>
          <p:nvPr/>
        </p:nvSpPr>
        <p:spPr>
          <a:xfrm>
            <a:off x="658368" y="5010912"/>
            <a:ext cx="2743200" cy="237744"/>
          </a:xfrm>
          <a:prstGeom prst="rect">
            <a:avLst/>
          </a:prstGeom>
          <a:noFill/>
        </p:spPr>
        <p:txBody>
          <a:bodyPr wrap="square" anchor="t" lIns="0" rIns="0" tIns="0" bIns="0">
            <a:spAutoFit/>
          </a:bodyPr>
          <a:lstStyle/>
          <a:p>
            <a:pPr algn="l">
              <a:lnSpc>
                <a:spcPct val="100000"/>
              </a:lnSpc>
            </a:pPr>
            <a:r>
              <a:rPr sz="1100" b="1" i="0">
                <a:solidFill>
                  <a:srgbClr val="64748B"/>
                </a:solidFill>
                <a:latin typeface="Arial"/>
              </a:rPr>
              <a:t>RAIL ADAPTER BOUNDARY</a:t>
            </a:r>
          </a:p>
        </p:txBody>
      </p:sp>
      <p:sp>
        <p:nvSpPr>
          <p:cNvPr id="29" name="Rounded Rectangle 28"/>
          <p:cNvSpPr/>
          <p:nvPr/>
        </p:nvSpPr>
        <p:spPr>
          <a:xfrm>
            <a:off x="658368" y="5340096"/>
            <a:ext cx="2377440" cy="530352"/>
          </a:xfrm>
          <a:prstGeom prst="roundRect">
            <a:avLst>
              <a:gd name="adj" fmla="val 18000"/>
            </a:avLst>
          </a:prstGeom>
          <a:solidFill>
            <a:srgbClr val="EFF6FF"/>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50" b="1">
                <a:solidFill>
                  <a:srgbClr val="3B82F6"/>
                </a:solidFill>
                <a:latin typeface="Arial"/>
              </a:rPr>
              <a:t>Razorpay</a:t>
            </a:r>
          </a:p>
          <a:p>
            <a:pPr algn="ctr"/>
            <a:r>
              <a:rPr sz="1050">
                <a:solidFill>
                  <a:srgbClr val="64748B"/>
                </a:solidFill>
                <a:latin typeface="Arial"/>
              </a:rPr>
              <a:t>test keys only</a:t>
            </a:r>
          </a:p>
        </p:txBody>
      </p:sp>
      <p:sp>
        <p:nvSpPr>
          <p:cNvPr id="30" name="Rounded Rectangle 29"/>
          <p:cNvSpPr/>
          <p:nvPr/>
        </p:nvSpPr>
        <p:spPr>
          <a:xfrm>
            <a:off x="3264408" y="5340096"/>
            <a:ext cx="2377440" cy="530352"/>
          </a:xfrm>
          <a:prstGeom prst="roundRect">
            <a:avLst>
              <a:gd name="adj" fmla="val 18000"/>
            </a:avLst>
          </a:prstGeom>
          <a:solidFill>
            <a:srgbClr val="F8FAFC"/>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50" b="1">
                <a:solidFill>
                  <a:srgbClr val="0F172A"/>
                </a:solidFill>
                <a:latin typeface="Arial"/>
              </a:rPr>
              <a:t>mock UPI Circle</a:t>
            </a:r>
          </a:p>
          <a:p>
            <a:pPr algn="ctr"/>
            <a:r>
              <a:rPr sz="1050">
                <a:solidFill>
                  <a:srgbClr val="64748B"/>
                </a:solidFill>
                <a:latin typeface="Arial"/>
              </a:rPr>
              <a:t>no keys needed</a:t>
            </a:r>
          </a:p>
        </p:txBody>
      </p:sp>
      <p:sp>
        <p:nvSpPr>
          <p:cNvPr id="31" name="Rounded Rectangle 30"/>
          <p:cNvSpPr/>
          <p:nvPr/>
        </p:nvSpPr>
        <p:spPr>
          <a:xfrm>
            <a:off x="6053328" y="5010912"/>
            <a:ext cx="5479999" cy="859536"/>
          </a:xfrm>
          <a:prstGeom prst="roundRect">
            <a:avLst>
              <a:gd name="adj" fmla="val 45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327648" y="5148072"/>
            <a:ext cx="4931359" cy="274320"/>
          </a:xfrm>
          <a:prstGeom prst="rect">
            <a:avLst/>
          </a:prstGeom>
          <a:noFill/>
        </p:spPr>
        <p:txBody>
          <a:bodyPr wrap="square" anchor="t" lIns="0" rIns="0" tIns="0" bIns="0">
            <a:spAutoFit/>
          </a:bodyPr>
          <a:lstStyle/>
          <a:p>
            <a:pPr algn="l">
              <a:lnSpc>
                <a:spcPct val="100000"/>
              </a:lnSpc>
            </a:pPr>
            <a:r>
              <a:rPr sz="1350" b="1" i="0">
                <a:solidFill>
                  <a:srgbClr val="FFFFFF"/>
                </a:solidFill>
                <a:latin typeface="Arial"/>
              </a:rPr>
              <a:t>Nothing in core/ imports a rail.</a:t>
            </a:r>
          </a:p>
        </p:txBody>
      </p:sp>
      <p:sp>
        <p:nvSpPr>
          <p:cNvPr id="33" name="TextBox 32"/>
          <p:cNvSpPr txBox="1"/>
          <p:nvPr/>
        </p:nvSpPr>
        <p:spPr>
          <a:xfrm>
            <a:off x="6327648" y="5468112"/>
            <a:ext cx="4931359" cy="365760"/>
          </a:xfrm>
          <a:prstGeom prst="rect">
            <a:avLst/>
          </a:prstGeom>
          <a:noFill/>
        </p:spPr>
        <p:txBody>
          <a:bodyPr wrap="square" anchor="t" lIns="0" rIns="0" tIns="0" bIns="0">
            <a:spAutoFit/>
          </a:bodyPr>
          <a:lstStyle/>
          <a:p>
            <a:pPr algn="l">
              <a:lnSpc>
                <a:spcPct val="115000"/>
              </a:lnSpc>
            </a:pPr>
            <a:r>
              <a:rPr sz="1050" b="0" i="0">
                <a:solidFill>
                  <a:srgbClr val="CBD5E1"/>
                </a:solidFill>
                <a:latin typeface="Arial"/>
              </a:rPr>
              <a:t>An AST test enforces it, and a second test closes the loophole: no executable line in core/ may even name a vendor.</a:t>
            </a:r>
          </a:p>
        </p:txBody>
      </p:sp>
      <p:sp>
        <p:nvSpPr>
          <p:cNvPr id="34" name="Rectangle 33"/>
          <p:cNvSpPr/>
          <p:nvPr/>
        </p:nvSpPr>
        <p:spPr>
          <a:xfrm>
            <a:off x="658368" y="6291072"/>
            <a:ext cx="10874959"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6419088"/>
            <a:ext cx="7612471" cy="219456"/>
          </a:xfrm>
          <a:prstGeom prst="rect">
            <a:avLst/>
          </a:prstGeom>
          <a:noFill/>
        </p:spPr>
        <p:txBody>
          <a:bodyPr wrap="square" anchor="t" lIns="0" rIns="0" tIns="0" bIns="0">
            <a:spAutoFit/>
          </a:bodyPr>
          <a:lstStyle/>
          <a:p>
            <a:pPr algn="l">
              <a:lnSpc>
                <a:spcPct val="100000"/>
              </a:lnSpc>
            </a:pPr>
            <a:r>
              <a:rPr sz="950" b="0" i="0">
                <a:solidFill>
                  <a:srgbClr val="64748B"/>
                </a:solidFill>
                <a:latin typeface="Arial"/>
              </a:rPr>
              <a:t>Architecture</a:t>
            </a:r>
          </a:p>
        </p:txBody>
      </p:sp>
      <p:sp>
        <p:nvSpPr>
          <p:cNvPr id="36" name="TextBox 35"/>
          <p:cNvSpPr txBox="1"/>
          <p:nvPr/>
        </p:nvSpPr>
        <p:spPr>
          <a:xfrm>
            <a:off x="10436047" y="6419088"/>
            <a:ext cx="1097280" cy="219456"/>
          </a:xfrm>
          <a:prstGeom prst="rect">
            <a:avLst/>
          </a:prstGeom>
          <a:noFill/>
        </p:spPr>
        <p:txBody>
          <a:bodyPr wrap="square" anchor="t" lIns="0" rIns="0" tIns="0" bIns="0">
            <a:spAutoFit/>
          </a:bodyPr>
          <a:lstStyle/>
          <a:p>
            <a:pPr algn="r">
              <a:lnSpc>
                <a:spcPct val="100000"/>
              </a:lnSpc>
            </a:pPr>
            <a:r>
              <a:rPr sz="950" b="0" i="0">
                <a:solidFill>
                  <a:srgbClr val="64748B"/>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10874959" cy="219456"/>
          </a:xfrm>
          <a:prstGeom prst="rect">
            <a:avLst/>
          </a:prstGeom>
          <a:noFill/>
        </p:spPr>
        <p:txBody>
          <a:bodyPr wrap="square" anchor="t" lIns="0" rIns="0" tIns="0" bIns="0">
            <a:spAutoFit/>
          </a:bodyPr>
          <a:lstStyle/>
          <a:p>
            <a:pPr algn="l">
              <a:lnSpc>
                <a:spcPct val="100000"/>
              </a:lnSpc>
            </a:pPr>
            <a:r>
              <a:rPr sz="1100" b="1" i="0">
                <a:solidFill>
                  <a:srgbClr val="6366F1"/>
                </a:solidFill>
                <a:latin typeface="Arial"/>
              </a:rPr>
              <a:t>THE GATE</a:t>
            </a:r>
          </a:p>
        </p:txBody>
      </p:sp>
      <p:sp>
        <p:nvSpPr>
          <p:cNvPr id="3" name="TextBox 2"/>
          <p:cNvSpPr txBox="1"/>
          <p:nvPr/>
        </p:nvSpPr>
        <p:spPr>
          <a:xfrm>
            <a:off x="658368" y="676656"/>
            <a:ext cx="10874959" cy="566928"/>
          </a:xfrm>
          <a:prstGeom prst="rect">
            <a:avLst/>
          </a:prstGeom>
          <a:noFill/>
        </p:spPr>
        <p:txBody>
          <a:bodyPr wrap="square" anchor="t" lIns="0" rIns="0" tIns="0" bIns="0">
            <a:spAutoFit/>
          </a:bodyPr>
          <a:lstStyle/>
          <a:p>
            <a:pPr algn="l">
              <a:lnSpc>
                <a:spcPct val="100000"/>
              </a:lnSpc>
            </a:pPr>
            <a:r>
              <a:rPr sz="3000" b="1" i="0">
                <a:solidFill>
                  <a:srgbClr val="0F172A"/>
                </a:solidFill>
                <a:latin typeface="Arial"/>
              </a:rPr>
              <a:t>Ten checks, in a fixed order, on authority alone.</a:t>
            </a:r>
          </a:p>
        </p:txBody>
      </p:sp>
      <p:sp>
        <p:nvSpPr>
          <p:cNvPr id="4" name="TextBox 3"/>
          <p:cNvSpPr txBox="1"/>
          <p:nvPr/>
        </p:nvSpPr>
        <p:spPr>
          <a:xfrm>
            <a:off x="658368" y="1243584"/>
            <a:ext cx="9352464" cy="457200"/>
          </a:xfrm>
          <a:prstGeom prst="rect">
            <a:avLst/>
          </a:prstGeom>
          <a:noFill/>
        </p:spPr>
        <p:txBody>
          <a:bodyPr wrap="square" anchor="t" lIns="0" rIns="0" tIns="0" bIns="0">
            <a:spAutoFit/>
          </a:bodyPr>
          <a:lstStyle/>
          <a:p>
            <a:pPr algn="l">
              <a:lnSpc>
                <a:spcPct val="115000"/>
              </a:lnSpc>
            </a:pPr>
            <a:r>
              <a:rPr sz="1400" b="0" i="0">
                <a:solidFill>
                  <a:srgbClr val="64748B"/>
                </a:solidFill>
                <a:latin typeface="Arial"/>
              </a:rPr>
              <a:t>The chain is the audit trail: every check's status, timing and detail is stored on the decision, including the ones that were skipped.</a:t>
            </a:r>
          </a:p>
        </p:txBody>
      </p:sp>
      <p:sp>
        <p:nvSpPr>
          <p:cNvPr id="5" name="Rounded Rectangle 4"/>
          <p:cNvSpPr/>
          <p:nvPr/>
        </p:nvSpPr>
        <p:spPr>
          <a:xfrm>
            <a:off x="658368" y="2011680"/>
            <a:ext cx="2014057" cy="713232"/>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658368" y="2011680"/>
            <a:ext cx="45720" cy="71323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130552"/>
            <a:ext cx="1694017" cy="201168"/>
          </a:xfrm>
          <a:prstGeom prst="rect">
            <a:avLst/>
          </a:prstGeom>
          <a:noFill/>
        </p:spPr>
        <p:txBody>
          <a:bodyPr wrap="square" anchor="t" lIns="0" rIns="0" tIns="0" bIns="0">
            <a:spAutoFit/>
          </a:bodyPr>
          <a:lstStyle/>
          <a:p>
            <a:pPr algn="l">
              <a:lnSpc>
                <a:spcPct val="100000"/>
              </a:lnSpc>
            </a:pPr>
            <a:r>
              <a:rPr sz="1000" b="1" i="0">
                <a:solidFill>
                  <a:srgbClr val="6366F1"/>
                </a:solidFill>
                <a:latin typeface="Arial"/>
              </a:rPr>
              <a:t>01</a:t>
            </a:r>
          </a:p>
        </p:txBody>
      </p:sp>
      <p:sp>
        <p:nvSpPr>
          <p:cNvPr id="8" name="TextBox 7"/>
          <p:cNvSpPr txBox="1"/>
          <p:nvPr/>
        </p:nvSpPr>
        <p:spPr>
          <a:xfrm>
            <a:off x="841247" y="2359152"/>
            <a:ext cx="1739737" cy="256032"/>
          </a:xfrm>
          <a:prstGeom prst="rect">
            <a:avLst/>
          </a:prstGeom>
          <a:noFill/>
        </p:spPr>
        <p:txBody>
          <a:bodyPr wrap="square" anchor="t" lIns="0" rIns="0" tIns="0" bIns="0">
            <a:spAutoFit/>
          </a:bodyPr>
          <a:lstStyle/>
          <a:p>
            <a:pPr algn="l">
              <a:lnSpc>
                <a:spcPct val="100000"/>
              </a:lnSpc>
            </a:pPr>
            <a:r>
              <a:rPr sz="1150" b="1" i="0">
                <a:solidFill>
                  <a:srgbClr val="0F172A"/>
                </a:solidFill>
                <a:latin typeface="Consolas"/>
              </a:rPr>
              <a:t>request_signature</a:t>
            </a:r>
          </a:p>
        </p:txBody>
      </p:sp>
      <p:sp>
        <p:nvSpPr>
          <p:cNvPr id="9" name="Rounded Rectangle 8"/>
          <p:cNvSpPr/>
          <p:nvPr/>
        </p:nvSpPr>
        <p:spPr>
          <a:xfrm>
            <a:off x="2873593" y="2011680"/>
            <a:ext cx="2014057" cy="713232"/>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2873593" y="2011680"/>
            <a:ext cx="45720" cy="71323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56473" y="2130552"/>
            <a:ext cx="1694017" cy="201168"/>
          </a:xfrm>
          <a:prstGeom prst="rect">
            <a:avLst/>
          </a:prstGeom>
          <a:noFill/>
        </p:spPr>
        <p:txBody>
          <a:bodyPr wrap="square" anchor="t" lIns="0" rIns="0" tIns="0" bIns="0">
            <a:spAutoFit/>
          </a:bodyPr>
          <a:lstStyle/>
          <a:p>
            <a:pPr algn="l">
              <a:lnSpc>
                <a:spcPct val="100000"/>
              </a:lnSpc>
            </a:pPr>
            <a:r>
              <a:rPr sz="1000" b="1" i="0">
                <a:solidFill>
                  <a:srgbClr val="6366F1"/>
                </a:solidFill>
                <a:latin typeface="Arial"/>
              </a:rPr>
              <a:t>02</a:t>
            </a:r>
          </a:p>
        </p:txBody>
      </p:sp>
      <p:sp>
        <p:nvSpPr>
          <p:cNvPr id="12" name="TextBox 11"/>
          <p:cNvSpPr txBox="1"/>
          <p:nvPr/>
        </p:nvSpPr>
        <p:spPr>
          <a:xfrm>
            <a:off x="3056473" y="2359152"/>
            <a:ext cx="1739737" cy="256032"/>
          </a:xfrm>
          <a:prstGeom prst="rect">
            <a:avLst/>
          </a:prstGeom>
          <a:noFill/>
        </p:spPr>
        <p:txBody>
          <a:bodyPr wrap="square" anchor="t" lIns="0" rIns="0" tIns="0" bIns="0">
            <a:spAutoFit/>
          </a:bodyPr>
          <a:lstStyle/>
          <a:p>
            <a:pPr algn="l">
              <a:lnSpc>
                <a:spcPct val="100000"/>
              </a:lnSpc>
            </a:pPr>
            <a:r>
              <a:rPr sz="1150" b="1" i="0">
                <a:solidFill>
                  <a:srgbClr val="0F172A"/>
                </a:solidFill>
                <a:latin typeface="Consolas"/>
              </a:rPr>
              <a:t>mandate_signature</a:t>
            </a:r>
          </a:p>
        </p:txBody>
      </p:sp>
      <p:sp>
        <p:nvSpPr>
          <p:cNvPr id="13" name="Rounded Rectangle 12"/>
          <p:cNvSpPr/>
          <p:nvPr/>
        </p:nvSpPr>
        <p:spPr>
          <a:xfrm>
            <a:off x="5088818" y="2011680"/>
            <a:ext cx="2014057" cy="713232"/>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088818" y="2011680"/>
            <a:ext cx="45720" cy="71323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71698" y="2130552"/>
            <a:ext cx="1694017" cy="201168"/>
          </a:xfrm>
          <a:prstGeom prst="rect">
            <a:avLst/>
          </a:prstGeom>
          <a:noFill/>
        </p:spPr>
        <p:txBody>
          <a:bodyPr wrap="square" anchor="t" lIns="0" rIns="0" tIns="0" bIns="0">
            <a:spAutoFit/>
          </a:bodyPr>
          <a:lstStyle/>
          <a:p>
            <a:pPr algn="l">
              <a:lnSpc>
                <a:spcPct val="100000"/>
              </a:lnSpc>
            </a:pPr>
            <a:r>
              <a:rPr sz="1000" b="1" i="0">
                <a:solidFill>
                  <a:srgbClr val="6366F1"/>
                </a:solidFill>
                <a:latin typeface="Arial"/>
              </a:rPr>
              <a:t>03</a:t>
            </a:r>
          </a:p>
        </p:txBody>
      </p:sp>
      <p:sp>
        <p:nvSpPr>
          <p:cNvPr id="16" name="TextBox 15"/>
          <p:cNvSpPr txBox="1"/>
          <p:nvPr/>
        </p:nvSpPr>
        <p:spPr>
          <a:xfrm>
            <a:off x="5271698" y="2359152"/>
            <a:ext cx="1739737" cy="256032"/>
          </a:xfrm>
          <a:prstGeom prst="rect">
            <a:avLst/>
          </a:prstGeom>
          <a:noFill/>
        </p:spPr>
        <p:txBody>
          <a:bodyPr wrap="square" anchor="t" lIns="0" rIns="0" tIns="0" bIns="0">
            <a:spAutoFit/>
          </a:bodyPr>
          <a:lstStyle/>
          <a:p>
            <a:pPr algn="l">
              <a:lnSpc>
                <a:spcPct val="100000"/>
              </a:lnSpc>
            </a:pPr>
            <a:r>
              <a:rPr sz="1150" b="1" i="0">
                <a:solidFill>
                  <a:srgbClr val="0F172A"/>
                </a:solidFill>
                <a:latin typeface="Consolas"/>
              </a:rPr>
              <a:t>mandate_state</a:t>
            </a:r>
          </a:p>
        </p:txBody>
      </p:sp>
      <p:sp>
        <p:nvSpPr>
          <p:cNvPr id="17" name="Rounded Rectangle 16"/>
          <p:cNvSpPr/>
          <p:nvPr/>
        </p:nvSpPr>
        <p:spPr>
          <a:xfrm>
            <a:off x="7304044" y="2011680"/>
            <a:ext cx="2014057" cy="713232"/>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304044" y="2011680"/>
            <a:ext cx="45720" cy="71323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86924" y="2130552"/>
            <a:ext cx="1694017" cy="201168"/>
          </a:xfrm>
          <a:prstGeom prst="rect">
            <a:avLst/>
          </a:prstGeom>
          <a:noFill/>
        </p:spPr>
        <p:txBody>
          <a:bodyPr wrap="square" anchor="t" lIns="0" rIns="0" tIns="0" bIns="0">
            <a:spAutoFit/>
          </a:bodyPr>
          <a:lstStyle/>
          <a:p>
            <a:pPr algn="l">
              <a:lnSpc>
                <a:spcPct val="100000"/>
              </a:lnSpc>
            </a:pPr>
            <a:r>
              <a:rPr sz="1000" b="1" i="0">
                <a:solidFill>
                  <a:srgbClr val="6366F1"/>
                </a:solidFill>
                <a:latin typeface="Arial"/>
              </a:rPr>
              <a:t>04</a:t>
            </a:r>
          </a:p>
        </p:txBody>
      </p:sp>
      <p:sp>
        <p:nvSpPr>
          <p:cNvPr id="20" name="TextBox 19"/>
          <p:cNvSpPr txBox="1"/>
          <p:nvPr/>
        </p:nvSpPr>
        <p:spPr>
          <a:xfrm>
            <a:off x="7486924" y="2359152"/>
            <a:ext cx="1739737" cy="256032"/>
          </a:xfrm>
          <a:prstGeom prst="rect">
            <a:avLst/>
          </a:prstGeom>
          <a:noFill/>
        </p:spPr>
        <p:txBody>
          <a:bodyPr wrap="square" anchor="t" lIns="0" rIns="0" tIns="0" bIns="0">
            <a:spAutoFit/>
          </a:bodyPr>
          <a:lstStyle/>
          <a:p>
            <a:pPr algn="l">
              <a:lnSpc>
                <a:spcPct val="100000"/>
              </a:lnSpc>
            </a:pPr>
            <a:r>
              <a:rPr sz="1150" b="1" i="0">
                <a:solidFill>
                  <a:srgbClr val="0F172A"/>
                </a:solidFill>
                <a:latin typeface="Consolas"/>
              </a:rPr>
              <a:t>validity_window</a:t>
            </a:r>
          </a:p>
        </p:txBody>
      </p:sp>
      <p:sp>
        <p:nvSpPr>
          <p:cNvPr id="21" name="Rounded Rectangle 20"/>
          <p:cNvSpPr/>
          <p:nvPr/>
        </p:nvSpPr>
        <p:spPr>
          <a:xfrm>
            <a:off x="9519269" y="2011680"/>
            <a:ext cx="2014057" cy="713232"/>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519269" y="2011680"/>
            <a:ext cx="45720" cy="71323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02149" y="2130552"/>
            <a:ext cx="1694017" cy="201168"/>
          </a:xfrm>
          <a:prstGeom prst="rect">
            <a:avLst/>
          </a:prstGeom>
          <a:noFill/>
        </p:spPr>
        <p:txBody>
          <a:bodyPr wrap="square" anchor="t" lIns="0" rIns="0" tIns="0" bIns="0">
            <a:spAutoFit/>
          </a:bodyPr>
          <a:lstStyle/>
          <a:p>
            <a:pPr algn="l">
              <a:lnSpc>
                <a:spcPct val="100000"/>
              </a:lnSpc>
            </a:pPr>
            <a:r>
              <a:rPr sz="1000" b="1" i="0">
                <a:solidFill>
                  <a:srgbClr val="6366F1"/>
                </a:solidFill>
                <a:latin typeface="Arial"/>
              </a:rPr>
              <a:t>05</a:t>
            </a:r>
          </a:p>
        </p:txBody>
      </p:sp>
      <p:sp>
        <p:nvSpPr>
          <p:cNvPr id="24" name="TextBox 23"/>
          <p:cNvSpPr txBox="1"/>
          <p:nvPr/>
        </p:nvSpPr>
        <p:spPr>
          <a:xfrm>
            <a:off x="9702149" y="2359152"/>
            <a:ext cx="1739737" cy="256032"/>
          </a:xfrm>
          <a:prstGeom prst="rect">
            <a:avLst/>
          </a:prstGeom>
          <a:noFill/>
        </p:spPr>
        <p:txBody>
          <a:bodyPr wrap="square" anchor="t" lIns="0" rIns="0" tIns="0" bIns="0">
            <a:spAutoFit/>
          </a:bodyPr>
          <a:lstStyle/>
          <a:p>
            <a:pPr algn="l">
              <a:lnSpc>
                <a:spcPct val="100000"/>
              </a:lnSpc>
            </a:pPr>
            <a:r>
              <a:rPr sz="1150" b="1" i="0">
                <a:solidFill>
                  <a:srgbClr val="0F172A"/>
                </a:solidFill>
                <a:latin typeface="Consolas"/>
              </a:rPr>
              <a:t>freshness</a:t>
            </a:r>
          </a:p>
        </p:txBody>
      </p:sp>
      <p:sp>
        <p:nvSpPr>
          <p:cNvPr id="25" name="Rounded Rectangle 24"/>
          <p:cNvSpPr/>
          <p:nvPr/>
        </p:nvSpPr>
        <p:spPr>
          <a:xfrm>
            <a:off x="658368" y="2880360"/>
            <a:ext cx="2014057" cy="713232"/>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58368" y="2880360"/>
            <a:ext cx="45720" cy="71323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7" y="2999232"/>
            <a:ext cx="1694017" cy="201168"/>
          </a:xfrm>
          <a:prstGeom prst="rect">
            <a:avLst/>
          </a:prstGeom>
          <a:noFill/>
        </p:spPr>
        <p:txBody>
          <a:bodyPr wrap="square" anchor="t" lIns="0" rIns="0" tIns="0" bIns="0">
            <a:spAutoFit/>
          </a:bodyPr>
          <a:lstStyle/>
          <a:p>
            <a:pPr algn="l">
              <a:lnSpc>
                <a:spcPct val="100000"/>
              </a:lnSpc>
            </a:pPr>
            <a:r>
              <a:rPr sz="1000" b="1" i="0">
                <a:solidFill>
                  <a:srgbClr val="6366F1"/>
                </a:solidFill>
                <a:latin typeface="Arial"/>
              </a:rPr>
              <a:t>06</a:t>
            </a:r>
          </a:p>
        </p:txBody>
      </p:sp>
      <p:sp>
        <p:nvSpPr>
          <p:cNvPr id="28" name="TextBox 27"/>
          <p:cNvSpPr txBox="1"/>
          <p:nvPr/>
        </p:nvSpPr>
        <p:spPr>
          <a:xfrm>
            <a:off x="841247" y="3227832"/>
            <a:ext cx="1739737" cy="256032"/>
          </a:xfrm>
          <a:prstGeom prst="rect">
            <a:avLst/>
          </a:prstGeom>
          <a:noFill/>
        </p:spPr>
        <p:txBody>
          <a:bodyPr wrap="square" anchor="t" lIns="0" rIns="0" tIns="0" bIns="0">
            <a:spAutoFit/>
          </a:bodyPr>
          <a:lstStyle/>
          <a:p>
            <a:pPr algn="l">
              <a:lnSpc>
                <a:spcPct val="100000"/>
              </a:lnSpc>
            </a:pPr>
            <a:r>
              <a:rPr sz="1150" b="1" i="0">
                <a:solidFill>
                  <a:srgbClr val="0F172A"/>
                </a:solidFill>
                <a:latin typeface="Consolas"/>
              </a:rPr>
              <a:t>replay</a:t>
            </a:r>
          </a:p>
        </p:txBody>
      </p:sp>
      <p:sp>
        <p:nvSpPr>
          <p:cNvPr id="29" name="Rounded Rectangle 28"/>
          <p:cNvSpPr/>
          <p:nvPr/>
        </p:nvSpPr>
        <p:spPr>
          <a:xfrm>
            <a:off x="2873593" y="2880360"/>
            <a:ext cx="2014057" cy="713232"/>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2873593" y="2880360"/>
            <a:ext cx="45720" cy="71323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56473" y="2999232"/>
            <a:ext cx="1694017" cy="201168"/>
          </a:xfrm>
          <a:prstGeom prst="rect">
            <a:avLst/>
          </a:prstGeom>
          <a:noFill/>
        </p:spPr>
        <p:txBody>
          <a:bodyPr wrap="square" anchor="t" lIns="0" rIns="0" tIns="0" bIns="0">
            <a:spAutoFit/>
          </a:bodyPr>
          <a:lstStyle/>
          <a:p>
            <a:pPr algn="l">
              <a:lnSpc>
                <a:spcPct val="100000"/>
              </a:lnSpc>
            </a:pPr>
            <a:r>
              <a:rPr sz="1000" b="1" i="0">
                <a:solidFill>
                  <a:srgbClr val="6366F1"/>
                </a:solidFill>
                <a:latin typeface="Arial"/>
              </a:rPr>
              <a:t>07</a:t>
            </a:r>
          </a:p>
        </p:txBody>
      </p:sp>
      <p:sp>
        <p:nvSpPr>
          <p:cNvPr id="32" name="TextBox 31"/>
          <p:cNvSpPr txBox="1"/>
          <p:nvPr/>
        </p:nvSpPr>
        <p:spPr>
          <a:xfrm>
            <a:off x="3056473" y="3227832"/>
            <a:ext cx="1739737" cy="256032"/>
          </a:xfrm>
          <a:prstGeom prst="rect">
            <a:avLst/>
          </a:prstGeom>
          <a:noFill/>
        </p:spPr>
        <p:txBody>
          <a:bodyPr wrap="square" anchor="t" lIns="0" rIns="0" tIns="0" bIns="0">
            <a:spAutoFit/>
          </a:bodyPr>
          <a:lstStyle/>
          <a:p>
            <a:pPr algn="l">
              <a:lnSpc>
                <a:spcPct val="100000"/>
              </a:lnSpc>
            </a:pPr>
            <a:r>
              <a:rPr sz="1150" b="1" i="0">
                <a:solidFill>
                  <a:srgbClr val="0F172A"/>
                </a:solidFill>
                <a:latin typeface="Consolas"/>
              </a:rPr>
              <a:t>scope</a:t>
            </a:r>
          </a:p>
        </p:txBody>
      </p:sp>
      <p:sp>
        <p:nvSpPr>
          <p:cNvPr id="33" name="Rounded Rectangle 32"/>
          <p:cNvSpPr/>
          <p:nvPr/>
        </p:nvSpPr>
        <p:spPr>
          <a:xfrm>
            <a:off x="5088818" y="2880360"/>
            <a:ext cx="2014057" cy="713232"/>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088818" y="2880360"/>
            <a:ext cx="45720" cy="71323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1698" y="2999232"/>
            <a:ext cx="1694017" cy="201168"/>
          </a:xfrm>
          <a:prstGeom prst="rect">
            <a:avLst/>
          </a:prstGeom>
          <a:noFill/>
        </p:spPr>
        <p:txBody>
          <a:bodyPr wrap="square" anchor="t" lIns="0" rIns="0" tIns="0" bIns="0">
            <a:spAutoFit/>
          </a:bodyPr>
          <a:lstStyle/>
          <a:p>
            <a:pPr algn="l">
              <a:lnSpc>
                <a:spcPct val="100000"/>
              </a:lnSpc>
            </a:pPr>
            <a:r>
              <a:rPr sz="1000" b="1" i="0">
                <a:solidFill>
                  <a:srgbClr val="6366F1"/>
                </a:solidFill>
                <a:latin typeface="Arial"/>
              </a:rPr>
              <a:t>08</a:t>
            </a:r>
          </a:p>
        </p:txBody>
      </p:sp>
      <p:sp>
        <p:nvSpPr>
          <p:cNvPr id="36" name="TextBox 35"/>
          <p:cNvSpPr txBox="1"/>
          <p:nvPr/>
        </p:nvSpPr>
        <p:spPr>
          <a:xfrm>
            <a:off x="5271698" y="3227832"/>
            <a:ext cx="1739737" cy="256032"/>
          </a:xfrm>
          <a:prstGeom prst="rect">
            <a:avLst/>
          </a:prstGeom>
          <a:noFill/>
        </p:spPr>
        <p:txBody>
          <a:bodyPr wrap="square" anchor="t" lIns="0" rIns="0" tIns="0" bIns="0">
            <a:spAutoFit/>
          </a:bodyPr>
          <a:lstStyle/>
          <a:p>
            <a:pPr algn="l">
              <a:lnSpc>
                <a:spcPct val="100000"/>
              </a:lnSpc>
            </a:pPr>
            <a:r>
              <a:rPr sz="1150" b="1" i="0">
                <a:solidFill>
                  <a:srgbClr val="0F172A"/>
                </a:solidFill>
                <a:latin typeface="Consolas"/>
              </a:rPr>
              <a:t>ceiling</a:t>
            </a:r>
          </a:p>
        </p:txBody>
      </p:sp>
      <p:sp>
        <p:nvSpPr>
          <p:cNvPr id="37" name="Rounded Rectangle 36"/>
          <p:cNvSpPr/>
          <p:nvPr/>
        </p:nvSpPr>
        <p:spPr>
          <a:xfrm>
            <a:off x="7304044" y="2880360"/>
            <a:ext cx="2014057" cy="713232"/>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7304044" y="2880360"/>
            <a:ext cx="45720" cy="71323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86924" y="2999232"/>
            <a:ext cx="1694017" cy="201168"/>
          </a:xfrm>
          <a:prstGeom prst="rect">
            <a:avLst/>
          </a:prstGeom>
          <a:noFill/>
        </p:spPr>
        <p:txBody>
          <a:bodyPr wrap="square" anchor="t" lIns="0" rIns="0" tIns="0" bIns="0">
            <a:spAutoFit/>
          </a:bodyPr>
          <a:lstStyle/>
          <a:p>
            <a:pPr algn="l">
              <a:lnSpc>
                <a:spcPct val="100000"/>
              </a:lnSpc>
            </a:pPr>
            <a:r>
              <a:rPr sz="1000" b="1" i="0">
                <a:solidFill>
                  <a:srgbClr val="6366F1"/>
                </a:solidFill>
                <a:latin typeface="Arial"/>
              </a:rPr>
              <a:t>09</a:t>
            </a:r>
          </a:p>
        </p:txBody>
      </p:sp>
      <p:sp>
        <p:nvSpPr>
          <p:cNvPr id="40" name="TextBox 39"/>
          <p:cNvSpPr txBox="1"/>
          <p:nvPr/>
        </p:nvSpPr>
        <p:spPr>
          <a:xfrm>
            <a:off x="7486924" y="3227832"/>
            <a:ext cx="1739737" cy="256032"/>
          </a:xfrm>
          <a:prstGeom prst="rect">
            <a:avLst/>
          </a:prstGeom>
          <a:noFill/>
        </p:spPr>
        <p:txBody>
          <a:bodyPr wrap="square" anchor="t" lIns="0" rIns="0" tIns="0" bIns="0">
            <a:spAutoFit/>
          </a:bodyPr>
          <a:lstStyle/>
          <a:p>
            <a:pPr algn="l">
              <a:lnSpc>
                <a:spcPct val="100000"/>
              </a:lnSpc>
            </a:pPr>
            <a:r>
              <a:rPr sz="1150" b="1" i="0">
                <a:solidFill>
                  <a:srgbClr val="0F172A"/>
                </a:solidFill>
                <a:latin typeface="Consolas"/>
              </a:rPr>
              <a:t>quote_binding</a:t>
            </a:r>
          </a:p>
        </p:txBody>
      </p:sp>
      <p:sp>
        <p:nvSpPr>
          <p:cNvPr id="41" name="Rounded Rectangle 40"/>
          <p:cNvSpPr/>
          <p:nvPr/>
        </p:nvSpPr>
        <p:spPr>
          <a:xfrm>
            <a:off x="9519269" y="2880360"/>
            <a:ext cx="2014057" cy="713232"/>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9519269" y="2880360"/>
            <a:ext cx="4572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02149" y="2999232"/>
            <a:ext cx="1694017" cy="201168"/>
          </a:xfrm>
          <a:prstGeom prst="rect">
            <a:avLst/>
          </a:prstGeom>
          <a:noFill/>
        </p:spPr>
        <p:txBody>
          <a:bodyPr wrap="square" anchor="t" lIns="0" rIns="0" tIns="0" bIns="0">
            <a:spAutoFit/>
          </a:bodyPr>
          <a:lstStyle/>
          <a:p>
            <a:pPr algn="l">
              <a:lnSpc>
                <a:spcPct val="100000"/>
              </a:lnSpc>
            </a:pPr>
            <a:r>
              <a:rPr sz="1000" b="1" i="0">
                <a:solidFill>
                  <a:srgbClr val="F59E0B"/>
                </a:solidFill>
                <a:latin typeface="Arial"/>
              </a:rPr>
              <a:t>10</a:t>
            </a:r>
          </a:p>
        </p:txBody>
      </p:sp>
      <p:sp>
        <p:nvSpPr>
          <p:cNvPr id="44" name="TextBox 43"/>
          <p:cNvSpPr txBox="1"/>
          <p:nvPr/>
        </p:nvSpPr>
        <p:spPr>
          <a:xfrm>
            <a:off x="9702149" y="3227832"/>
            <a:ext cx="1739737" cy="256032"/>
          </a:xfrm>
          <a:prstGeom prst="rect">
            <a:avLst/>
          </a:prstGeom>
          <a:noFill/>
        </p:spPr>
        <p:txBody>
          <a:bodyPr wrap="square" anchor="t" lIns="0" rIns="0" tIns="0" bIns="0">
            <a:spAutoFit/>
          </a:bodyPr>
          <a:lstStyle/>
          <a:p>
            <a:pPr algn="l">
              <a:lnSpc>
                <a:spcPct val="100000"/>
              </a:lnSpc>
            </a:pPr>
            <a:r>
              <a:rPr sz="1150" b="1" i="0">
                <a:solidFill>
                  <a:srgbClr val="0F172A"/>
                </a:solidFill>
                <a:latin typeface="Consolas"/>
              </a:rPr>
              <a:t>intent</a:t>
            </a:r>
          </a:p>
        </p:txBody>
      </p:sp>
      <p:sp>
        <p:nvSpPr>
          <p:cNvPr id="45" name="Rounded Rectangle 44"/>
          <p:cNvSpPr/>
          <p:nvPr/>
        </p:nvSpPr>
        <p:spPr>
          <a:xfrm>
            <a:off x="658368" y="3950208"/>
            <a:ext cx="3454298" cy="914400"/>
          </a:xfrm>
          <a:prstGeom prst="roundRect">
            <a:avLst>
              <a:gd name="adj" fmla="val 4500"/>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96112" y="4114800"/>
            <a:ext cx="2997098" cy="256032"/>
          </a:xfrm>
          <a:prstGeom prst="rect">
            <a:avLst/>
          </a:prstGeom>
          <a:noFill/>
        </p:spPr>
        <p:txBody>
          <a:bodyPr wrap="square" anchor="t" lIns="0" rIns="0" tIns="0" bIns="0">
            <a:spAutoFit/>
          </a:bodyPr>
          <a:lstStyle/>
          <a:p>
            <a:pPr algn="l">
              <a:lnSpc>
                <a:spcPct val="100000"/>
              </a:lnSpc>
            </a:pPr>
            <a:r>
              <a:rPr sz="1400" b="1" i="0">
                <a:solidFill>
                  <a:srgbClr val="10B981"/>
                </a:solidFill>
                <a:latin typeface="Arial"/>
              </a:rPr>
              <a:t>ALLOW</a:t>
            </a:r>
          </a:p>
        </p:txBody>
      </p:sp>
      <p:sp>
        <p:nvSpPr>
          <p:cNvPr id="47" name="TextBox 46"/>
          <p:cNvSpPr txBox="1"/>
          <p:nvPr/>
        </p:nvSpPr>
        <p:spPr>
          <a:xfrm>
            <a:off x="896112" y="4425696"/>
            <a:ext cx="2997098" cy="402336"/>
          </a:xfrm>
          <a:prstGeom prst="rect">
            <a:avLst/>
          </a:prstGeom>
          <a:noFill/>
        </p:spPr>
        <p:txBody>
          <a:bodyPr wrap="square" anchor="t" lIns="0" rIns="0" tIns="0" bIns="0">
            <a:spAutoFit/>
          </a:bodyPr>
          <a:lstStyle/>
          <a:p>
            <a:pPr algn="l">
              <a:lnSpc>
                <a:spcPct val="115000"/>
              </a:lnSpc>
            </a:pPr>
            <a:r>
              <a:rPr sz="1050" b="0" i="0">
                <a:solidFill>
                  <a:srgbClr val="334155"/>
                </a:solidFill>
                <a:latin typeface="Arial"/>
              </a:rPr>
              <a:t>a settlement token, spendable once</a:t>
            </a:r>
          </a:p>
        </p:txBody>
      </p:sp>
      <p:sp>
        <p:nvSpPr>
          <p:cNvPr id="48" name="Rounded Rectangle 47"/>
          <p:cNvSpPr/>
          <p:nvPr/>
        </p:nvSpPr>
        <p:spPr>
          <a:xfrm>
            <a:off x="4368698" y="3950208"/>
            <a:ext cx="3454298" cy="914400"/>
          </a:xfrm>
          <a:prstGeom prst="roundRect">
            <a:avLst>
              <a:gd name="adj" fmla="val 4500"/>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4606442" y="4114800"/>
            <a:ext cx="2997098" cy="256032"/>
          </a:xfrm>
          <a:prstGeom prst="rect">
            <a:avLst/>
          </a:prstGeom>
          <a:noFill/>
        </p:spPr>
        <p:txBody>
          <a:bodyPr wrap="square" anchor="t" lIns="0" rIns="0" tIns="0" bIns="0">
            <a:spAutoFit/>
          </a:bodyPr>
          <a:lstStyle/>
          <a:p>
            <a:pPr algn="l">
              <a:lnSpc>
                <a:spcPct val="100000"/>
              </a:lnSpc>
            </a:pPr>
            <a:r>
              <a:rPr sz="1400" b="1" i="0">
                <a:solidFill>
                  <a:srgbClr val="F59E0B"/>
                </a:solidFill>
                <a:latin typeface="Arial"/>
              </a:rPr>
              <a:t>STEP-UP</a:t>
            </a:r>
          </a:p>
        </p:txBody>
      </p:sp>
      <p:sp>
        <p:nvSpPr>
          <p:cNvPr id="50" name="TextBox 49"/>
          <p:cNvSpPr txBox="1"/>
          <p:nvPr/>
        </p:nvSpPr>
        <p:spPr>
          <a:xfrm>
            <a:off x="4606442" y="4425696"/>
            <a:ext cx="2997098" cy="402336"/>
          </a:xfrm>
          <a:prstGeom prst="rect">
            <a:avLst/>
          </a:prstGeom>
          <a:noFill/>
        </p:spPr>
        <p:txBody>
          <a:bodyPr wrap="square" anchor="t" lIns="0" rIns="0" tIns="0" bIns="0">
            <a:spAutoFit/>
          </a:bodyPr>
          <a:lstStyle/>
          <a:p>
            <a:pPr algn="l">
              <a:lnSpc>
                <a:spcPct val="115000"/>
              </a:lnSpc>
            </a:pPr>
            <a:r>
              <a:rPr sz="1050" b="0" i="0">
                <a:solidFill>
                  <a:srgbClr val="334155"/>
                </a:solidFill>
                <a:latin typeface="Arial"/>
              </a:rPr>
              <a:t>ask the human — the auditor is probabilistic, so it never blocks alone</a:t>
            </a:r>
          </a:p>
        </p:txBody>
      </p:sp>
      <p:sp>
        <p:nvSpPr>
          <p:cNvPr id="51" name="Rounded Rectangle 50"/>
          <p:cNvSpPr/>
          <p:nvPr/>
        </p:nvSpPr>
        <p:spPr>
          <a:xfrm>
            <a:off x="8079028" y="3950208"/>
            <a:ext cx="3454298" cy="914400"/>
          </a:xfrm>
          <a:prstGeom prst="roundRect">
            <a:avLst>
              <a:gd name="adj" fmla="val 4500"/>
            </a:avLst>
          </a:prstGeom>
          <a:solidFill>
            <a:srgbClr val="FEF2F2"/>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8316772" y="4114800"/>
            <a:ext cx="2997098" cy="256032"/>
          </a:xfrm>
          <a:prstGeom prst="rect">
            <a:avLst/>
          </a:prstGeom>
          <a:noFill/>
        </p:spPr>
        <p:txBody>
          <a:bodyPr wrap="square" anchor="t" lIns="0" rIns="0" tIns="0" bIns="0">
            <a:spAutoFit/>
          </a:bodyPr>
          <a:lstStyle/>
          <a:p>
            <a:pPr algn="l">
              <a:lnSpc>
                <a:spcPct val="100000"/>
              </a:lnSpc>
            </a:pPr>
            <a:r>
              <a:rPr sz="1400" b="1" i="0">
                <a:solidFill>
                  <a:srgbClr val="EF4444"/>
                </a:solidFill>
                <a:latin typeface="Arial"/>
              </a:rPr>
              <a:t>BLOCK</a:t>
            </a:r>
          </a:p>
        </p:txBody>
      </p:sp>
      <p:sp>
        <p:nvSpPr>
          <p:cNvPr id="53" name="TextBox 52"/>
          <p:cNvSpPr txBox="1"/>
          <p:nvPr/>
        </p:nvSpPr>
        <p:spPr>
          <a:xfrm>
            <a:off x="8316772" y="4425696"/>
            <a:ext cx="2997098" cy="402336"/>
          </a:xfrm>
          <a:prstGeom prst="rect">
            <a:avLst/>
          </a:prstGeom>
          <a:noFill/>
        </p:spPr>
        <p:txBody>
          <a:bodyPr wrap="square" anchor="t" lIns="0" rIns="0" tIns="0" bIns="0">
            <a:spAutoFit/>
          </a:bodyPr>
          <a:lstStyle/>
          <a:p>
            <a:pPr algn="l">
              <a:lnSpc>
                <a:spcPct val="115000"/>
              </a:lnSpc>
            </a:pPr>
            <a:r>
              <a:rPr sz="1050" b="0" i="0">
                <a:solidFill>
                  <a:srgbClr val="334155"/>
                </a:solidFill>
                <a:latin typeface="Arial"/>
              </a:rPr>
              <a:t>the default for anything unlisted</a:t>
            </a:r>
          </a:p>
        </p:txBody>
      </p:sp>
      <p:sp>
        <p:nvSpPr>
          <p:cNvPr id="54" name="Rounded Rectangle 53"/>
          <p:cNvSpPr/>
          <p:nvPr/>
        </p:nvSpPr>
        <p:spPr>
          <a:xfrm>
            <a:off x="658368" y="5120640"/>
            <a:ext cx="10874959" cy="777240"/>
          </a:xfrm>
          <a:prstGeom prst="roundRect">
            <a:avLst>
              <a:gd name="adj" fmla="val 45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978407" y="5266944"/>
            <a:ext cx="10234879" cy="256032"/>
          </a:xfrm>
          <a:prstGeom prst="rect">
            <a:avLst/>
          </a:prstGeom>
          <a:noFill/>
        </p:spPr>
        <p:txBody>
          <a:bodyPr wrap="square" anchor="t" lIns="0" rIns="0" tIns="0" bIns="0">
            <a:spAutoFit/>
          </a:bodyPr>
          <a:lstStyle/>
          <a:p>
            <a:pPr algn="l">
              <a:lnSpc>
                <a:spcPct val="100000"/>
              </a:lnSpc>
            </a:pPr>
            <a:r>
              <a:rPr sz="1350" b="1" i="0">
                <a:solidFill>
                  <a:srgbClr val="FFFFFF"/>
                </a:solidFill>
                <a:latin typeface="Arial"/>
              </a:rPr>
              <a:t>Fail closed is the default, not a special case.</a:t>
            </a:r>
          </a:p>
        </p:txBody>
      </p:sp>
      <p:sp>
        <p:nvSpPr>
          <p:cNvPr id="56" name="TextBox 55"/>
          <p:cNvSpPr txBox="1"/>
          <p:nvPr/>
        </p:nvSpPr>
        <p:spPr>
          <a:xfrm>
            <a:off x="978407" y="5577840"/>
            <a:ext cx="10234879" cy="274320"/>
          </a:xfrm>
          <a:prstGeom prst="rect">
            <a:avLst/>
          </a:prstGeom>
          <a:noFill/>
        </p:spPr>
        <p:txBody>
          <a:bodyPr wrap="square" anchor="t" lIns="0" rIns="0" tIns="0" bIns="0">
            <a:spAutoFit/>
          </a:bodyPr>
          <a:lstStyle/>
          <a:p>
            <a:pPr algn="l">
              <a:lnSpc>
                <a:spcPct val="100000"/>
              </a:lnSpc>
            </a:pPr>
            <a:r>
              <a:rPr sz="1100" b="0" i="0">
                <a:solidFill>
                  <a:srgbClr val="CBD5E1"/>
                </a:solidFill>
                <a:latin typeface="Arial"/>
              </a:rPr>
              <a:t>Any error, timeout or unparseable input yields BLOCK or STEP-UP. A check that raises becomes a BLOCK — a gate that crashes open is worse than no gate.</a:t>
            </a:r>
          </a:p>
        </p:txBody>
      </p:sp>
      <p:sp>
        <p:nvSpPr>
          <p:cNvPr id="57" name="Rectangle 56"/>
          <p:cNvSpPr/>
          <p:nvPr/>
        </p:nvSpPr>
        <p:spPr>
          <a:xfrm>
            <a:off x="658368" y="6291072"/>
            <a:ext cx="10874959"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8368" y="6419088"/>
            <a:ext cx="7612471" cy="219456"/>
          </a:xfrm>
          <a:prstGeom prst="rect">
            <a:avLst/>
          </a:prstGeom>
          <a:noFill/>
        </p:spPr>
        <p:txBody>
          <a:bodyPr wrap="square" anchor="t" lIns="0" rIns="0" tIns="0" bIns="0">
            <a:spAutoFit/>
          </a:bodyPr>
          <a:lstStyle/>
          <a:p>
            <a:pPr algn="l">
              <a:lnSpc>
                <a:spcPct val="100000"/>
              </a:lnSpc>
            </a:pPr>
            <a:r>
              <a:rPr sz="950" b="0" i="0">
                <a:solidFill>
                  <a:srgbClr val="64748B"/>
                </a:solidFill>
                <a:latin typeface="Arial"/>
              </a:rPr>
              <a:t>The gate</a:t>
            </a:r>
          </a:p>
        </p:txBody>
      </p:sp>
      <p:sp>
        <p:nvSpPr>
          <p:cNvPr id="59" name="TextBox 58"/>
          <p:cNvSpPr txBox="1"/>
          <p:nvPr/>
        </p:nvSpPr>
        <p:spPr>
          <a:xfrm>
            <a:off x="10436047" y="6419088"/>
            <a:ext cx="1097280" cy="219456"/>
          </a:xfrm>
          <a:prstGeom prst="rect">
            <a:avLst/>
          </a:prstGeom>
          <a:noFill/>
        </p:spPr>
        <p:txBody>
          <a:bodyPr wrap="square" anchor="t" lIns="0" rIns="0" tIns="0" bIns="0">
            <a:spAutoFit/>
          </a:bodyPr>
          <a:lstStyle/>
          <a:p>
            <a:pPr algn="r">
              <a:lnSpc>
                <a:spcPct val="100000"/>
              </a:lnSpc>
            </a:pPr>
            <a:r>
              <a:rPr sz="950" b="0" i="0">
                <a:solidFill>
                  <a:srgbClr val="64748B"/>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10874959" cy="219456"/>
          </a:xfrm>
          <a:prstGeom prst="rect">
            <a:avLst/>
          </a:prstGeom>
          <a:noFill/>
        </p:spPr>
        <p:txBody>
          <a:bodyPr wrap="square" anchor="t" lIns="0" rIns="0" tIns="0" bIns="0">
            <a:spAutoFit/>
          </a:bodyPr>
          <a:lstStyle/>
          <a:p>
            <a:pPr algn="l">
              <a:lnSpc>
                <a:spcPct val="100000"/>
              </a:lnSpc>
            </a:pPr>
            <a:r>
              <a:rPr sz="1100" b="1" i="0">
                <a:solidFill>
                  <a:srgbClr val="6366F1"/>
                </a:solidFill>
                <a:latin typeface="Arial"/>
              </a:rPr>
              <a:t>THE CONSEQUENCE</a:t>
            </a:r>
          </a:p>
        </p:txBody>
      </p:sp>
      <p:sp>
        <p:nvSpPr>
          <p:cNvPr id="3" name="TextBox 2"/>
          <p:cNvSpPr txBox="1"/>
          <p:nvPr/>
        </p:nvSpPr>
        <p:spPr>
          <a:xfrm>
            <a:off x="658368" y="676656"/>
            <a:ext cx="10874959" cy="566928"/>
          </a:xfrm>
          <a:prstGeom prst="rect">
            <a:avLst/>
          </a:prstGeom>
          <a:noFill/>
        </p:spPr>
        <p:txBody>
          <a:bodyPr wrap="square" anchor="t" lIns="0" rIns="0" tIns="0" bIns="0">
            <a:spAutoFit/>
          </a:bodyPr>
          <a:lstStyle/>
          <a:p>
            <a:pPr algn="l">
              <a:lnSpc>
                <a:spcPct val="100000"/>
              </a:lnSpc>
            </a:pPr>
            <a:r>
              <a:rPr sz="2300" b="1" i="0">
                <a:solidFill>
                  <a:srgbClr val="0F172A"/>
                </a:solidFill>
                <a:latin typeface="Arial"/>
              </a:rPr>
              <a:t>The gate stops being friction and becomes a conversion instrument.</a:t>
            </a:r>
          </a:p>
        </p:txBody>
      </p:sp>
      <p:sp>
        <p:nvSpPr>
          <p:cNvPr id="4" name="TextBox 3"/>
          <p:cNvSpPr txBox="1"/>
          <p:nvPr/>
        </p:nvSpPr>
        <p:spPr>
          <a:xfrm>
            <a:off x="658368" y="1243584"/>
            <a:ext cx="9352464" cy="457200"/>
          </a:xfrm>
          <a:prstGeom prst="rect">
            <a:avLst/>
          </a:prstGeom>
          <a:noFill/>
        </p:spPr>
        <p:txBody>
          <a:bodyPr wrap="square" anchor="t" lIns="0" rIns="0" tIns="0" bIns="0">
            <a:spAutoFit/>
          </a:bodyPr>
          <a:lstStyle/>
          <a:p>
            <a:pPr algn="l">
              <a:lnSpc>
                <a:spcPct val="115000"/>
              </a:lnSpc>
            </a:pPr>
            <a:r>
              <a:rPr sz="1400" b="0" i="0">
                <a:solidFill>
                  <a:srgbClr val="64748B"/>
                </a:solidFill>
                <a:latin typeface="Arial"/>
              </a:rPr>
              <a:t>If the merchant can see remaining authority, every cross-sell it makes is provably approvable.</a:t>
            </a:r>
          </a:p>
        </p:txBody>
      </p:sp>
      <p:sp>
        <p:nvSpPr>
          <p:cNvPr id="5" name="Rounded Rectangle 4"/>
          <p:cNvSpPr/>
          <p:nvPr/>
        </p:nvSpPr>
        <p:spPr>
          <a:xfrm>
            <a:off x="658368" y="2011680"/>
            <a:ext cx="10874959" cy="1234440"/>
          </a:xfrm>
          <a:prstGeom prst="roundRect">
            <a:avLst>
              <a:gd name="adj" fmla="val 45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32688" y="2194560"/>
            <a:ext cx="3657600" cy="237744"/>
          </a:xfrm>
          <a:prstGeom prst="rect">
            <a:avLst/>
          </a:prstGeom>
          <a:noFill/>
        </p:spPr>
        <p:txBody>
          <a:bodyPr wrap="square" anchor="t" lIns="0" rIns="0" tIns="0" bIns="0">
            <a:spAutoFit/>
          </a:bodyPr>
          <a:lstStyle/>
          <a:p>
            <a:pPr algn="l">
              <a:lnSpc>
                <a:spcPct val="100000"/>
              </a:lnSpc>
            </a:pPr>
            <a:r>
              <a:rPr sz="1050" b="1" i="0">
                <a:solidFill>
                  <a:srgbClr val="64748B"/>
                </a:solidFill>
                <a:latin typeface="Arial"/>
              </a:rPr>
              <a:t>ONE MANDATE'S REMAINING AUTHORITY</a:t>
            </a:r>
          </a:p>
        </p:txBody>
      </p:sp>
      <p:sp>
        <p:nvSpPr>
          <p:cNvPr id="7" name="Rectangle 6"/>
          <p:cNvSpPr/>
          <p:nvPr/>
        </p:nvSpPr>
        <p:spPr>
          <a:xfrm>
            <a:off x="932688" y="2578608"/>
            <a:ext cx="10326319" cy="3108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32688" y="2578608"/>
            <a:ext cx="6402317" cy="310896"/>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35005" y="2578608"/>
            <a:ext cx="3924001"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2633472"/>
            <a:ext cx="2743200" cy="219456"/>
          </a:xfrm>
          <a:prstGeom prst="rect">
            <a:avLst/>
          </a:prstGeom>
          <a:noFill/>
        </p:spPr>
        <p:txBody>
          <a:bodyPr wrap="square" anchor="t" lIns="0" rIns="0" tIns="0" bIns="0">
            <a:spAutoFit/>
          </a:bodyPr>
          <a:lstStyle/>
          <a:p>
            <a:pPr algn="l">
              <a:lnSpc>
                <a:spcPct val="100000"/>
              </a:lnSpc>
            </a:pPr>
            <a:r>
              <a:rPr sz="1100" b="1" i="0">
                <a:solidFill>
                  <a:srgbClr val="FFFFFF"/>
                </a:solidFill>
                <a:latin typeface="Arial"/>
              </a:rPr>
              <a:t>spent</a:t>
            </a:r>
          </a:p>
        </p:txBody>
      </p:sp>
      <p:sp>
        <p:nvSpPr>
          <p:cNvPr id="11" name="TextBox 10"/>
          <p:cNvSpPr txBox="1"/>
          <p:nvPr/>
        </p:nvSpPr>
        <p:spPr>
          <a:xfrm>
            <a:off x="7438269" y="2633472"/>
            <a:ext cx="3108960" cy="219456"/>
          </a:xfrm>
          <a:prstGeom prst="rect">
            <a:avLst/>
          </a:prstGeom>
          <a:noFill/>
        </p:spPr>
        <p:txBody>
          <a:bodyPr wrap="square" anchor="t" lIns="0" rIns="0" tIns="0" bIns="0">
            <a:spAutoFit/>
          </a:bodyPr>
          <a:lstStyle/>
          <a:p>
            <a:pPr algn="l">
              <a:lnSpc>
                <a:spcPct val="100000"/>
              </a:lnSpc>
            </a:pPr>
            <a:r>
              <a:rPr sz="1100" b="1" i="0">
                <a:solidFill>
                  <a:srgbClr val="FFFFFF"/>
                </a:solidFill>
                <a:latin typeface="Arial"/>
              </a:rPr>
              <a:t>headroom — what is LEFT</a:t>
            </a:r>
          </a:p>
        </p:txBody>
      </p:sp>
      <p:sp>
        <p:nvSpPr>
          <p:cNvPr id="12" name="Rounded Rectangle 11"/>
          <p:cNvSpPr/>
          <p:nvPr/>
        </p:nvSpPr>
        <p:spPr>
          <a:xfrm>
            <a:off x="658368" y="3520440"/>
            <a:ext cx="5254599" cy="1691640"/>
          </a:xfrm>
          <a:prstGeom prst="roundRect">
            <a:avLst>
              <a:gd name="adj" fmla="val 4500"/>
            </a:avLst>
          </a:prstGeom>
          <a:solidFill>
            <a:srgbClr val="FFFFFF"/>
          </a:solidFill>
          <a:ln w="1905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50976" y="3739896"/>
            <a:ext cx="3425799" cy="274320"/>
          </a:xfrm>
          <a:prstGeom prst="rect">
            <a:avLst/>
          </a:prstGeom>
          <a:noFill/>
        </p:spPr>
        <p:txBody>
          <a:bodyPr wrap="square" anchor="t" lIns="0" rIns="0" tIns="0" bIns="0">
            <a:spAutoFit/>
          </a:bodyPr>
          <a:lstStyle/>
          <a:p>
            <a:pPr algn="l">
              <a:lnSpc>
                <a:spcPct val="100000"/>
              </a:lnSpc>
            </a:pPr>
            <a:r>
              <a:rPr sz="1500" b="1" i="0">
                <a:solidFill>
                  <a:srgbClr val="0F172A"/>
                </a:solidFill>
                <a:latin typeface="Arial"/>
              </a:rPr>
              <a:t>Naive upsell</a:t>
            </a:r>
          </a:p>
        </p:txBody>
      </p:sp>
      <p:sp>
        <p:nvSpPr>
          <p:cNvPr id="14" name="Rounded Rectangle 13"/>
          <p:cNvSpPr/>
          <p:nvPr/>
        </p:nvSpPr>
        <p:spPr>
          <a:xfrm>
            <a:off x="4495647" y="3721608"/>
            <a:ext cx="1097280" cy="329184"/>
          </a:xfrm>
          <a:prstGeom prst="roundRect">
            <a:avLst>
              <a:gd name="adj" fmla="val 18000"/>
            </a:avLst>
          </a:prstGeom>
          <a:solidFill>
            <a:srgbClr val="FEF2F2"/>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50" b="1">
                <a:solidFill>
                  <a:srgbClr val="EF4444"/>
                </a:solidFill>
                <a:latin typeface="Arial"/>
              </a:rPr>
              <a:t>BLOCKED</a:t>
            </a:r>
          </a:p>
        </p:txBody>
      </p:sp>
      <p:sp>
        <p:nvSpPr>
          <p:cNvPr id="15" name="TextBox 14"/>
          <p:cNvSpPr txBox="1"/>
          <p:nvPr/>
        </p:nvSpPr>
        <p:spPr>
          <a:xfrm>
            <a:off x="950976" y="4142232"/>
            <a:ext cx="4705959" cy="274320"/>
          </a:xfrm>
          <a:prstGeom prst="rect">
            <a:avLst/>
          </a:prstGeom>
          <a:noFill/>
        </p:spPr>
        <p:txBody>
          <a:bodyPr wrap="square" anchor="t" lIns="0" rIns="0" tIns="0" bIns="0">
            <a:spAutoFit/>
          </a:bodyPr>
          <a:lstStyle/>
          <a:p>
            <a:pPr algn="l">
              <a:lnSpc>
                <a:spcPct val="100000"/>
              </a:lnSpc>
            </a:pPr>
            <a:r>
              <a:rPr sz="1150" b="0" i="0">
                <a:solidFill>
                  <a:srgbClr val="334155"/>
                </a:solidFill>
                <a:latin typeface="Arial"/>
              </a:rPr>
              <a:t>Offers the best margin addon it has.</a:t>
            </a:r>
          </a:p>
        </p:txBody>
      </p:sp>
      <p:sp>
        <p:nvSpPr>
          <p:cNvPr id="16" name="TextBox 15"/>
          <p:cNvSpPr txBox="1"/>
          <p:nvPr/>
        </p:nvSpPr>
        <p:spPr>
          <a:xfrm>
            <a:off x="950976" y="4489704"/>
            <a:ext cx="4705959" cy="548640"/>
          </a:xfrm>
          <a:prstGeom prst="rect">
            <a:avLst/>
          </a:prstGeom>
          <a:noFill/>
        </p:spPr>
        <p:txBody>
          <a:bodyPr wrap="square" anchor="t" lIns="0" rIns="0" tIns="0" bIns="0">
            <a:spAutoFit/>
          </a:bodyPr>
          <a:lstStyle/>
          <a:p>
            <a:pPr algn="l">
              <a:lnSpc>
                <a:spcPct val="120000"/>
              </a:lnSpc>
            </a:pPr>
            <a:r>
              <a:rPr sz="1150" b="0" i="0">
                <a:solidFill>
                  <a:srgbClr val="64748B"/>
                </a:solidFill>
                <a:latin typeface="Arial"/>
              </a:rPr>
              <a:t>Priced above what is left → the gate refuses it, in front of the buyer.</a:t>
            </a:r>
          </a:p>
        </p:txBody>
      </p:sp>
      <p:sp>
        <p:nvSpPr>
          <p:cNvPr id="17" name="Rounded Rectangle 16"/>
          <p:cNvSpPr/>
          <p:nvPr/>
        </p:nvSpPr>
        <p:spPr>
          <a:xfrm>
            <a:off x="6278727" y="3520440"/>
            <a:ext cx="5254599" cy="1691640"/>
          </a:xfrm>
          <a:prstGeom prst="roundRect">
            <a:avLst>
              <a:gd name="adj" fmla="val 45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71335" y="3739896"/>
            <a:ext cx="3425799" cy="274320"/>
          </a:xfrm>
          <a:prstGeom prst="rect">
            <a:avLst/>
          </a:prstGeom>
          <a:noFill/>
        </p:spPr>
        <p:txBody>
          <a:bodyPr wrap="square" anchor="t" lIns="0" rIns="0" tIns="0" bIns="0">
            <a:spAutoFit/>
          </a:bodyPr>
          <a:lstStyle/>
          <a:p>
            <a:pPr algn="l">
              <a:lnSpc>
                <a:spcPct val="100000"/>
              </a:lnSpc>
            </a:pPr>
            <a:r>
              <a:rPr sz="1500" b="1" i="0">
                <a:solidFill>
                  <a:srgbClr val="0F172A"/>
                </a:solidFill>
                <a:latin typeface="Arial"/>
              </a:rPr>
              <a:t>Headroom upsell</a:t>
            </a:r>
          </a:p>
        </p:txBody>
      </p:sp>
      <p:sp>
        <p:nvSpPr>
          <p:cNvPr id="19" name="Rounded Rectangle 18"/>
          <p:cNvSpPr/>
          <p:nvPr/>
        </p:nvSpPr>
        <p:spPr>
          <a:xfrm>
            <a:off x="10116007" y="3721608"/>
            <a:ext cx="1097280" cy="329184"/>
          </a:xfrm>
          <a:prstGeom prst="roundRect">
            <a:avLst>
              <a:gd name="adj" fmla="val 18000"/>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50" b="1">
                <a:solidFill>
                  <a:srgbClr val="10B981"/>
                </a:solidFill>
                <a:latin typeface="Arial"/>
              </a:rPr>
              <a:t>ALLOWED</a:t>
            </a:r>
          </a:p>
        </p:txBody>
      </p:sp>
      <p:sp>
        <p:nvSpPr>
          <p:cNvPr id="20" name="TextBox 19"/>
          <p:cNvSpPr txBox="1"/>
          <p:nvPr/>
        </p:nvSpPr>
        <p:spPr>
          <a:xfrm>
            <a:off x="6571335" y="4142232"/>
            <a:ext cx="4705959" cy="274320"/>
          </a:xfrm>
          <a:prstGeom prst="rect">
            <a:avLst/>
          </a:prstGeom>
          <a:noFill/>
        </p:spPr>
        <p:txBody>
          <a:bodyPr wrap="square" anchor="t" lIns="0" rIns="0" tIns="0" bIns="0">
            <a:spAutoFit/>
          </a:bodyPr>
          <a:lstStyle/>
          <a:p>
            <a:pPr algn="l">
              <a:lnSpc>
                <a:spcPct val="100000"/>
              </a:lnSpc>
            </a:pPr>
            <a:r>
              <a:rPr sz="1150" b="0" i="0">
                <a:solidFill>
                  <a:srgbClr val="334155"/>
                </a:solidFill>
                <a:latin typeface="Arial"/>
              </a:rPr>
              <a:t>Filters the catalog by what is left before it offers.</a:t>
            </a:r>
          </a:p>
        </p:txBody>
      </p:sp>
      <p:sp>
        <p:nvSpPr>
          <p:cNvPr id="21" name="TextBox 20"/>
          <p:cNvSpPr txBox="1"/>
          <p:nvPr/>
        </p:nvSpPr>
        <p:spPr>
          <a:xfrm>
            <a:off x="6571335" y="4489704"/>
            <a:ext cx="4705959" cy="548640"/>
          </a:xfrm>
          <a:prstGeom prst="rect">
            <a:avLst/>
          </a:prstGeom>
          <a:noFill/>
        </p:spPr>
        <p:txBody>
          <a:bodyPr wrap="square" anchor="t" lIns="0" rIns="0" tIns="0" bIns="0">
            <a:spAutoFit/>
          </a:bodyPr>
          <a:lstStyle/>
          <a:p>
            <a:pPr algn="l">
              <a:lnSpc>
                <a:spcPct val="120000"/>
              </a:lnSpc>
            </a:pPr>
            <a:r>
              <a:rPr sz="1150" b="0" i="0">
                <a:solidFill>
                  <a:srgbClr val="64748B"/>
                </a:solidFill>
                <a:latin typeface="Arial"/>
              </a:rPr>
              <a:t>Every offer it makes is one the gate will approve.</a:t>
            </a:r>
          </a:p>
        </p:txBody>
      </p:sp>
      <p:sp>
        <p:nvSpPr>
          <p:cNvPr id="22" name="TextBox 21"/>
          <p:cNvSpPr txBox="1"/>
          <p:nvPr/>
        </p:nvSpPr>
        <p:spPr>
          <a:xfrm>
            <a:off x="658368" y="5440680"/>
            <a:ext cx="2718739" cy="329184"/>
          </a:xfrm>
          <a:prstGeom prst="rect">
            <a:avLst/>
          </a:prstGeom>
          <a:noFill/>
        </p:spPr>
        <p:txBody>
          <a:bodyPr wrap="square" anchor="t" lIns="0" rIns="0" tIns="0" bIns="0">
            <a:spAutoFit/>
          </a:bodyPr>
          <a:lstStyle/>
          <a:p>
            <a:pPr algn="l">
              <a:lnSpc>
                <a:spcPct val="100000"/>
              </a:lnSpc>
            </a:pPr>
            <a:r>
              <a:rPr sz="2200" b="1" i="0">
                <a:solidFill>
                  <a:srgbClr val="10B981"/>
                </a:solidFill>
                <a:latin typeface="Arial"/>
              </a:rPr>
              <a:t>36.2%</a:t>
            </a:r>
          </a:p>
        </p:txBody>
      </p:sp>
      <p:sp>
        <p:nvSpPr>
          <p:cNvPr id="23" name="TextBox 22"/>
          <p:cNvSpPr txBox="1"/>
          <p:nvPr/>
        </p:nvSpPr>
        <p:spPr>
          <a:xfrm>
            <a:off x="658368" y="5824728"/>
            <a:ext cx="2718739" cy="237744"/>
          </a:xfrm>
          <a:prstGeom prst="rect">
            <a:avLst/>
          </a:prstGeom>
          <a:noFill/>
        </p:spPr>
        <p:txBody>
          <a:bodyPr wrap="square" anchor="t" lIns="0" rIns="0" tIns="0" bIns="0">
            <a:spAutoFit/>
          </a:bodyPr>
          <a:lstStyle/>
          <a:p>
            <a:pPr algn="l">
              <a:lnSpc>
                <a:spcPct val="100000"/>
              </a:lnSpc>
            </a:pPr>
            <a:r>
              <a:rPr sz="1050" b="0" i="0">
                <a:solidFill>
                  <a:srgbClr val="64748B"/>
                </a:solidFill>
                <a:latin typeface="Arial"/>
              </a:rPr>
              <a:t>attach rate, PACT</a:t>
            </a:r>
          </a:p>
        </p:txBody>
      </p:sp>
      <p:sp>
        <p:nvSpPr>
          <p:cNvPr id="24" name="TextBox 23"/>
          <p:cNvSpPr txBox="1"/>
          <p:nvPr/>
        </p:nvSpPr>
        <p:spPr>
          <a:xfrm>
            <a:off x="3377107" y="5440680"/>
            <a:ext cx="2718739" cy="329184"/>
          </a:xfrm>
          <a:prstGeom prst="rect">
            <a:avLst/>
          </a:prstGeom>
          <a:noFill/>
        </p:spPr>
        <p:txBody>
          <a:bodyPr wrap="square" anchor="t" lIns="0" rIns="0" tIns="0" bIns="0">
            <a:spAutoFit/>
          </a:bodyPr>
          <a:lstStyle/>
          <a:p>
            <a:pPr algn="l">
              <a:lnSpc>
                <a:spcPct val="100000"/>
              </a:lnSpc>
            </a:pPr>
            <a:r>
              <a:rPr sz="2200" b="1" i="0">
                <a:solidFill>
                  <a:srgbClr val="10B981"/>
                </a:solidFill>
                <a:latin typeface="Arial"/>
              </a:rPr>
              <a:t>0.0%</a:t>
            </a:r>
          </a:p>
        </p:txBody>
      </p:sp>
      <p:sp>
        <p:nvSpPr>
          <p:cNvPr id="25" name="TextBox 24"/>
          <p:cNvSpPr txBox="1"/>
          <p:nvPr/>
        </p:nvSpPr>
        <p:spPr>
          <a:xfrm>
            <a:off x="3377107" y="5824728"/>
            <a:ext cx="2718739" cy="237744"/>
          </a:xfrm>
          <a:prstGeom prst="rect">
            <a:avLst/>
          </a:prstGeom>
          <a:noFill/>
        </p:spPr>
        <p:txBody>
          <a:bodyPr wrap="square" anchor="t" lIns="0" rIns="0" tIns="0" bIns="0">
            <a:spAutoFit/>
          </a:bodyPr>
          <a:lstStyle/>
          <a:p>
            <a:pPr algn="l">
              <a:lnSpc>
                <a:spcPct val="100000"/>
              </a:lnSpc>
            </a:pPr>
            <a:r>
              <a:rPr sz="1050" b="0" i="0">
                <a:solidFill>
                  <a:srgbClr val="64748B"/>
                </a:solidFill>
                <a:latin typeface="Arial"/>
              </a:rPr>
              <a:t>false blocks, PACT</a:t>
            </a:r>
          </a:p>
        </p:txBody>
      </p:sp>
      <p:sp>
        <p:nvSpPr>
          <p:cNvPr id="26" name="TextBox 25"/>
          <p:cNvSpPr txBox="1"/>
          <p:nvPr/>
        </p:nvSpPr>
        <p:spPr>
          <a:xfrm>
            <a:off x="6095847" y="5440680"/>
            <a:ext cx="2718739" cy="329184"/>
          </a:xfrm>
          <a:prstGeom prst="rect">
            <a:avLst/>
          </a:prstGeom>
          <a:noFill/>
        </p:spPr>
        <p:txBody>
          <a:bodyPr wrap="square" anchor="t" lIns="0" rIns="0" tIns="0" bIns="0">
            <a:spAutoFit/>
          </a:bodyPr>
          <a:lstStyle/>
          <a:p>
            <a:pPr algn="l">
              <a:lnSpc>
                <a:spcPct val="100000"/>
              </a:lnSpc>
            </a:pPr>
            <a:r>
              <a:rPr sz="2200" b="1" i="0">
                <a:solidFill>
                  <a:srgbClr val="EF4444"/>
                </a:solidFill>
                <a:latin typeface="Arial"/>
              </a:rPr>
              <a:t>27.8%</a:t>
            </a:r>
          </a:p>
        </p:txBody>
      </p:sp>
      <p:sp>
        <p:nvSpPr>
          <p:cNvPr id="27" name="TextBox 26"/>
          <p:cNvSpPr txBox="1"/>
          <p:nvPr/>
        </p:nvSpPr>
        <p:spPr>
          <a:xfrm>
            <a:off x="6095847" y="5824728"/>
            <a:ext cx="2718739" cy="237744"/>
          </a:xfrm>
          <a:prstGeom prst="rect">
            <a:avLst/>
          </a:prstGeom>
          <a:noFill/>
        </p:spPr>
        <p:txBody>
          <a:bodyPr wrap="square" anchor="t" lIns="0" rIns="0" tIns="0" bIns="0">
            <a:spAutoFit/>
          </a:bodyPr>
          <a:lstStyle/>
          <a:p>
            <a:pPr algn="l">
              <a:lnSpc>
                <a:spcPct val="100000"/>
              </a:lnSpc>
            </a:pPr>
            <a:r>
              <a:rPr sz="1050" b="0" i="0">
                <a:solidFill>
                  <a:srgbClr val="64748B"/>
                </a:solidFill>
                <a:latin typeface="Arial"/>
              </a:rPr>
              <a:t>false blocks, client-side cap</a:t>
            </a:r>
          </a:p>
        </p:txBody>
      </p:sp>
      <p:sp>
        <p:nvSpPr>
          <p:cNvPr id="28" name="TextBox 27"/>
          <p:cNvSpPr txBox="1"/>
          <p:nvPr/>
        </p:nvSpPr>
        <p:spPr>
          <a:xfrm>
            <a:off x="8814587" y="5440680"/>
            <a:ext cx="2718739" cy="329184"/>
          </a:xfrm>
          <a:prstGeom prst="rect">
            <a:avLst/>
          </a:prstGeom>
          <a:noFill/>
        </p:spPr>
        <p:txBody>
          <a:bodyPr wrap="square" anchor="t" lIns="0" rIns="0" tIns="0" bIns="0">
            <a:spAutoFit/>
          </a:bodyPr>
          <a:lstStyle/>
          <a:p>
            <a:pPr algn="l">
              <a:lnSpc>
                <a:spcPct val="100000"/>
              </a:lnSpc>
            </a:pPr>
            <a:r>
              <a:rPr sz="2200" b="1" i="0">
                <a:solidFill>
                  <a:srgbClr val="6366F1"/>
                </a:solidFill>
                <a:latin typeface="Arial"/>
              </a:rPr>
              <a:t>1 BLOCK</a:t>
            </a:r>
          </a:p>
        </p:txBody>
      </p:sp>
      <p:sp>
        <p:nvSpPr>
          <p:cNvPr id="29" name="TextBox 28"/>
          <p:cNvSpPr txBox="1"/>
          <p:nvPr/>
        </p:nvSpPr>
        <p:spPr>
          <a:xfrm>
            <a:off x="8814587" y="5824728"/>
            <a:ext cx="2718739" cy="237744"/>
          </a:xfrm>
          <a:prstGeom prst="rect">
            <a:avLst/>
          </a:prstGeom>
          <a:noFill/>
        </p:spPr>
        <p:txBody>
          <a:bodyPr wrap="square" anchor="t" lIns="0" rIns="0" tIns="0" bIns="0">
            <a:spAutoFit/>
          </a:bodyPr>
          <a:lstStyle/>
          <a:p>
            <a:pPr algn="l">
              <a:lnSpc>
                <a:spcPct val="100000"/>
              </a:lnSpc>
            </a:pPr>
            <a:r>
              <a:rPr sz="1050" b="0" i="0">
                <a:solidFill>
                  <a:srgbClr val="64748B"/>
                </a:solidFill>
                <a:latin typeface="Arial"/>
              </a:rPr>
              <a:t>fails the whole test suite</a:t>
            </a:r>
          </a:p>
        </p:txBody>
      </p:sp>
      <p:sp>
        <p:nvSpPr>
          <p:cNvPr id="30" name="Rectangle 29"/>
          <p:cNvSpPr/>
          <p:nvPr/>
        </p:nvSpPr>
        <p:spPr>
          <a:xfrm>
            <a:off x="658368" y="6291072"/>
            <a:ext cx="10874959"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6419088"/>
            <a:ext cx="7612471" cy="219456"/>
          </a:xfrm>
          <a:prstGeom prst="rect">
            <a:avLst/>
          </a:prstGeom>
          <a:noFill/>
        </p:spPr>
        <p:txBody>
          <a:bodyPr wrap="square" anchor="t" lIns="0" rIns="0" tIns="0" bIns="0">
            <a:spAutoFit/>
          </a:bodyPr>
          <a:lstStyle/>
          <a:p>
            <a:pPr algn="l">
              <a:lnSpc>
                <a:spcPct val="100000"/>
              </a:lnSpc>
            </a:pPr>
            <a:r>
              <a:rPr sz="950" b="0" i="0">
                <a:solidFill>
                  <a:srgbClr val="64748B"/>
                </a:solidFill>
                <a:latin typeface="Arial"/>
              </a:rPr>
              <a:t>The consequence</a:t>
            </a:r>
          </a:p>
        </p:txBody>
      </p:sp>
      <p:sp>
        <p:nvSpPr>
          <p:cNvPr id="32" name="TextBox 31"/>
          <p:cNvSpPr txBox="1"/>
          <p:nvPr/>
        </p:nvSpPr>
        <p:spPr>
          <a:xfrm>
            <a:off x="10436047" y="6419088"/>
            <a:ext cx="1097280" cy="219456"/>
          </a:xfrm>
          <a:prstGeom prst="rect">
            <a:avLst/>
          </a:prstGeom>
          <a:noFill/>
        </p:spPr>
        <p:txBody>
          <a:bodyPr wrap="square" anchor="t" lIns="0" rIns="0" tIns="0" bIns="0">
            <a:spAutoFit/>
          </a:bodyPr>
          <a:lstStyle/>
          <a:p>
            <a:pPr algn="r">
              <a:lnSpc>
                <a:spcPct val="100000"/>
              </a:lnSpc>
            </a:pPr>
            <a:r>
              <a:rPr sz="950" b="0" i="0">
                <a:solidFill>
                  <a:srgbClr val="64748B"/>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10874959" cy="219456"/>
          </a:xfrm>
          <a:prstGeom prst="rect">
            <a:avLst/>
          </a:prstGeom>
          <a:noFill/>
        </p:spPr>
        <p:txBody>
          <a:bodyPr wrap="square" anchor="t" lIns="0" rIns="0" tIns="0" bIns="0">
            <a:spAutoFit/>
          </a:bodyPr>
          <a:lstStyle/>
          <a:p>
            <a:pPr algn="l">
              <a:lnSpc>
                <a:spcPct val="100000"/>
              </a:lnSpc>
            </a:pPr>
            <a:r>
              <a:rPr sz="1100" b="1" i="0">
                <a:solidFill>
                  <a:srgbClr val="6366F1"/>
                </a:solidFill>
                <a:latin typeface="Arial"/>
              </a:rPr>
              <a:t>THE EXPERIMENT</a:t>
            </a:r>
          </a:p>
        </p:txBody>
      </p:sp>
      <p:sp>
        <p:nvSpPr>
          <p:cNvPr id="3" name="TextBox 2"/>
          <p:cNvSpPr txBox="1"/>
          <p:nvPr/>
        </p:nvSpPr>
        <p:spPr>
          <a:xfrm>
            <a:off x="658368" y="676656"/>
            <a:ext cx="10874959" cy="566928"/>
          </a:xfrm>
          <a:prstGeom prst="rect">
            <a:avLst/>
          </a:prstGeom>
          <a:noFill/>
        </p:spPr>
        <p:txBody>
          <a:bodyPr wrap="square" anchor="t" lIns="0" rIns="0" tIns="0" bIns="0">
            <a:spAutoFit/>
          </a:bodyPr>
          <a:lstStyle/>
          <a:p>
            <a:pPr algn="l">
              <a:lnSpc>
                <a:spcPct val="100000"/>
              </a:lnSpc>
            </a:pPr>
            <a:r>
              <a:rPr sz="2300" b="1" i="0">
                <a:solidFill>
                  <a:srgbClr val="0F172A"/>
                </a:solidFill>
                <a:latin typeface="Arial"/>
              </a:rPr>
              <a:t>Four arms, 200 sessions each, three seeds, against the real services.</a:t>
            </a:r>
          </a:p>
        </p:txBody>
      </p:sp>
      <p:sp>
        <p:nvSpPr>
          <p:cNvPr id="4" name="TextBox 3"/>
          <p:cNvSpPr txBox="1"/>
          <p:nvPr/>
        </p:nvSpPr>
        <p:spPr>
          <a:xfrm>
            <a:off x="658368" y="1243584"/>
            <a:ext cx="9352464" cy="457200"/>
          </a:xfrm>
          <a:prstGeom prst="rect">
            <a:avLst/>
          </a:prstGeom>
          <a:noFill/>
        </p:spPr>
        <p:txBody>
          <a:bodyPr wrap="square" anchor="t" lIns="0" rIns="0" tIns="0" bIns="0">
            <a:spAutoFit/>
          </a:bodyPr>
          <a:lstStyle/>
          <a:p>
            <a:pPr algn="l">
              <a:lnSpc>
                <a:spcPct val="115000"/>
              </a:lnSpc>
            </a:pPr>
            <a:r>
              <a:rPr sz="1400" b="0" i="0">
                <a:solidFill>
                  <a:srgbClr val="64748B"/>
                </a:solidFill>
                <a:latin typeface="Arial"/>
              </a:rPr>
              <a:t>Nothing on this slide is typed in by hand. eval/results/results.md is generated by the harness.</a:t>
            </a:r>
          </a:p>
        </p:txBody>
      </p:sp>
      <p:graphicFrame>
        <p:nvGraphicFramePr>
          <p:cNvPr id="5" name="Chart 4"/>
          <p:cNvGraphicFramePr>
            <a:graphicFrameLocks noGrp="1"/>
          </p:cNvGraphicFramePr>
          <p:nvPr/>
        </p:nvGraphicFramePr>
        <p:xfrm>
          <a:off x="658368" y="1965960"/>
          <a:ext cx="6949440" cy="3703320"/>
        </p:xfrm>
        <a:graphic>
          <a:graphicData uri="http://schemas.openxmlformats.org/drawingml/2006/chart">
            <c:chart xmlns:c="http://schemas.openxmlformats.org/drawingml/2006/chart" r:id="rId2"/>
          </a:graphicData>
        </a:graphic>
      </p:graphicFrame>
      <p:sp>
        <p:nvSpPr>
          <p:cNvPr id="6" name="Rounded Rectangle 5"/>
          <p:cNvSpPr/>
          <p:nvPr/>
        </p:nvSpPr>
        <p:spPr>
          <a:xfrm>
            <a:off x="7927848" y="1965960"/>
            <a:ext cx="3605479" cy="1600200"/>
          </a:xfrm>
          <a:prstGeom prst="roundRect">
            <a:avLst>
              <a:gd name="adj" fmla="val 4500"/>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183879" y="2148840"/>
            <a:ext cx="2743200" cy="274320"/>
          </a:xfrm>
          <a:prstGeom prst="rect">
            <a:avLst/>
          </a:prstGeom>
          <a:noFill/>
        </p:spPr>
        <p:txBody>
          <a:bodyPr wrap="square" anchor="t" lIns="0" rIns="0" tIns="0" bIns="0">
            <a:spAutoFit/>
          </a:bodyPr>
          <a:lstStyle/>
          <a:p>
            <a:pPr algn="l">
              <a:lnSpc>
                <a:spcPct val="100000"/>
              </a:lnSpc>
            </a:pPr>
            <a:r>
              <a:rPr sz="1300" b="1" i="0">
                <a:solidFill>
                  <a:srgbClr val="10B981"/>
                </a:solidFill>
                <a:latin typeface="Arial"/>
              </a:rPr>
              <a:t>C against D</a:t>
            </a:r>
          </a:p>
        </p:txBody>
      </p:sp>
      <p:sp>
        <p:nvSpPr>
          <p:cNvPr id="8" name="TextBox 7"/>
          <p:cNvSpPr txBox="1"/>
          <p:nvPr/>
        </p:nvSpPr>
        <p:spPr>
          <a:xfrm>
            <a:off x="8183879" y="2487168"/>
            <a:ext cx="3056839" cy="1005840"/>
          </a:xfrm>
          <a:prstGeom prst="rect">
            <a:avLst/>
          </a:prstGeom>
          <a:noFill/>
        </p:spPr>
        <p:txBody>
          <a:bodyPr wrap="square" anchor="t" lIns="0" rIns="0" tIns="0" bIns="0">
            <a:spAutoFit/>
          </a:bodyPr>
          <a:lstStyle/>
          <a:p>
            <a:pPr algn="l">
              <a:lnSpc>
                <a:spcPct val="120000"/>
              </a:lnSpc>
            </a:pPr>
            <a:r>
              <a:rPr sz="1150" b="0" i="0">
                <a:solidFill>
                  <a:srgbClr val="334155"/>
                </a:solidFill>
                <a:latin typeface="Arial"/>
              </a:rPr>
              <a:t>PACT nets about a quarter more than a naive client-side cap — and refuses none of the legitimate sales that cap refuses. 27.8% false blocks against 0%.</a:t>
            </a:r>
          </a:p>
        </p:txBody>
      </p:sp>
      <p:sp>
        <p:nvSpPr>
          <p:cNvPr id="9" name="Rounded Rectangle 8"/>
          <p:cNvSpPr/>
          <p:nvPr/>
        </p:nvSpPr>
        <p:spPr>
          <a:xfrm>
            <a:off x="7927848" y="3703320"/>
            <a:ext cx="3605479" cy="1965960"/>
          </a:xfrm>
          <a:prstGeom prst="roundRect">
            <a:avLst>
              <a:gd name="adj" fmla="val 4500"/>
            </a:avLst>
          </a:prstGeom>
          <a:solidFill>
            <a:srgbClr val="FEF2F2"/>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183879" y="3886200"/>
            <a:ext cx="3108960" cy="274320"/>
          </a:xfrm>
          <a:prstGeom prst="rect">
            <a:avLst/>
          </a:prstGeom>
          <a:noFill/>
        </p:spPr>
        <p:txBody>
          <a:bodyPr wrap="square" anchor="t" lIns="0" rIns="0" tIns="0" bIns="0">
            <a:spAutoFit/>
          </a:bodyPr>
          <a:lstStyle/>
          <a:p>
            <a:pPr algn="l">
              <a:lnSpc>
                <a:spcPct val="100000"/>
              </a:lnSpc>
            </a:pPr>
            <a:r>
              <a:rPr sz="1300" b="1" i="0">
                <a:solidFill>
                  <a:srgbClr val="EF4444"/>
                </a:solidFill>
                <a:latin typeface="Arial"/>
              </a:rPr>
              <a:t>B against D, reported anyway</a:t>
            </a:r>
          </a:p>
        </p:txBody>
      </p:sp>
      <p:sp>
        <p:nvSpPr>
          <p:cNvPr id="11" name="TextBox 10"/>
          <p:cNvSpPr txBox="1"/>
          <p:nvPr/>
        </p:nvSpPr>
        <p:spPr>
          <a:xfrm>
            <a:off x="8183879" y="4224528"/>
            <a:ext cx="3056839" cy="1280160"/>
          </a:xfrm>
          <a:prstGeom prst="rect">
            <a:avLst/>
          </a:prstGeom>
          <a:noFill/>
        </p:spPr>
        <p:txBody>
          <a:bodyPr wrap="square" anchor="t" lIns="0" rIns="0" tIns="0" bIns="0">
            <a:spAutoFit/>
          </a:bodyPr>
          <a:lstStyle/>
          <a:p>
            <a:pPr algn="l">
              <a:lnSpc>
                <a:spcPct val="120000"/>
              </a:lnSpc>
            </a:pPr>
            <a:r>
              <a:rPr sz="1150" b="0" i="0">
                <a:solidFill>
                  <a:srgbClr val="334155"/>
                </a:solidFill>
                <a:latin typeface="Arial"/>
              </a:rPr>
              <a:t>An ungated agent channel converts more, because nothing stops it. We are not going to claim a revenue win the measurement does not support — so the assumption behind it is swept on the next slide rather than picked to flatter us.</a:t>
            </a:r>
          </a:p>
        </p:txBody>
      </p:sp>
      <p:sp>
        <p:nvSpPr>
          <p:cNvPr id="12" name="Rectangle 11"/>
          <p:cNvSpPr/>
          <p:nvPr/>
        </p:nvSpPr>
        <p:spPr>
          <a:xfrm>
            <a:off x="658368" y="6291072"/>
            <a:ext cx="10874959"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6419088"/>
            <a:ext cx="7612471" cy="219456"/>
          </a:xfrm>
          <a:prstGeom prst="rect">
            <a:avLst/>
          </a:prstGeom>
          <a:noFill/>
        </p:spPr>
        <p:txBody>
          <a:bodyPr wrap="square" anchor="t" lIns="0" rIns="0" tIns="0" bIns="0">
            <a:spAutoFit/>
          </a:bodyPr>
          <a:lstStyle/>
          <a:p>
            <a:pPr algn="l">
              <a:lnSpc>
                <a:spcPct val="100000"/>
              </a:lnSpc>
            </a:pPr>
            <a:r>
              <a:rPr sz="950" b="0" i="0">
                <a:solidFill>
                  <a:srgbClr val="64748B"/>
                </a:solidFill>
                <a:latin typeface="Arial"/>
              </a:rPr>
              <a:t>The experiment</a:t>
            </a:r>
          </a:p>
        </p:txBody>
      </p:sp>
      <p:sp>
        <p:nvSpPr>
          <p:cNvPr id="14" name="TextBox 13"/>
          <p:cNvSpPr txBox="1"/>
          <p:nvPr/>
        </p:nvSpPr>
        <p:spPr>
          <a:xfrm>
            <a:off x="10436047" y="6419088"/>
            <a:ext cx="1097280" cy="219456"/>
          </a:xfrm>
          <a:prstGeom prst="rect">
            <a:avLst/>
          </a:prstGeom>
          <a:noFill/>
        </p:spPr>
        <p:txBody>
          <a:bodyPr wrap="square" anchor="t" lIns="0" rIns="0" tIns="0" bIns="0">
            <a:spAutoFit/>
          </a:bodyPr>
          <a:lstStyle/>
          <a:p>
            <a:pPr algn="r">
              <a:lnSpc>
                <a:spcPct val="100000"/>
              </a:lnSpc>
            </a:pPr>
            <a:r>
              <a:rPr sz="950" b="0" i="0">
                <a:solidFill>
                  <a:srgbClr val="64748B"/>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10874959" cy="219456"/>
          </a:xfrm>
          <a:prstGeom prst="rect">
            <a:avLst/>
          </a:prstGeom>
          <a:noFill/>
        </p:spPr>
        <p:txBody>
          <a:bodyPr wrap="square" anchor="t" lIns="0" rIns="0" tIns="0" bIns="0">
            <a:spAutoFit/>
          </a:bodyPr>
          <a:lstStyle/>
          <a:p>
            <a:pPr algn="l">
              <a:lnSpc>
                <a:spcPct val="100000"/>
              </a:lnSpc>
            </a:pPr>
            <a:r>
              <a:rPr sz="1100" b="1" i="0">
                <a:solidFill>
                  <a:srgbClr val="6366F1"/>
                </a:solidFill>
                <a:latin typeface="Arial"/>
              </a:rPr>
              <a:t>THE HONEST NUMBER</a:t>
            </a:r>
          </a:p>
        </p:txBody>
      </p:sp>
      <p:sp>
        <p:nvSpPr>
          <p:cNvPr id="3" name="TextBox 2"/>
          <p:cNvSpPr txBox="1"/>
          <p:nvPr/>
        </p:nvSpPr>
        <p:spPr>
          <a:xfrm>
            <a:off x="658368" y="676656"/>
            <a:ext cx="10874959" cy="566928"/>
          </a:xfrm>
          <a:prstGeom prst="rect">
            <a:avLst/>
          </a:prstGeom>
          <a:noFill/>
        </p:spPr>
        <p:txBody>
          <a:bodyPr wrap="square" anchor="t" lIns="0" rIns="0" tIns="0" bIns="0">
            <a:spAutoFit/>
          </a:bodyPr>
          <a:lstStyle/>
          <a:p>
            <a:pPr algn="l">
              <a:lnSpc>
                <a:spcPct val="100000"/>
              </a:lnSpc>
            </a:pPr>
            <a:r>
              <a:rPr sz="3000" b="1" i="0">
                <a:solidFill>
                  <a:srgbClr val="0F172A"/>
                </a:solidFill>
                <a:latin typeface="Arial"/>
              </a:rPr>
              <a:t>Where the gate starts paying for itself.</a:t>
            </a:r>
          </a:p>
        </p:txBody>
      </p:sp>
      <p:sp>
        <p:nvSpPr>
          <p:cNvPr id="4" name="TextBox 3"/>
          <p:cNvSpPr txBox="1"/>
          <p:nvPr/>
        </p:nvSpPr>
        <p:spPr>
          <a:xfrm>
            <a:off x="658368" y="1243584"/>
            <a:ext cx="9352464" cy="457200"/>
          </a:xfrm>
          <a:prstGeom prst="rect">
            <a:avLst/>
          </a:prstGeom>
          <a:noFill/>
        </p:spPr>
        <p:txBody>
          <a:bodyPr wrap="square" anchor="t" lIns="0" rIns="0" tIns="0" bIns="0">
            <a:spAutoFit/>
          </a:bodyPr>
          <a:lstStyle/>
          <a:p>
            <a:pPr algn="l">
              <a:lnSpc>
                <a:spcPct val="115000"/>
              </a:lnSpc>
            </a:pPr>
            <a:r>
              <a:rPr sz="1400" b="0" i="0">
                <a:solidFill>
                  <a:srgbClr val="64748B"/>
                </a:solidFill>
                <a:latin typeface="Arial"/>
              </a:rPr>
              <a:t>Arm B beats arm D below roughly 20% adversarial traffic. That is in the deck because it is in the results.</a:t>
            </a:r>
          </a:p>
        </p:txBody>
      </p:sp>
      <p:graphicFrame>
        <p:nvGraphicFramePr>
          <p:cNvPr id="5" name="Chart 4"/>
          <p:cNvGraphicFramePr>
            <a:graphicFrameLocks noGrp="1"/>
          </p:cNvGraphicFramePr>
          <p:nvPr/>
        </p:nvGraphicFramePr>
        <p:xfrm>
          <a:off x="658368" y="2057400"/>
          <a:ext cx="7315200" cy="3383280"/>
        </p:xfrm>
        <a:graphic>
          <a:graphicData uri="http://schemas.openxmlformats.org/drawingml/2006/chart">
            <c:chart xmlns:c="http://schemas.openxmlformats.org/drawingml/2006/chart" r:id="rId2"/>
          </a:graphicData>
        </a:graphic>
      </p:graphicFrame>
      <p:sp>
        <p:nvSpPr>
          <p:cNvPr id="6" name="Rounded Rectangle 5"/>
          <p:cNvSpPr/>
          <p:nvPr/>
        </p:nvSpPr>
        <p:spPr>
          <a:xfrm>
            <a:off x="8293608" y="2057400"/>
            <a:ext cx="3239719" cy="1417320"/>
          </a:xfrm>
          <a:prstGeom prst="roundRect">
            <a:avLst>
              <a:gd name="adj" fmla="val 4500"/>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531352" y="2231136"/>
            <a:ext cx="2743200" cy="274320"/>
          </a:xfrm>
          <a:prstGeom prst="rect">
            <a:avLst/>
          </a:prstGeom>
          <a:noFill/>
        </p:spPr>
        <p:txBody>
          <a:bodyPr wrap="square" anchor="t" lIns="0" rIns="0" tIns="0" bIns="0">
            <a:spAutoFit/>
          </a:bodyPr>
          <a:lstStyle/>
          <a:p>
            <a:pPr algn="l">
              <a:lnSpc>
                <a:spcPct val="100000"/>
              </a:lnSpc>
            </a:pPr>
            <a:r>
              <a:rPr sz="1300" b="1" i="0">
                <a:solidFill>
                  <a:srgbClr val="10B981"/>
                </a:solidFill>
                <a:latin typeface="Arial"/>
              </a:rPr>
              <a:t>D is flat</a:t>
            </a:r>
          </a:p>
        </p:txBody>
      </p:sp>
      <p:sp>
        <p:nvSpPr>
          <p:cNvPr id="8" name="TextBox 7"/>
          <p:cNvSpPr txBox="1"/>
          <p:nvPr/>
        </p:nvSpPr>
        <p:spPr>
          <a:xfrm>
            <a:off x="8531352" y="2560320"/>
            <a:ext cx="2736799" cy="822960"/>
          </a:xfrm>
          <a:prstGeom prst="rect">
            <a:avLst/>
          </a:prstGeom>
          <a:noFill/>
        </p:spPr>
        <p:txBody>
          <a:bodyPr wrap="square" anchor="t" lIns="0" rIns="0" tIns="0" bIns="0">
            <a:spAutoFit/>
          </a:bodyPr>
          <a:lstStyle/>
          <a:p>
            <a:pPr algn="l">
              <a:lnSpc>
                <a:spcPct val="120000"/>
              </a:lnSpc>
            </a:pPr>
            <a:r>
              <a:rPr sz="1150" b="0" i="0">
                <a:solidFill>
                  <a:srgbClr val="334155"/>
                </a:solidFill>
                <a:latin typeface="Arial"/>
              </a:rPr>
              <a:t>Arm D's net does not move across any adversarial rate swept. It refuses all of it. Arm B degrades linearly.</a:t>
            </a:r>
          </a:p>
        </p:txBody>
      </p:sp>
      <p:sp>
        <p:nvSpPr>
          <p:cNvPr id="9" name="Rounded Rectangle 8"/>
          <p:cNvSpPr/>
          <p:nvPr/>
        </p:nvSpPr>
        <p:spPr>
          <a:xfrm>
            <a:off x="8293608" y="3611880"/>
            <a:ext cx="3239719" cy="182880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531352" y="3785615"/>
            <a:ext cx="3108960" cy="274320"/>
          </a:xfrm>
          <a:prstGeom prst="rect">
            <a:avLst/>
          </a:prstGeom>
          <a:noFill/>
        </p:spPr>
        <p:txBody>
          <a:bodyPr wrap="square" anchor="t" lIns="0" rIns="0" tIns="0" bIns="0">
            <a:spAutoFit/>
          </a:bodyPr>
          <a:lstStyle/>
          <a:p>
            <a:pPr algn="l">
              <a:lnSpc>
                <a:spcPct val="100000"/>
              </a:lnSpc>
            </a:pPr>
            <a:r>
              <a:rPr sz="1300" b="1" i="0">
                <a:solidFill>
                  <a:srgbClr val="0F172A"/>
                </a:solidFill>
                <a:latin typeface="Arial"/>
              </a:rPr>
              <a:t>What the model cannot price</a:t>
            </a:r>
          </a:p>
        </p:txBody>
      </p:sp>
      <p:sp>
        <p:nvSpPr>
          <p:cNvPr id="11" name="TextBox 10"/>
          <p:cNvSpPr txBox="1"/>
          <p:nvPr/>
        </p:nvSpPr>
        <p:spPr>
          <a:xfrm>
            <a:off x="8531352" y="4133087"/>
            <a:ext cx="2736799" cy="274320"/>
          </a:xfrm>
          <a:prstGeom prst="rect">
            <a:avLst/>
          </a:prstGeom>
          <a:noFill/>
        </p:spPr>
        <p:txBody>
          <a:bodyPr wrap="square" anchor="t" lIns="0" rIns="0" tIns="0" bIns="0">
            <a:spAutoFit/>
          </a:bodyPr>
          <a:lstStyle/>
          <a:p>
            <a:pPr algn="l">
              <a:lnSpc>
                <a:spcPct val="100000"/>
              </a:lnSpc>
            </a:pPr>
            <a:r>
              <a:rPr sz="1100" b="0" i="0">
                <a:solidFill>
                  <a:srgbClr val="64748B"/>
                </a:solidFill>
                <a:latin typeface="Arial"/>
              </a:rPr>
              <a:t>·  Chargebacks</a:t>
            </a:r>
          </a:p>
        </p:txBody>
      </p:sp>
      <p:sp>
        <p:nvSpPr>
          <p:cNvPr id="12" name="TextBox 11"/>
          <p:cNvSpPr txBox="1"/>
          <p:nvPr/>
        </p:nvSpPr>
        <p:spPr>
          <a:xfrm>
            <a:off x="8531352" y="4443983"/>
            <a:ext cx="2736799" cy="274320"/>
          </a:xfrm>
          <a:prstGeom prst="rect">
            <a:avLst/>
          </a:prstGeom>
          <a:noFill/>
        </p:spPr>
        <p:txBody>
          <a:bodyPr wrap="square" anchor="t" lIns="0" rIns="0" tIns="0" bIns="0">
            <a:spAutoFit/>
          </a:bodyPr>
          <a:lstStyle/>
          <a:p>
            <a:pPr algn="l">
              <a:lnSpc>
                <a:spcPct val="100000"/>
              </a:lnSpc>
            </a:pPr>
            <a:r>
              <a:rPr sz="1100" b="0" i="0">
                <a:solidFill>
                  <a:srgbClr val="64748B"/>
                </a:solidFill>
                <a:latin typeface="Arial"/>
              </a:rPr>
              <a:t>·  Dispute handling</a:t>
            </a:r>
          </a:p>
        </p:txBody>
      </p:sp>
      <p:sp>
        <p:nvSpPr>
          <p:cNvPr id="13" name="TextBox 12"/>
          <p:cNvSpPr txBox="1"/>
          <p:nvPr/>
        </p:nvSpPr>
        <p:spPr>
          <a:xfrm>
            <a:off x="8531352" y="4754879"/>
            <a:ext cx="2736799" cy="274320"/>
          </a:xfrm>
          <a:prstGeom prst="rect">
            <a:avLst/>
          </a:prstGeom>
          <a:noFill/>
        </p:spPr>
        <p:txBody>
          <a:bodyPr wrap="square" anchor="t" lIns="0" rIns="0" tIns="0" bIns="0">
            <a:spAutoFit/>
          </a:bodyPr>
          <a:lstStyle/>
          <a:p>
            <a:pPr algn="l">
              <a:lnSpc>
                <a:spcPct val="100000"/>
              </a:lnSpc>
            </a:pPr>
            <a:r>
              <a:rPr sz="1100" b="0" i="0">
                <a:solidFill>
                  <a:srgbClr val="64748B"/>
                </a:solidFill>
                <a:latin typeface="Arial"/>
              </a:rPr>
              <a:t>·  An account in bad standing</a:t>
            </a:r>
          </a:p>
        </p:txBody>
      </p:sp>
      <p:sp>
        <p:nvSpPr>
          <p:cNvPr id="14" name="TextBox 13"/>
          <p:cNvSpPr txBox="1"/>
          <p:nvPr/>
        </p:nvSpPr>
        <p:spPr>
          <a:xfrm>
            <a:off x="8531352" y="5065775"/>
            <a:ext cx="2736799" cy="274320"/>
          </a:xfrm>
          <a:prstGeom prst="rect">
            <a:avLst/>
          </a:prstGeom>
          <a:noFill/>
        </p:spPr>
        <p:txBody>
          <a:bodyPr wrap="square" anchor="t" lIns="0" rIns="0" tIns="0" bIns="0">
            <a:spAutoFit/>
          </a:bodyPr>
          <a:lstStyle/>
          <a:p>
            <a:pPr algn="l">
              <a:lnSpc>
                <a:spcPct val="100000"/>
              </a:lnSpc>
            </a:pPr>
            <a:r>
              <a:rPr sz="1100" b="0" i="0">
                <a:solidFill>
                  <a:srgbClr val="64748B"/>
                </a:solidFill>
                <a:latin typeface="Arial"/>
              </a:rPr>
              <a:t>·  Being known for accepting unauthorised agent payments</a:t>
            </a:r>
          </a:p>
        </p:txBody>
      </p:sp>
      <p:sp>
        <p:nvSpPr>
          <p:cNvPr id="15" name="Rounded Rectangle 14"/>
          <p:cNvSpPr/>
          <p:nvPr/>
        </p:nvSpPr>
        <p:spPr>
          <a:xfrm>
            <a:off x="658368" y="5623560"/>
            <a:ext cx="10874959" cy="658368"/>
          </a:xfrm>
          <a:prstGeom prst="roundRect">
            <a:avLst>
              <a:gd name="adj" fmla="val 45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78407" y="5806440"/>
            <a:ext cx="10234879" cy="310896"/>
          </a:xfrm>
          <a:prstGeom prst="rect">
            <a:avLst/>
          </a:prstGeom>
          <a:noFill/>
        </p:spPr>
        <p:txBody>
          <a:bodyPr wrap="square" anchor="t" lIns="0" rIns="0" tIns="0" bIns="0">
            <a:spAutoFit/>
          </a:bodyPr>
          <a:lstStyle/>
          <a:p>
            <a:pPr algn="l">
              <a:lnSpc>
                <a:spcPct val="100000"/>
              </a:lnSpc>
            </a:pPr>
            <a:r>
              <a:rPr sz="1300" b="1" i="0">
                <a:solidFill>
                  <a:srgbClr val="FFFFFF"/>
                </a:solidFill>
                <a:latin typeface="Arial"/>
              </a:rPr>
              <a:t>Below 20%, the argument is not GMV. It is the false block rate, the cost of disputes, and what a merchant wants to be known for.</a:t>
            </a:r>
          </a:p>
        </p:txBody>
      </p:sp>
      <p:sp>
        <p:nvSpPr>
          <p:cNvPr id="17" name="Rectangle 16"/>
          <p:cNvSpPr/>
          <p:nvPr/>
        </p:nvSpPr>
        <p:spPr>
          <a:xfrm>
            <a:off x="658368" y="6291072"/>
            <a:ext cx="10874959"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6419088"/>
            <a:ext cx="7612471" cy="219456"/>
          </a:xfrm>
          <a:prstGeom prst="rect">
            <a:avLst/>
          </a:prstGeom>
          <a:noFill/>
        </p:spPr>
        <p:txBody>
          <a:bodyPr wrap="square" anchor="t" lIns="0" rIns="0" tIns="0" bIns="0">
            <a:spAutoFit/>
          </a:bodyPr>
          <a:lstStyle/>
          <a:p>
            <a:pPr algn="l">
              <a:lnSpc>
                <a:spcPct val="100000"/>
              </a:lnSpc>
            </a:pPr>
            <a:r>
              <a:rPr sz="950" b="0" i="0">
                <a:solidFill>
                  <a:srgbClr val="64748B"/>
                </a:solidFill>
                <a:latin typeface="Arial"/>
              </a:rPr>
              <a:t>The honest number</a:t>
            </a:r>
          </a:p>
        </p:txBody>
      </p:sp>
      <p:sp>
        <p:nvSpPr>
          <p:cNvPr id="19" name="TextBox 18"/>
          <p:cNvSpPr txBox="1"/>
          <p:nvPr/>
        </p:nvSpPr>
        <p:spPr>
          <a:xfrm>
            <a:off x="10436047" y="6419088"/>
            <a:ext cx="1097280" cy="219456"/>
          </a:xfrm>
          <a:prstGeom prst="rect">
            <a:avLst/>
          </a:prstGeom>
          <a:noFill/>
        </p:spPr>
        <p:txBody>
          <a:bodyPr wrap="square" anchor="t" lIns="0" rIns="0" tIns="0" bIns="0">
            <a:spAutoFit/>
          </a:bodyPr>
          <a:lstStyle/>
          <a:p>
            <a:pPr algn="r">
              <a:lnSpc>
                <a:spcPct val="100000"/>
              </a:lnSpc>
            </a:pPr>
            <a:r>
              <a:rPr sz="950" b="0" i="0">
                <a:solidFill>
                  <a:srgbClr val="64748B"/>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10874959" cy="219456"/>
          </a:xfrm>
          <a:prstGeom prst="rect">
            <a:avLst/>
          </a:prstGeom>
          <a:noFill/>
        </p:spPr>
        <p:txBody>
          <a:bodyPr wrap="square" anchor="t" lIns="0" rIns="0" tIns="0" bIns="0">
            <a:spAutoFit/>
          </a:bodyPr>
          <a:lstStyle/>
          <a:p>
            <a:pPr algn="l">
              <a:lnSpc>
                <a:spcPct val="100000"/>
              </a:lnSpc>
            </a:pPr>
            <a:r>
              <a:rPr sz="1100" b="1" i="0">
                <a:solidFill>
                  <a:srgbClr val="6366F1"/>
                </a:solidFill>
                <a:latin typeface="Arial"/>
              </a:rPr>
              <a:t>ADVERSARIAL</a:t>
            </a:r>
          </a:p>
        </p:txBody>
      </p:sp>
      <p:sp>
        <p:nvSpPr>
          <p:cNvPr id="3" name="TextBox 2"/>
          <p:cNvSpPr txBox="1"/>
          <p:nvPr/>
        </p:nvSpPr>
        <p:spPr>
          <a:xfrm>
            <a:off x="658368" y="676656"/>
            <a:ext cx="10874959" cy="566928"/>
          </a:xfrm>
          <a:prstGeom prst="rect">
            <a:avLst/>
          </a:prstGeom>
          <a:noFill/>
        </p:spPr>
        <p:txBody>
          <a:bodyPr wrap="square" anchor="t" lIns="0" rIns="0" tIns="0" bIns="0">
            <a:spAutoFit/>
          </a:bodyPr>
          <a:lstStyle/>
          <a:p>
            <a:pPr algn="l">
              <a:lnSpc>
                <a:spcPct val="100000"/>
              </a:lnSpc>
            </a:pPr>
            <a:r>
              <a:rPr sz="3000" b="1" i="0">
                <a:solidFill>
                  <a:srgbClr val="0F172A"/>
                </a:solidFill>
                <a:latin typeface="Arial"/>
              </a:rPr>
              <a:t>Thirteen of thirteen applicable attack variants blocked.</a:t>
            </a:r>
          </a:p>
        </p:txBody>
      </p:sp>
      <p:sp>
        <p:nvSpPr>
          <p:cNvPr id="4" name="TextBox 3"/>
          <p:cNvSpPr txBox="1"/>
          <p:nvPr/>
        </p:nvSpPr>
        <p:spPr>
          <a:xfrm>
            <a:off x="658368" y="1243584"/>
            <a:ext cx="9352464" cy="457200"/>
          </a:xfrm>
          <a:prstGeom prst="rect">
            <a:avLst/>
          </a:prstGeom>
          <a:noFill/>
        </p:spPr>
        <p:txBody>
          <a:bodyPr wrap="square" anchor="t" lIns="0" rIns="0" tIns="0" bIns="0">
            <a:spAutoFit/>
          </a:bodyPr>
          <a:lstStyle/>
          <a:p>
            <a:pPr algn="l">
              <a:lnSpc>
                <a:spcPct val="115000"/>
              </a:lnSpc>
            </a:pPr>
            <a:r>
              <a:rPr sz="1400" b="0" i="0">
                <a:solidFill>
                  <a:srgbClr val="64748B"/>
                </a:solidFill>
                <a:latin typeface="Arial"/>
              </a:rPr>
              <a:t>The attack suite runs in CI on every push, and beat 4 runs it live on stage.</a:t>
            </a:r>
          </a:p>
        </p:txBody>
      </p:sp>
      <p:sp>
        <p:nvSpPr>
          <p:cNvPr id="5" name="Rounded Rectangle 4"/>
          <p:cNvSpPr/>
          <p:nvPr/>
        </p:nvSpPr>
        <p:spPr>
          <a:xfrm>
            <a:off x="658368" y="1965960"/>
            <a:ext cx="5300319" cy="786384"/>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658368" y="1965960"/>
            <a:ext cx="45720" cy="78638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2093976"/>
            <a:ext cx="3471519" cy="256032"/>
          </a:xfrm>
          <a:prstGeom prst="rect">
            <a:avLst/>
          </a:prstGeom>
          <a:noFill/>
        </p:spPr>
        <p:txBody>
          <a:bodyPr wrap="square" anchor="t" lIns="0" rIns="0" tIns="0" bIns="0">
            <a:spAutoFit/>
          </a:bodyPr>
          <a:lstStyle/>
          <a:p>
            <a:pPr algn="l">
              <a:lnSpc>
                <a:spcPct val="100000"/>
              </a:lnSpc>
            </a:pPr>
            <a:r>
              <a:rPr sz="1300" b="1" i="0">
                <a:solidFill>
                  <a:srgbClr val="0F172A"/>
                </a:solidFill>
                <a:latin typeface="Arial"/>
              </a:rPr>
              <a:t>Payment redirect</a:t>
            </a:r>
          </a:p>
        </p:txBody>
      </p:sp>
      <p:sp>
        <p:nvSpPr>
          <p:cNvPr id="8" name="TextBox 7"/>
          <p:cNvSpPr txBox="1"/>
          <p:nvPr/>
        </p:nvSpPr>
        <p:spPr>
          <a:xfrm>
            <a:off x="877824" y="2386584"/>
            <a:ext cx="3380079" cy="237744"/>
          </a:xfrm>
          <a:prstGeom prst="rect">
            <a:avLst/>
          </a:prstGeom>
          <a:noFill/>
        </p:spPr>
        <p:txBody>
          <a:bodyPr wrap="square" anchor="t" lIns="0" rIns="0" tIns="0" bIns="0">
            <a:spAutoFit/>
          </a:bodyPr>
          <a:lstStyle/>
          <a:p>
            <a:pPr algn="l">
              <a:lnSpc>
                <a:spcPct val="100000"/>
              </a:lnSpc>
            </a:pPr>
            <a:r>
              <a:rPr sz="1050" b="0" i="0">
                <a:solidFill>
                  <a:srgbClr val="64748B"/>
                </a:solidFill>
                <a:latin typeface="Arial"/>
              </a:rPr>
              <a:t>lookalike payee — deskkit@razorpayy</a:t>
            </a:r>
          </a:p>
        </p:txBody>
      </p:sp>
      <p:sp>
        <p:nvSpPr>
          <p:cNvPr id="9" name="Rounded Rectangle 8"/>
          <p:cNvSpPr/>
          <p:nvPr/>
        </p:nvSpPr>
        <p:spPr>
          <a:xfrm>
            <a:off x="4267047" y="2185415"/>
            <a:ext cx="1463040" cy="365760"/>
          </a:xfrm>
          <a:prstGeom prst="roundRect">
            <a:avLst>
              <a:gd name="adj" fmla="val 18000"/>
            </a:avLst>
          </a:prstGeom>
          <a:solidFill>
            <a:srgbClr val="FEF2F2"/>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00" b="1">
                <a:solidFill>
                  <a:srgbClr val="EF4444"/>
                </a:solidFill>
                <a:latin typeface="Arial"/>
              </a:rPr>
              <a:t>BLOCKED</a:t>
            </a:r>
          </a:p>
        </p:txBody>
      </p:sp>
      <p:sp>
        <p:nvSpPr>
          <p:cNvPr id="10" name="TextBox 9"/>
          <p:cNvSpPr txBox="1"/>
          <p:nvPr/>
        </p:nvSpPr>
        <p:spPr>
          <a:xfrm>
            <a:off x="877824" y="2569464"/>
            <a:ext cx="4843119" cy="182880"/>
          </a:xfrm>
          <a:prstGeom prst="rect">
            <a:avLst/>
          </a:prstGeom>
          <a:noFill/>
        </p:spPr>
        <p:txBody>
          <a:bodyPr wrap="square" anchor="t" lIns="0" rIns="0" tIns="0" bIns="0">
            <a:spAutoFit/>
          </a:bodyPr>
          <a:lstStyle/>
          <a:p>
            <a:pPr algn="l">
              <a:lnSpc>
                <a:spcPct val="100000"/>
              </a:lnSpc>
            </a:pPr>
            <a:r>
              <a:rPr sz="850" b="0" i="0">
                <a:solidFill>
                  <a:srgbClr val="64748B"/>
                </a:solidFill>
                <a:latin typeface="Consolas"/>
              </a:rPr>
              <a:t>SCOPE_MERCHANT_NOT_ALLOWED</a:t>
            </a:r>
          </a:p>
        </p:txBody>
      </p:sp>
      <p:sp>
        <p:nvSpPr>
          <p:cNvPr id="11" name="Rounded Rectangle 10"/>
          <p:cNvSpPr/>
          <p:nvPr/>
        </p:nvSpPr>
        <p:spPr>
          <a:xfrm>
            <a:off x="6233007" y="1965960"/>
            <a:ext cx="5300319" cy="786384"/>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3007" y="1965960"/>
            <a:ext cx="45720" cy="78638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2463" y="2093976"/>
            <a:ext cx="3471519" cy="256032"/>
          </a:xfrm>
          <a:prstGeom prst="rect">
            <a:avLst/>
          </a:prstGeom>
          <a:noFill/>
        </p:spPr>
        <p:txBody>
          <a:bodyPr wrap="square" anchor="t" lIns="0" rIns="0" tIns="0" bIns="0">
            <a:spAutoFit/>
          </a:bodyPr>
          <a:lstStyle/>
          <a:p>
            <a:pPr algn="l">
              <a:lnSpc>
                <a:spcPct val="100000"/>
              </a:lnSpc>
            </a:pPr>
            <a:r>
              <a:rPr sz="1300" b="1" i="0">
                <a:solidFill>
                  <a:srgbClr val="0F172A"/>
                </a:solidFill>
                <a:latin typeface="Arial"/>
              </a:rPr>
              <a:t>Price hallucination</a:t>
            </a:r>
          </a:p>
        </p:txBody>
      </p:sp>
      <p:sp>
        <p:nvSpPr>
          <p:cNvPr id="14" name="TextBox 13"/>
          <p:cNvSpPr txBox="1"/>
          <p:nvPr/>
        </p:nvSpPr>
        <p:spPr>
          <a:xfrm>
            <a:off x="6452463" y="2386584"/>
            <a:ext cx="3380079" cy="237744"/>
          </a:xfrm>
          <a:prstGeom prst="rect">
            <a:avLst/>
          </a:prstGeom>
          <a:noFill/>
        </p:spPr>
        <p:txBody>
          <a:bodyPr wrap="square" anchor="t" lIns="0" rIns="0" tIns="0" bIns="0">
            <a:spAutoFit/>
          </a:bodyPr>
          <a:lstStyle/>
          <a:p>
            <a:pPr algn="l">
              <a:lnSpc>
                <a:spcPct val="100000"/>
              </a:lnSpc>
            </a:pPr>
            <a:r>
              <a:rPr sz="1050" b="0" i="0">
                <a:solidFill>
                  <a:srgbClr val="64748B"/>
                </a:solidFill>
                <a:latin typeface="Arial"/>
              </a:rPr>
              <a:t>inflated, deflated, and one paisa off</a:t>
            </a:r>
          </a:p>
        </p:txBody>
      </p:sp>
      <p:sp>
        <p:nvSpPr>
          <p:cNvPr id="15" name="Rounded Rectangle 14"/>
          <p:cNvSpPr/>
          <p:nvPr/>
        </p:nvSpPr>
        <p:spPr>
          <a:xfrm>
            <a:off x="9841687" y="2185415"/>
            <a:ext cx="1463040" cy="365760"/>
          </a:xfrm>
          <a:prstGeom prst="roundRect">
            <a:avLst>
              <a:gd name="adj" fmla="val 18000"/>
            </a:avLst>
          </a:prstGeom>
          <a:solidFill>
            <a:srgbClr val="FEF2F2"/>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00" b="1">
                <a:solidFill>
                  <a:srgbClr val="EF4444"/>
                </a:solidFill>
                <a:latin typeface="Arial"/>
              </a:rPr>
              <a:t>BLOCKED</a:t>
            </a:r>
          </a:p>
        </p:txBody>
      </p:sp>
      <p:sp>
        <p:nvSpPr>
          <p:cNvPr id="16" name="TextBox 15"/>
          <p:cNvSpPr txBox="1"/>
          <p:nvPr/>
        </p:nvSpPr>
        <p:spPr>
          <a:xfrm>
            <a:off x="6452463" y="2569464"/>
            <a:ext cx="4843119" cy="182880"/>
          </a:xfrm>
          <a:prstGeom prst="rect">
            <a:avLst/>
          </a:prstGeom>
          <a:noFill/>
        </p:spPr>
        <p:txBody>
          <a:bodyPr wrap="square" anchor="t" lIns="0" rIns="0" tIns="0" bIns="0">
            <a:spAutoFit/>
          </a:bodyPr>
          <a:lstStyle/>
          <a:p>
            <a:pPr algn="l">
              <a:lnSpc>
                <a:spcPct val="100000"/>
              </a:lnSpc>
            </a:pPr>
            <a:r>
              <a:rPr sz="850" b="0" i="0">
                <a:solidFill>
                  <a:srgbClr val="64748B"/>
                </a:solidFill>
                <a:latin typeface="Consolas"/>
              </a:rPr>
              <a:t>QUOTE_AMOUNT_MISMATCH</a:t>
            </a:r>
          </a:p>
        </p:txBody>
      </p:sp>
      <p:sp>
        <p:nvSpPr>
          <p:cNvPr id="17" name="Rounded Rectangle 16"/>
          <p:cNvSpPr/>
          <p:nvPr/>
        </p:nvSpPr>
        <p:spPr>
          <a:xfrm>
            <a:off x="658368" y="2898648"/>
            <a:ext cx="5300319" cy="786384"/>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58368" y="2898648"/>
            <a:ext cx="45720" cy="78638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7824" y="3026664"/>
            <a:ext cx="3471519" cy="256032"/>
          </a:xfrm>
          <a:prstGeom prst="rect">
            <a:avLst/>
          </a:prstGeom>
          <a:noFill/>
        </p:spPr>
        <p:txBody>
          <a:bodyPr wrap="square" anchor="t" lIns="0" rIns="0" tIns="0" bIns="0">
            <a:spAutoFit/>
          </a:bodyPr>
          <a:lstStyle/>
          <a:p>
            <a:pPr algn="l">
              <a:lnSpc>
                <a:spcPct val="100000"/>
              </a:lnSpc>
            </a:pPr>
            <a:r>
              <a:rPr sz="1300" b="1" i="0">
                <a:solidFill>
                  <a:srgbClr val="0F172A"/>
                </a:solidFill>
                <a:latin typeface="Arial"/>
              </a:rPr>
              <a:t>Replay</a:t>
            </a:r>
          </a:p>
        </p:txBody>
      </p:sp>
      <p:sp>
        <p:nvSpPr>
          <p:cNvPr id="20" name="TextBox 19"/>
          <p:cNvSpPr txBox="1"/>
          <p:nvPr/>
        </p:nvSpPr>
        <p:spPr>
          <a:xfrm>
            <a:off x="877824" y="3319272"/>
            <a:ext cx="3380079" cy="237744"/>
          </a:xfrm>
          <a:prstGeom prst="rect">
            <a:avLst/>
          </a:prstGeom>
          <a:noFill/>
        </p:spPr>
        <p:txBody>
          <a:bodyPr wrap="square" anchor="t" lIns="0" rIns="0" tIns="0" bIns="0">
            <a:spAutoFit/>
          </a:bodyPr>
          <a:lstStyle/>
          <a:p>
            <a:pPr algn="l">
              <a:lnSpc>
                <a:spcPct val="100000"/>
              </a:lnSpc>
            </a:pPr>
            <a:r>
              <a:rPr sz="1050" b="0" i="0">
                <a:solidFill>
                  <a:srgbClr val="64748B"/>
                </a:solidFill>
                <a:latin typeface="Arial"/>
              </a:rPr>
              <a:t>a valid captured request, resubmitted</a:t>
            </a:r>
          </a:p>
        </p:txBody>
      </p:sp>
      <p:sp>
        <p:nvSpPr>
          <p:cNvPr id="21" name="Rounded Rectangle 20"/>
          <p:cNvSpPr/>
          <p:nvPr/>
        </p:nvSpPr>
        <p:spPr>
          <a:xfrm>
            <a:off x="4267047" y="3118104"/>
            <a:ext cx="1463040" cy="365760"/>
          </a:xfrm>
          <a:prstGeom prst="roundRect">
            <a:avLst>
              <a:gd name="adj" fmla="val 18000"/>
            </a:avLst>
          </a:prstGeom>
          <a:solidFill>
            <a:srgbClr val="FEF2F2"/>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00" b="1">
                <a:solidFill>
                  <a:srgbClr val="EF4444"/>
                </a:solidFill>
                <a:latin typeface="Arial"/>
              </a:rPr>
              <a:t>BLOCKED</a:t>
            </a:r>
          </a:p>
        </p:txBody>
      </p:sp>
      <p:sp>
        <p:nvSpPr>
          <p:cNvPr id="22" name="TextBox 21"/>
          <p:cNvSpPr txBox="1"/>
          <p:nvPr/>
        </p:nvSpPr>
        <p:spPr>
          <a:xfrm>
            <a:off x="877824" y="3502152"/>
            <a:ext cx="4843119" cy="182880"/>
          </a:xfrm>
          <a:prstGeom prst="rect">
            <a:avLst/>
          </a:prstGeom>
          <a:noFill/>
        </p:spPr>
        <p:txBody>
          <a:bodyPr wrap="square" anchor="t" lIns="0" rIns="0" tIns="0" bIns="0">
            <a:spAutoFit/>
          </a:bodyPr>
          <a:lstStyle/>
          <a:p>
            <a:pPr algn="l">
              <a:lnSpc>
                <a:spcPct val="100000"/>
              </a:lnSpc>
            </a:pPr>
            <a:r>
              <a:rPr sz="850" b="0" i="0">
                <a:solidFill>
                  <a:srgbClr val="64748B"/>
                </a:solidFill>
                <a:latin typeface="Consolas"/>
              </a:rPr>
              <a:t>NONCE_REPLAY</a:t>
            </a:r>
          </a:p>
        </p:txBody>
      </p:sp>
      <p:sp>
        <p:nvSpPr>
          <p:cNvPr id="23" name="Rounded Rectangle 22"/>
          <p:cNvSpPr/>
          <p:nvPr/>
        </p:nvSpPr>
        <p:spPr>
          <a:xfrm>
            <a:off x="6233007" y="2898648"/>
            <a:ext cx="5300319" cy="786384"/>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233007" y="2898648"/>
            <a:ext cx="45720" cy="78638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2463" y="3026664"/>
            <a:ext cx="3471519" cy="256032"/>
          </a:xfrm>
          <a:prstGeom prst="rect">
            <a:avLst/>
          </a:prstGeom>
          <a:noFill/>
        </p:spPr>
        <p:txBody>
          <a:bodyPr wrap="square" anchor="t" lIns="0" rIns="0" tIns="0" bIns="0">
            <a:spAutoFit/>
          </a:bodyPr>
          <a:lstStyle/>
          <a:p>
            <a:pPr algn="l">
              <a:lnSpc>
                <a:spcPct val="100000"/>
              </a:lnSpc>
            </a:pPr>
            <a:r>
              <a:rPr sz="1300" b="1" i="0">
                <a:solidFill>
                  <a:srgbClr val="0F172A"/>
                </a:solidFill>
                <a:latin typeface="Arial"/>
              </a:rPr>
              <a:t>Slicing</a:t>
            </a:r>
          </a:p>
        </p:txBody>
      </p:sp>
      <p:sp>
        <p:nvSpPr>
          <p:cNvPr id="26" name="TextBox 25"/>
          <p:cNvSpPr txBox="1"/>
          <p:nvPr/>
        </p:nvSpPr>
        <p:spPr>
          <a:xfrm>
            <a:off x="6452463" y="3319272"/>
            <a:ext cx="3380079" cy="237744"/>
          </a:xfrm>
          <a:prstGeom prst="rect">
            <a:avLst/>
          </a:prstGeom>
          <a:noFill/>
        </p:spPr>
        <p:txBody>
          <a:bodyPr wrap="square" anchor="t" lIns="0" rIns="0" tIns="0" bIns="0">
            <a:spAutoFit/>
          </a:bodyPr>
          <a:lstStyle/>
          <a:p>
            <a:pPr algn="l">
              <a:lnSpc>
                <a:spcPct val="100000"/>
              </a:lnSpc>
            </a:pPr>
            <a:r>
              <a:rPr sz="1050" b="0" i="0">
                <a:solidFill>
                  <a:srgbClr val="64748B"/>
                </a:solidFill>
                <a:latin typeface="Arial"/>
              </a:rPr>
              <a:t>sequential and concurrent, under the per-txn cap</a:t>
            </a:r>
          </a:p>
        </p:txBody>
      </p:sp>
      <p:sp>
        <p:nvSpPr>
          <p:cNvPr id="27" name="Rounded Rectangle 26"/>
          <p:cNvSpPr/>
          <p:nvPr/>
        </p:nvSpPr>
        <p:spPr>
          <a:xfrm>
            <a:off x="9841687" y="3118104"/>
            <a:ext cx="1463040" cy="365760"/>
          </a:xfrm>
          <a:prstGeom prst="roundRect">
            <a:avLst>
              <a:gd name="adj" fmla="val 18000"/>
            </a:avLst>
          </a:prstGeom>
          <a:solidFill>
            <a:srgbClr val="FEF2F2"/>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00" b="1">
                <a:solidFill>
                  <a:srgbClr val="EF4444"/>
                </a:solidFill>
                <a:latin typeface="Arial"/>
              </a:rPr>
              <a:t>BLOCKED</a:t>
            </a:r>
          </a:p>
        </p:txBody>
      </p:sp>
      <p:sp>
        <p:nvSpPr>
          <p:cNvPr id="28" name="TextBox 27"/>
          <p:cNvSpPr txBox="1"/>
          <p:nvPr/>
        </p:nvSpPr>
        <p:spPr>
          <a:xfrm>
            <a:off x="6452463" y="3502152"/>
            <a:ext cx="4843119" cy="182880"/>
          </a:xfrm>
          <a:prstGeom prst="rect">
            <a:avLst/>
          </a:prstGeom>
          <a:noFill/>
        </p:spPr>
        <p:txBody>
          <a:bodyPr wrap="square" anchor="t" lIns="0" rIns="0" tIns="0" bIns="0">
            <a:spAutoFit/>
          </a:bodyPr>
          <a:lstStyle/>
          <a:p>
            <a:pPr algn="l">
              <a:lnSpc>
                <a:spcPct val="100000"/>
              </a:lnSpc>
            </a:pPr>
            <a:r>
              <a:rPr sz="850" b="0" i="0">
                <a:solidFill>
                  <a:srgbClr val="64748B"/>
                </a:solidFill>
                <a:latin typeface="Consolas"/>
              </a:rPr>
              <a:t>CEILING_TOTAL / COUNT</a:t>
            </a:r>
          </a:p>
        </p:txBody>
      </p:sp>
      <p:sp>
        <p:nvSpPr>
          <p:cNvPr id="29" name="Rounded Rectangle 28"/>
          <p:cNvSpPr/>
          <p:nvPr/>
        </p:nvSpPr>
        <p:spPr>
          <a:xfrm>
            <a:off x="658368" y="3831335"/>
            <a:ext cx="5300319" cy="786384"/>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58368" y="3831335"/>
            <a:ext cx="45720" cy="78638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7824" y="3959351"/>
            <a:ext cx="3471519" cy="256032"/>
          </a:xfrm>
          <a:prstGeom prst="rect">
            <a:avLst/>
          </a:prstGeom>
          <a:noFill/>
        </p:spPr>
        <p:txBody>
          <a:bodyPr wrap="square" anchor="t" lIns="0" rIns="0" tIns="0" bIns="0">
            <a:spAutoFit/>
          </a:bodyPr>
          <a:lstStyle/>
          <a:p>
            <a:pPr algn="l">
              <a:lnSpc>
                <a:spcPct val="100000"/>
              </a:lnSpc>
            </a:pPr>
            <a:r>
              <a:rPr sz="1300" b="1" i="0">
                <a:solidFill>
                  <a:srgbClr val="0F172A"/>
                </a:solidFill>
                <a:latin typeface="Arial"/>
              </a:rPr>
              <a:t>Prompt injection</a:t>
            </a:r>
          </a:p>
        </p:txBody>
      </p:sp>
      <p:sp>
        <p:nvSpPr>
          <p:cNvPr id="32" name="TextBox 31"/>
          <p:cNvSpPr txBox="1"/>
          <p:nvPr/>
        </p:nvSpPr>
        <p:spPr>
          <a:xfrm>
            <a:off x="877824" y="4251959"/>
            <a:ext cx="3380079" cy="237744"/>
          </a:xfrm>
          <a:prstGeom prst="rect">
            <a:avLst/>
          </a:prstGeom>
          <a:noFill/>
        </p:spPr>
        <p:txBody>
          <a:bodyPr wrap="square" anchor="t" lIns="0" rIns="0" tIns="0" bIns="0">
            <a:spAutoFit/>
          </a:bodyPr>
          <a:lstStyle/>
          <a:p>
            <a:pPr algn="l">
              <a:lnSpc>
                <a:spcPct val="100000"/>
              </a:lnSpc>
            </a:pPr>
            <a:r>
              <a:rPr sz="1050" b="0" i="0">
                <a:solidFill>
                  <a:srgbClr val="64748B"/>
                </a:solidFill>
                <a:latin typeface="Arial"/>
              </a:rPr>
              <a:t>verification deposit, role reassignment</a:t>
            </a:r>
          </a:p>
        </p:txBody>
      </p:sp>
      <p:sp>
        <p:nvSpPr>
          <p:cNvPr id="33" name="Rounded Rectangle 32"/>
          <p:cNvSpPr/>
          <p:nvPr/>
        </p:nvSpPr>
        <p:spPr>
          <a:xfrm>
            <a:off x="4267047" y="4050791"/>
            <a:ext cx="1463040" cy="365760"/>
          </a:xfrm>
          <a:prstGeom prst="roundRect">
            <a:avLst>
              <a:gd name="adj" fmla="val 18000"/>
            </a:avLst>
          </a:prstGeom>
          <a:solidFill>
            <a:srgbClr val="FEF2F2"/>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00" b="1">
                <a:solidFill>
                  <a:srgbClr val="EF4444"/>
                </a:solidFill>
                <a:latin typeface="Arial"/>
              </a:rPr>
              <a:t>BLOCKED</a:t>
            </a:r>
          </a:p>
        </p:txBody>
      </p:sp>
      <p:sp>
        <p:nvSpPr>
          <p:cNvPr id="34" name="TextBox 33"/>
          <p:cNvSpPr txBox="1"/>
          <p:nvPr/>
        </p:nvSpPr>
        <p:spPr>
          <a:xfrm>
            <a:off x="877824" y="4434840"/>
            <a:ext cx="4843119" cy="182880"/>
          </a:xfrm>
          <a:prstGeom prst="rect">
            <a:avLst/>
          </a:prstGeom>
          <a:noFill/>
        </p:spPr>
        <p:txBody>
          <a:bodyPr wrap="square" anchor="t" lIns="0" rIns="0" tIns="0" bIns="0">
            <a:spAutoFit/>
          </a:bodyPr>
          <a:lstStyle/>
          <a:p>
            <a:pPr algn="l">
              <a:lnSpc>
                <a:spcPct val="100000"/>
              </a:lnSpc>
            </a:pPr>
            <a:r>
              <a:rPr sz="850" b="0" i="0">
                <a:solidFill>
                  <a:srgbClr val="64748B"/>
                </a:solidFill>
                <a:latin typeface="Consolas"/>
              </a:rPr>
              <a:t>INTENT_INJECTION_SUSPECTED</a:t>
            </a:r>
          </a:p>
        </p:txBody>
      </p:sp>
      <p:sp>
        <p:nvSpPr>
          <p:cNvPr id="35" name="Rounded Rectangle 34"/>
          <p:cNvSpPr/>
          <p:nvPr/>
        </p:nvSpPr>
        <p:spPr>
          <a:xfrm>
            <a:off x="6233007" y="3831335"/>
            <a:ext cx="5300319" cy="786384"/>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6233007" y="3831335"/>
            <a:ext cx="45720" cy="78638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52463" y="3959351"/>
            <a:ext cx="3471519" cy="256032"/>
          </a:xfrm>
          <a:prstGeom prst="rect">
            <a:avLst/>
          </a:prstGeom>
          <a:noFill/>
        </p:spPr>
        <p:txBody>
          <a:bodyPr wrap="square" anchor="t" lIns="0" rIns="0" tIns="0" bIns="0">
            <a:spAutoFit/>
          </a:bodyPr>
          <a:lstStyle/>
          <a:p>
            <a:pPr algn="l">
              <a:lnSpc>
                <a:spcPct val="100000"/>
              </a:lnSpc>
            </a:pPr>
            <a:r>
              <a:rPr sz="1300" b="1" i="0">
                <a:solidFill>
                  <a:srgbClr val="0F172A"/>
                </a:solidFill>
                <a:latin typeface="Arial"/>
              </a:rPr>
              <a:t>Forged signature</a:t>
            </a:r>
          </a:p>
        </p:txBody>
      </p:sp>
      <p:sp>
        <p:nvSpPr>
          <p:cNvPr id="38" name="TextBox 37"/>
          <p:cNvSpPr txBox="1"/>
          <p:nvPr/>
        </p:nvSpPr>
        <p:spPr>
          <a:xfrm>
            <a:off x="6452463" y="4251959"/>
            <a:ext cx="3380079" cy="237744"/>
          </a:xfrm>
          <a:prstGeom prst="rect">
            <a:avLst/>
          </a:prstGeom>
          <a:noFill/>
        </p:spPr>
        <p:txBody>
          <a:bodyPr wrap="square" anchor="t" lIns="0" rIns="0" tIns="0" bIns="0">
            <a:spAutoFit/>
          </a:bodyPr>
          <a:lstStyle/>
          <a:p>
            <a:pPr algn="l">
              <a:lnSpc>
                <a:spcPct val="100000"/>
              </a:lnSpc>
            </a:pPr>
            <a:r>
              <a:rPr sz="1050" b="0" i="0">
                <a:solidFill>
                  <a:srgbClr val="64748B"/>
                </a:solidFill>
                <a:latin typeface="Arial"/>
              </a:rPr>
              <a:t>a request signed with the wrong key</a:t>
            </a:r>
          </a:p>
        </p:txBody>
      </p:sp>
      <p:sp>
        <p:nvSpPr>
          <p:cNvPr id="39" name="Rounded Rectangle 38"/>
          <p:cNvSpPr/>
          <p:nvPr/>
        </p:nvSpPr>
        <p:spPr>
          <a:xfrm>
            <a:off x="9841687" y="4050791"/>
            <a:ext cx="1463040" cy="365760"/>
          </a:xfrm>
          <a:prstGeom prst="roundRect">
            <a:avLst>
              <a:gd name="adj" fmla="val 18000"/>
            </a:avLst>
          </a:prstGeom>
          <a:solidFill>
            <a:srgbClr val="FEF2F2"/>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00" b="1">
                <a:solidFill>
                  <a:srgbClr val="EF4444"/>
                </a:solidFill>
                <a:latin typeface="Arial"/>
              </a:rPr>
              <a:t>BLOCKED</a:t>
            </a:r>
          </a:p>
        </p:txBody>
      </p:sp>
      <p:sp>
        <p:nvSpPr>
          <p:cNvPr id="40" name="TextBox 39"/>
          <p:cNvSpPr txBox="1"/>
          <p:nvPr/>
        </p:nvSpPr>
        <p:spPr>
          <a:xfrm>
            <a:off x="6452463" y="4434840"/>
            <a:ext cx="4843119" cy="182880"/>
          </a:xfrm>
          <a:prstGeom prst="rect">
            <a:avLst/>
          </a:prstGeom>
          <a:noFill/>
        </p:spPr>
        <p:txBody>
          <a:bodyPr wrap="square" anchor="t" lIns="0" rIns="0" tIns="0" bIns="0">
            <a:spAutoFit/>
          </a:bodyPr>
          <a:lstStyle/>
          <a:p>
            <a:pPr algn="l">
              <a:lnSpc>
                <a:spcPct val="100000"/>
              </a:lnSpc>
            </a:pPr>
            <a:r>
              <a:rPr sz="850" b="0" i="0">
                <a:solidFill>
                  <a:srgbClr val="64748B"/>
                </a:solidFill>
                <a:latin typeface="Consolas"/>
              </a:rPr>
              <a:t>REQUEST_SIG_INVALID</a:t>
            </a:r>
          </a:p>
        </p:txBody>
      </p:sp>
      <p:sp>
        <p:nvSpPr>
          <p:cNvPr id="41" name="Rounded Rectangle 40"/>
          <p:cNvSpPr/>
          <p:nvPr/>
        </p:nvSpPr>
        <p:spPr>
          <a:xfrm>
            <a:off x="658368" y="4892040"/>
            <a:ext cx="5952817" cy="1051560"/>
          </a:xfrm>
          <a:prstGeom prst="roundRect">
            <a:avLst>
              <a:gd name="adj" fmla="val 4500"/>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32688" y="5074920"/>
            <a:ext cx="4572000" cy="256032"/>
          </a:xfrm>
          <a:prstGeom prst="rect">
            <a:avLst/>
          </a:prstGeom>
          <a:noFill/>
        </p:spPr>
        <p:txBody>
          <a:bodyPr wrap="square" anchor="t" lIns="0" rIns="0" tIns="0" bIns="0">
            <a:spAutoFit/>
          </a:bodyPr>
          <a:lstStyle/>
          <a:p>
            <a:pPr algn="l">
              <a:lnSpc>
                <a:spcPct val="100000"/>
              </a:lnSpc>
            </a:pPr>
            <a:r>
              <a:rPr sz="1300" b="1" i="0">
                <a:solidFill>
                  <a:srgbClr val="0F172A"/>
                </a:solidFill>
                <a:latin typeface="Arial"/>
              </a:rPr>
              <a:t>One is reported N/A, and stays N/A</a:t>
            </a:r>
          </a:p>
        </p:txBody>
      </p:sp>
      <p:sp>
        <p:nvSpPr>
          <p:cNvPr id="43" name="TextBox 42"/>
          <p:cNvSpPr txBox="1"/>
          <p:nvPr/>
        </p:nvSpPr>
        <p:spPr>
          <a:xfrm>
            <a:off x="932688" y="5404104"/>
            <a:ext cx="5404177" cy="457200"/>
          </a:xfrm>
          <a:prstGeom prst="rect">
            <a:avLst/>
          </a:prstGeom>
          <a:noFill/>
        </p:spPr>
        <p:txBody>
          <a:bodyPr wrap="square" anchor="t" lIns="0" rIns="0" tIns="0" bIns="0">
            <a:spAutoFit/>
          </a:bodyPr>
          <a:lstStyle/>
          <a:p>
            <a:pPr algn="l">
              <a:lnSpc>
                <a:spcPct val="115000"/>
              </a:lnSpc>
            </a:pPr>
            <a:r>
              <a:rPr sz="1100" b="0" i="0">
                <a:solidFill>
                  <a:srgbClr val="334155"/>
                </a:solidFill>
                <a:latin typeface="Arial"/>
              </a:rPr>
              <a:t>atk_06 tests the auditor's own model against self-injection. With no API key the model has never been called, so it is reported N/A rather than as a pass.</a:t>
            </a:r>
          </a:p>
        </p:txBody>
      </p:sp>
      <p:sp>
        <p:nvSpPr>
          <p:cNvPr id="44" name="Rounded Rectangle 43"/>
          <p:cNvSpPr/>
          <p:nvPr/>
        </p:nvSpPr>
        <p:spPr>
          <a:xfrm>
            <a:off x="6885505" y="4892040"/>
            <a:ext cx="4647822" cy="1051560"/>
          </a:xfrm>
          <a:prstGeom prst="roundRect">
            <a:avLst>
              <a:gd name="adj" fmla="val 45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159825" y="5074920"/>
            <a:ext cx="4206240" cy="256032"/>
          </a:xfrm>
          <a:prstGeom prst="rect">
            <a:avLst/>
          </a:prstGeom>
          <a:noFill/>
        </p:spPr>
        <p:txBody>
          <a:bodyPr wrap="square" anchor="t" lIns="0" rIns="0" tIns="0" bIns="0">
            <a:spAutoFit/>
          </a:bodyPr>
          <a:lstStyle/>
          <a:p>
            <a:pPr algn="l">
              <a:lnSpc>
                <a:spcPct val="100000"/>
              </a:lnSpc>
            </a:pPr>
            <a:r>
              <a:rPr sz="1300" b="1" i="0">
                <a:solidFill>
                  <a:srgbClr val="FFFFFF"/>
                </a:solidFill>
                <a:latin typeface="Arial"/>
              </a:rPr>
              <a:t>Fail closed, everywhere</a:t>
            </a:r>
          </a:p>
        </p:txBody>
      </p:sp>
      <p:sp>
        <p:nvSpPr>
          <p:cNvPr id="46" name="TextBox 45"/>
          <p:cNvSpPr txBox="1"/>
          <p:nvPr/>
        </p:nvSpPr>
        <p:spPr>
          <a:xfrm>
            <a:off x="7159825" y="5404104"/>
            <a:ext cx="4099182" cy="457200"/>
          </a:xfrm>
          <a:prstGeom prst="rect">
            <a:avLst/>
          </a:prstGeom>
          <a:noFill/>
        </p:spPr>
        <p:txBody>
          <a:bodyPr wrap="square" anchor="t" lIns="0" rIns="0" tIns="0" bIns="0">
            <a:spAutoFit/>
          </a:bodyPr>
          <a:lstStyle/>
          <a:p>
            <a:pPr algn="l">
              <a:lnSpc>
                <a:spcPct val="115000"/>
              </a:lnSpc>
            </a:pPr>
            <a:r>
              <a:rPr sz="1100" b="0" i="0">
                <a:solidFill>
                  <a:srgbClr val="CBD5E1"/>
                </a:solidFill>
                <a:latin typeface="Arial"/>
              </a:rPr>
              <a:t>Every auditor failure path returns unavailable and steps up. Never approval.</a:t>
            </a:r>
          </a:p>
        </p:txBody>
      </p:sp>
      <p:sp>
        <p:nvSpPr>
          <p:cNvPr id="47" name="Rectangle 46"/>
          <p:cNvSpPr/>
          <p:nvPr/>
        </p:nvSpPr>
        <p:spPr>
          <a:xfrm>
            <a:off x="658368" y="6291072"/>
            <a:ext cx="10874959"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8368" y="6419088"/>
            <a:ext cx="7612471" cy="219456"/>
          </a:xfrm>
          <a:prstGeom prst="rect">
            <a:avLst/>
          </a:prstGeom>
          <a:noFill/>
        </p:spPr>
        <p:txBody>
          <a:bodyPr wrap="square" anchor="t" lIns="0" rIns="0" tIns="0" bIns="0">
            <a:spAutoFit/>
          </a:bodyPr>
          <a:lstStyle/>
          <a:p>
            <a:pPr algn="l">
              <a:lnSpc>
                <a:spcPct val="100000"/>
              </a:lnSpc>
            </a:pPr>
            <a:r>
              <a:rPr sz="950" b="0" i="0">
                <a:solidFill>
                  <a:srgbClr val="64748B"/>
                </a:solidFill>
                <a:latin typeface="Arial"/>
              </a:rPr>
              <a:t>Adversarial</a:t>
            </a:r>
          </a:p>
        </p:txBody>
      </p:sp>
      <p:sp>
        <p:nvSpPr>
          <p:cNvPr id="49" name="TextBox 48"/>
          <p:cNvSpPr txBox="1"/>
          <p:nvPr/>
        </p:nvSpPr>
        <p:spPr>
          <a:xfrm>
            <a:off x="10436047" y="6419088"/>
            <a:ext cx="1097280" cy="219456"/>
          </a:xfrm>
          <a:prstGeom prst="rect">
            <a:avLst/>
          </a:prstGeom>
          <a:noFill/>
        </p:spPr>
        <p:txBody>
          <a:bodyPr wrap="square" anchor="t" lIns="0" rIns="0" tIns="0" bIns="0">
            <a:spAutoFit/>
          </a:bodyPr>
          <a:lstStyle/>
          <a:p>
            <a:pPr algn="r">
              <a:lnSpc>
                <a:spcPct val="100000"/>
              </a:lnSpc>
            </a:pPr>
            <a:r>
              <a:rPr sz="950" b="0" i="0">
                <a:solidFill>
                  <a:srgbClr val="64748B"/>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10874959" cy="219456"/>
          </a:xfrm>
          <a:prstGeom prst="rect">
            <a:avLst/>
          </a:prstGeom>
          <a:noFill/>
        </p:spPr>
        <p:txBody>
          <a:bodyPr wrap="square" anchor="t" lIns="0" rIns="0" tIns="0" bIns="0">
            <a:spAutoFit/>
          </a:bodyPr>
          <a:lstStyle/>
          <a:p>
            <a:pPr algn="l">
              <a:lnSpc>
                <a:spcPct val="100000"/>
              </a:lnSpc>
            </a:pPr>
            <a:r>
              <a:rPr sz="1100" b="1" i="0">
                <a:solidFill>
                  <a:srgbClr val="6366F1"/>
                </a:solidFill>
                <a:latin typeface="Arial"/>
              </a:rPr>
              <a:t>WHEN IT GOES WRONG</a:t>
            </a:r>
          </a:p>
        </p:txBody>
      </p:sp>
      <p:sp>
        <p:nvSpPr>
          <p:cNvPr id="3" name="TextBox 2"/>
          <p:cNvSpPr txBox="1"/>
          <p:nvPr/>
        </p:nvSpPr>
        <p:spPr>
          <a:xfrm>
            <a:off x="658368" y="676656"/>
            <a:ext cx="10874959" cy="566928"/>
          </a:xfrm>
          <a:prstGeom prst="rect">
            <a:avLst/>
          </a:prstGeom>
          <a:noFill/>
        </p:spPr>
        <p:txBody>
          <a:bodyPr wrap="square" anchor="t" lIns="0" rIns="0" tIns="0" bIns="0">
            <a:spAutoFit/>
          </a:bodyPr>
          <a:lstStyle/>
          <a:p>
            <a:pPr algn="l">
              <a:lnSpc>
                <a:spcPct val="100000"/>
              </a:lnSpc>
            </a:pPr>
            <a:r>
              <a:rPr sz="2600" b="1" i="0">
                <a:solidFill>
                  <a:srgbClr val="0F172A"/>
                </a:solidFill>
                <a:latin typeface="Arial"/>
              </a:rPr>
              <a:t>Capture succeeds. Fulfilment does not. Nothing is lost quietly.</a:t>
            </a:r>
          </a:p>
        </p:txBody>
      </p:sp>
      <p:sp>
        <p:nvSpPr>
          <p:cNvPr id="4" name="TextBox 3"/>
          <p:cNvSpPr txBox="1"/>
          <p:nvPr/>
        </p:nvSpPr>
        <p:spPr>
          <a:xfrm>
            <a:off x="658368" y="1243584"/>
            <a:ext cx="9352464" cy="457200"/>
          </a:xfrm>
          <a:prstGeom prst="rect">
            <a:avLst/>
          </a:prstGeom>
          <a:noFill/>
        </p:spPr>
        <p:txBody>
          <a:bodyPr wrap="square" anchor="t" lIns="0" rIns="0" tIns="0" bIns="0">
            <a:spAutoFit/>
          </a:bodyPr>
          <a:lstStyle/>
          <a:p>
            <a:pPr algn="l">
              <a:lnSpc>
                <a:spcPct val="115000"/>
              </a:lnSpc>
            </a:pPr>
            <a:r>
              <a:rPr sz="1400" b="0" i="0">
                <a:solidFill>
                  <a:srgbClr val="64748B"/>
                </a:solidFill>
                <a:latin typeface="Arial"/>
              </a:rPr>
              <a:t>Compensations run in reverse, each idempotent, each retried three times.</a:t>
            </a:r>
          </a:p>
        </p:txBody>
      </p:sp>
      <p:sp>
        <p:nvSpPr>
          <p:cNvPr id="5" name="Rounded Rectangle 4"/>
          <p:cNvSpPr/>
          <p:nvPr/>
        </p:nvSpPr>
        <p:spPr>
          <a:xfrm>
            <a:off x="658368" y="2057400"/>
            <a:ext cx="1984796" cy="566928"/>
          </a:xfrm>
          <a:prstGeom prst="roundRect">
            <a:avLst>
              <a:gd name="adj" fmla="val 18000"/>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50" b="1">
                <a:solidFill>
                  <a:srgbClr val="10B981"/>
                </a:solidFill>
                <a:latin typeface="Arial"/>
              </a:rPr>
              <a:t>QUOTED</a:t>
            </a:r>
          </a:p>
        </p:txBody>
      </p:sp>
      <p:sp>
        <p:nvSpPr>
          <p:cNvPr id="6" name="Right Arrow 5"/>
          <p:cNvSpPr/>
          <p:nvPr/>
        </p:nvSpPr>
        <p:spPr>
          <a:xfrm>
            <a:off x="2688884" y="2276856"/>
            <a:ext cx="146304" cy="128016"/>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880908" y="2057400"/>
            <a:ext cx="1984796" cy="566928"/>
          </a:xfrm>
          <a:prstGeom prst="roundRect">
            <a:avLst>
              <a:gd name="adj" fmla="val 18000"/>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50" b="1">
                <a:solidFill>
                  <a:srgbClr val="10B981"/>
                </a:solidFill>
                <a:latin typeface="Arial"/>
              </a:rPr>
              <a:t>RESERVED_STOCK</a:t>
            </a:r>
          </a:p>
        </p:txBody>
      </p:sp>
      <p:sp>
        <p:nvSpPr>
          <p:cNvPr id="8" name="Right Arrow 7"/>
          <p:cNvSpPr/>
          <p:nvPr/>
        </p:nvSpPr>
        <p:spPr>
          <a:xfrm>
            <a:off x="4911425" y="2276856"/>
            <a:ext cx="146304" cy="128016"/>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03449" y="2057400"/>
            <a:ext cx="1984796" cy="566928"/>
          </a:xfrm>
          <a:prstGeom prst="roundRect">
            <a:avLst>
              <a:gd name="adj" fmla="val 18000"/>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50" b="1">
                <a:solidFill>
                  <a:srgbClr val="10B981"/>
                </a:solidFill>
                <a:latin typeface="Arial"/>
              </a:rPr>
              <a:t>GATE_ALLOWED</a:t>
            </a:r>
          </a:p>
        </p:txBody>
      </p:sp>
      <p:sp>
        <p:nvSpPr>
          <p:cNvPr id="10" name="Right Arrow 9"/>
          <p:cNvSpPr/>
          <p:nvPr/>
        </p:nvSpPr>
        <p:spPr>
          <a:xfrm>
            <a:off x="7133965" y="2276856"/>
            <a:ext cx="146304" cy="128016"/>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25989" y="2057400"/>
            <a:ext cx="1984796" cy="566928"/>
          </a:xfrm>
          <a:prstGeom prst="roundRect">
            <a:avLst>
              <a:gd name="adj" fmla="val 18000"/>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50" b="1">
                <a:solidFill>
                  <a:srgbClr val="10B981"/>
                </a:solidFill>
                <a:latin typeface="Arial"/>
              </a:rPr>
              <a:t>PAYMENT_CAPTURED</a:t>
            </a:r>
          </a:p>
        </p:txBody>
      </p:sp>
      <p:sp>
        <p:nvSpPr>
          <p:cNvPr id="12" name="Right Arrow 11"/>
          <p:cNvSpPr/>
          <p:nvPr/>
        </p:nvSpPr>
        <p:spPr>
          <a:xfrm>
            <a:off x="9356506" y="2276856"/>
            <a:ext cx="146304" cy="128016"/>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548530" y="2057400"/>
            <a:ext cx="1984796" cy="566928"/>
          </a:xfrm>
          <a:prstGeom prst="roundRect">
            <a:avLst>
              <a:gd name="adj" fmla="val 18000"/>
            </a:avLst>
          </a:prstGeom>
          <a:solidFill>
            <a:srgbClr val="FEF2F2"/>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50" b="1">
                <a:solidFill>
                  <a:srgbClr val="EF4444"/>
                </a:solidFill>
                <a:latin typeface="Arial"/>
              </a:rPr>
              <a:t>FULFILMENT  ✗</a:t>
            </a:r>
          </a:p>
        </p:txBody>
      </p:sp>
      <p:sp>
        <p:nvSpPr>
          <p:cNvPr id="14" name="Rounded Rectangle 13"/>
          <p:cNvSpPr/>
          <p:nvPr/>
        </p:nvSpPr>
        <p:spPr>
          <a:xfrm>
            <a:off x="658368" y="3200400"/>
            <a:ext cx="1984796" cy="566928"/>
          </a:xfrm>
          <a:prstGeom prst="roundRect">
            <a:avLst>
              <a:gd name="adj" fmla="val 18000"/>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50" b="1">
                <a:solidFill>
                  <a:srgbClr val="F59E0B"/>
                </a:solidFill>
                <a:latin typeface="Arial"/>
              </a:rPr>
              <a:t>ROLLING_BACK</a:t>
            </a:r>
          </a:p>
        </p:txBody>
      </p:sp>
      <p:sp>
        <p:nvSpPr>
          <p:cNvPr id="15" name="Right Arrow 14"/>
          <p:cNvSpPr/>
          <p:nvPr/>
        </p:nvSpPr>
        <p:spPr>
          <a:xfrm>
            <a:off x="2688884" y="3419856"/>
            <a:ext cx="146304" cy="128016"/>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880908" y="3200400"/>
            <a:ext cx="1984796" cy="566928"/>
          </a:xfrm>
          <a:prstGeom prst="roundRect">
            <a:avLst>
              <a:gd name="adj" fmla="val 18000"/>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50" b="1">
                <a:solidFill>
                  <a:srgbClr val="F59E0B"/>
                </a:solidFill>
                <a:latin typeface="Arial"/>
              </a:rPr>
              <a:t>REFUND_ISSUED</a:t>
            </a:r>
          </a:p>
        </p:txBody>
      </p:sp>
      <p:sp>
        <p:nvSpPr>
          <p:cNvPr id="17" name="Right Arrow 16"/>
          <p:cNvSpPr/>
          <p:nvPr/>
        </p:nvSpPr>
        <p:spPr>
          <a:xfrm>
            <a:off x="4911425" y="3419856"/>
            <a:ext cx="146304" cy="128016"/>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103449" y="3200400"/>
            <a:ext cx="1984796" cy="566928"/>
          </a:xfrm>
          <a:prstGeom prst="roundRect">
            <a:avLst>
              <a:gd name="adj" fmla="val 18000"/>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50" b="1">
                <a:solidFill>
                  <a:srgbClr val="F59E0B"/>
                </a:solidFill>
                <a:latin typeface="Arial"/>
              </a:rPr>
              <a:t>BUDGET_RELEASED</a:t>
            </a:r>
          </a:p>
        </p:txBody>
      </p:sp>
      <p:sp>
        <p:nvSpPr>
          <p:cNvPr id="19" name="Right Arrow 18"/>
          <p:cNvSpPr/>
          <p:nvPr/>
        </p:nvSpPr>
        <p:spPr>
          <a:xfrm>
            <a:off x="7133965" y="3419856"/>
            <a:ext cx="146304" cy="128016"/>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25989" y="3200400"/>
            <a:ext cx="1984796" cy="566928"/>
          </a:xfrm>
          <a:prstGeom prst="roundRect">
            <a:avLst>
              <a:gd name="adj" fmla="val 18000"/>
            </a:avLst>
          </a:prstGeom>
          <a:solidFill>
            <a:srgbClr val="EFF6FF"/>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50" b="1">
                <a:solidFill>
                  <a:srgbClr val="3B82F6"/>
                </a:solidFill>
                <a:latin typeface="Arial"/>
              </a:rPr>
              <a:t>ALTERNATIVE_OFFERED</a:t>
            </a:r>
          </a:p>
        </p:txBody>
      </p:sp>
      <p:sp>
        <p:nvSpPr>
          <p:cNvPr id="21" name="Right Arrow 20"/>
          <p:cNvSpPr/>
          <p:nvPr/>
        </p:nvSpPr>
        <p:spPr>
          <a:xfrm>
            <a:off x="9356506" y="3419856"/>
            <a:ext cx="146304" cy="128016"/>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548530" y="3200400"/>
            <a:ext cx="1984796" cy="566928"/>
          </a:xfrm>
          <a:prstGeom prst="roundRect">
            <a:avLst>
              <a:gd name="adj" fmla="val 18000"/>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050" b="1">
                <a:solidFill>
                  <a:srgbClr val="10B981"/>
                </a:solidFill>
                <a:latin typeface="Arial"/>
              </a:rPr>
              <a:t>RECOVERED</a:t>
            </a:r>
          </a:p>
        </p:txBody>
      </p:sp>
      <p:sp>
        <p:nvSpPr>
          <p:cNvPr id="23" name="Down Arrow 22"/>
          <p:cNvSpPr/>
          <p:nvPr/>
        </p:nvSpPr>
        <p:spPr>
          <a:xfrm>
            <a:off x="10458632" y="2679192"/>
            <a:ext cx="164592" cy="438912"/>
          </a:xfrm>
          <a:prstGeom prst="down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58368" y="4069080"/>
            <a:ext cx="3454298" cy="137160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58368" y="4069080"/>
            <a:ext cx="3454298" cy="4572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306824"/>
            <a:ext cx="2997098" cy="329184"/>
          </a:xfrm>
          <a:prstGeom prst="rect">
            <a:avLst/>
          </a:prstGeom>
          <a:noFill/>
        </p:spPr>
        <p:txBody>
          <a:bodyPr wrap="square" anchor="t" lIns="0" rIns="0" tIns="0" bIns="0">
            <a:spAutoFit/>
          </a:bodyPr>
          <a:lstStyle/>
          <a:p>
            <a:pPr algn="l">
              <a:lnSpc>
                <a:spcPct val="100000"/>
              </a:lnSpc>
            </a:pPr>
            <a:r>
              <a:rPr sz="1300" b="1" i="0">
                <a:solidFill>
                  <a:srgbClr val="0F172A"/>
                </a:solidFill>
                <a:latin typeface="Arial"/>
              </a:rPr>
              <a:t>The refund itself fails</a:t>
            </a:r>
          </a:p>
        </p:txBody>
      </p:sp>
      <p:sp>
        <p:nvSpPr>
          <p:cNvPr id="27" name="TextBox 26"/>
          <p:cNvSpPr txBox="1"/>
          <p:nvPr/>
        </p:nvSpPr>
        <p:spPr>
          <a:xfrm>
            <a:off x="914400" y="4727448"/>
            <a:ext cx="2997098" cy="658368"/>
          </a:xfrm>
          <a:prstGeom prst="rect">
            <a:avLst/>
          </a:prstGeom>
          <a:noFill/>
        </p:spPr>
        <p:txBody>
          <a:bodyPr wrap="square" anchor="t" lIns="0" rIns="0" tIns="0" bIns="0">
            <a:spAutoFit/>
          </a:bodyPr>
          <a:lstStyle/>
          <a:p>
            <a:pPr algn="l">
              <a:lnSpc>
                <a:spcPct val="118000"/>
              </a:lnSpc>
            </a:pPr>
            <a:r>
              <a:rPr sz="1050" b="0" i="0">
                <a:solidFill>
                  <a:srgbClr val="64748B"/>
                </a:solidFill>
                <a:latin typeface="Arial"/>
              </a:rPr>
              <a:t>Three retries, then the order parks in NEEDS_ATTENTION and is raised in the console. Never a silent swallow.</a:t>
            </a:r>
          </a:p>
        </p:txBody>
      </p:sp>
      <p:sp>
        <p:nvSpPr>
          <p:cNvPr id="28" name="Rounded Rectangle 27"/>
          <p:cNvSpPr/>
          <p:nvPr/>
        </p:nvSpPr>
        <p:spPr>
          <a:xfrm>
            <a:off x="4368698" y="4069080"/>
            <a:ext cx="3454298" cy="137160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368698" y="4069080"/>
            <a:ext cx="3454298" cy="457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24730" y="4306824"/>
            <a:ext cx="2997098" cy="329184"/>
          </a:xfrm>
          <a:prstGeom prst="rect">
            <a:avLst/>
          </a:prstGeom>
          <a:noFill/>
        </p:spPr>
        <p:txBody>
          <a:bodyPr wrap="square" anchor="t" lIns="0" rIns="0" tIns="0" bIns="0">
            <a:spAutoFit/>
          </a:bodyPr>
          <a:lstStyle/>
          <a:p>
            <a:pPr algn="l">
              <a:lnSpc>
                <a:spcPct val="100000"/>
              </a:lnSpc>
            </a:pPr>
            <a:r>
              <a:rPr sz="1300" b="1" i="0">
                <a:solidFill>
                  <a:srgbClr val="0F172A"/>
                </a:solidFill>
                <a:latin typeface="Arial"/>
              </a:rPr>
              <a:t>Recovery is a quote, not an order</a:t>
            </a:r>
          </a:p>
        </p:txBody>
      </p:sp>
      <p:sp>
        <p:nvSpPr>
          <p:cNvPr id="31" name="TextBox 30"/>
          <p:cNvSpPr txBox="1"/>
          <p:nvPr/>
        </p:nvSpPr>
        <p:spPr>
          <a:xfrm>
            <a:off x="4624730" y="4727448"/>
            <a:ext cx="2997098" cy="658368"/>
          </a:xfrm>
          <a:prstGeom prst="rect">
            <a:avLst/>
          </a:prstGeom>
          <a:noFill/>
        </p:spPr>
        <p:txBody>
          <a:bodyPr wrap="square" anchor="t" lIns="0" rIns="0" tIns="0" bIns="0">
            <a:spAutoFit/>
          </a:bodyPr>
          <a:lstStyle/>
          <a:p>
            <a:pPr algn="l">
              <a:lnSpc>
                <a:spcPct val="118000"/>
              </a:lnSpc>
            </a:pPr>
            <a:r>
              <a:rPr sz="1050" b="0" i="0">
                <a:solidFill>
                  <a:srgbClr val="64748B"/>
                </a:solidFill>
                <a:latin typeface="Arial"/>
              </a:rPr>
              <a:t>The buyer signs the replacement. The merchant holds no key and must never be able to spend on the buyer's behalf.</a:t>
            </a:r>
          </a:p>
        </p:txBody>
      </p:sp>
      <p:sp>
        <p:nvSpPr>
          <p:cNvPr id="32" name="Rounded Rectangle 31"/>
          <p:cNvSpPr/>
          <p:nvPr/>
        </p:nvSpPr>
        <p:spPr>
          <a:xfrm>
            <a:off x="8079028" y="4069080"/>
            <a:ext cx="3454298" cy="137160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8079028" y="4069080"/>
            <a:ext cx="3454298" cy="45720"/>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5060" y="4306824"/>
            <a:ext cx="2997098" cy="329184"/>
          </a:xfrm>
          <a:prstGeom prst="rect">
            <a:avLst/>
          </a:prstGeom>
          <a:noFill/>
        </p:spPr>
        <p:txBody>
          <a:bodyPr wrap="square" anchor="t" lIns="0" rIns="0" tIns="0" bIns="0">
            <a:spAutoFit/>
          </a:bodyPr>
          <a:lstStyle/>
          <a:p>
            <a:pPr algn="l">
              <a:lnSpc>
                <a:spcPct val="100000"/>
              </a:lnSpc>
            </a:pPr>
            <a:r>
              <a:rPr sz="1300" b="1" i="0">
                <a:solidFill>
                  <a:srgbClr val="0F172A"/>
                </a:solidFill>
                <a:latin typeface="Arial"/>
              </a:rPr>
              <a:t>The refund is not double-counted</a:t>
            </a:r>
          </a:p>
        </p:txBody>
      </p:sp>
      <p:sp>
        <p:nvSpPr>
          <p:cNvPr id="35" name="TextBox 34"/>
          <p:cNvSpPr txBox="1"/>
          <p:nvPr/>
        </p:nvSpPr>
        <p:spPr>
          <a:xfrm>
            <a:off x="8335060" y="4727448"/>
            <a:ext cx="2997098" cy="658368"/>
          </a:xfrm>
          <a:prstGeom prst="rect">
            <a:avLst/>
          </a:prstGeom>
          <a:noFill/>
        </p:spPr>
        <p:txBody>
          <a:bodyPr wrap="square" anchor="t" lIns="0" rIns="0" tIns="0" bIns="0">
            <a:spAutoFit/>
          </a:bodyPr>
          <a:lstStyle/>
          <a:p>
            <a:pPr algn="l">
              <a:lnSpc>
                <a:spcPct val="118000"/>
              </a:lnSpc>
            </a:pPr>
            <a:r>
              <a:rPr sz="1050" b="0" i="0">
                <a:solidFill>
                  <a:srgbClr val="64748B"/>
                </a:solidFill>
                <a:latin typeface="Arial"/>
              </a:rPr>
              <a:t>The replacement carries recovered_from, so recovery is revenue without the refunded original inflating GMV.</a:t>
            </a:r>
          </a:p>
        </p:txBody>
      </p:sp>
      <p:sp>
        <p:nvSpPr>
          <p:cNvPr id="36" name="Rounded Rectangle 35"/>
          <p:cNvSpPr/>
          <p:nvPr/>
        </p:nvSpPr>
        <p:spPr>
          <a:xfrm>
            <a:off x="658368" y="5577840"/>
            <a:ext cx="10874959" cy="640080"/>
          </a:xfrm>
          <a:prstGeom prst="roundRect">
            <a:avLst>
              <a:gd name="adj" fmla="val 4500"/>
            </a:avLst>
          </a:prstGeom>
          <a:solidFill>
            <a:srgbClr val="EEF2FF"/>
          </a:solidFill>
          <a:ln w="12700">
            <a:solidFill>
              <a:srgbClr val="6366F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8407" y="5760720"/>
            <a:ext cx="10234879" cy="310896"/>
          </a:xfrm>
          <a:prstGeom prst="rect">
            <a:avLst/>
          </a:prstGeom>
          <a:noFill/>
        </p:spPr>
        <p:txBody>
          <a:bodyPr wrap="square" anchor="t" lIns="0" rIns="0" tIns="0" bIns="0">
            <a:spAutoFit/>
          </a:bodyPr>
          <a:lstStyle/>
          <a:p>
            <a:pPr algn="l">
              <a:lnSpc>
                <a:spcPct val="100000"/>
              </a:lnSpc>
            </a:pPr>
            <a:r>
              <a:rPr sz="1200" b="1" i="0">
                <a:solidFill>
                  <a:srgbClr val="0F172A"/>
                </a:solidFill>
                <a:latin typeface="Consolas"/>
              </a:rPr>
              <a:t>test_a_failed_refund_parks_rather_than_losing_money_quietly  —  the test to point at when someone asks what happens if the refund fails.</a:t>
            </a:r>
          </a:p>
        </p:txBody>
      </p:sp>
      <p:sp>
        <p:nvSpPr>
          <p:cNvPr id="38" name="Rectangle 37"/>
          <p:cNvSpPr/>
          <p:nvPr/>
        </p:nvSpPr>
        <p:spPr>
          <a:xfrm>
            <a:off x="658368" y="6291072"/>
            <a:ext cx="10874959"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6419088"/>
            <a:ext cx="7612471" cy="219456"/>
          </a:xfrm>
          <a:prstGeom prst="rect">
            <a:avLst/>
          </a:prstGeom>
          <a:noFill/>
        </p:spPr>
        <p:txBody>
          <a:bodyPr wrap="square" anchor="t" lIns="0" rIns="0" tIns="0" bIns="0">
            <a:spAutoFit/>
          </a:bodyPr>
          <a:lstStyle/>
          <a:p>
            <a:pPr algn="l">
              <a:lnSpc>
                <a:spcPct val="100000"/>
              </a:lnSpc>
            </a:pPr>
            <a:r>
              <a:rPr sz="950" b="0" i="0">
                <a:solidFill>
                  <a:srgbClr val="64748B"/>
                </a:solidFill>
                <a:latin typeface="Arial"/>
              </a:rPr>
              <a:t>When it goes wrong</a:t>
            </a:r>
          </a:p>
        </p:txBody>
      </p:sp>
      <p:sp>
        <p:nvSpPr>
          <p:cNvPr id="40" name="TextBox 39"/>
          <p:cNvSpPr txBox="1"/>
          <p:nvPr/>
        </p:nvSpPr>
        <p:spPr>
          <a:xfrm>
            <a:off x="10436047" y="6419088"/>
            <a:ext cx="1097280" cy="219456"/>
          </a:xfrm>
          <a:prstGeom prst="rect">
            <a:avLst/>
          </a:prstGeom>
          <a:noFill/>
        </p:spPr>
        <p:txBody>
          <a:bodyPr wrap="square" anchor="t" lIns="0" rIns="0" tIns="0" bIns="0">
            <a:spAutoFit/>
          </a:bodyPr>
          <a:lstStyle/>
          <a:p>
            <a:pPr algn="r">
              <a:lnSpc>
                <a:spcPct val="100000"/>
              </a:lnSpc>
            </a:pPr>
            <a:r>
              <a:rPr sz="950" b="0" i="0">
                <a:solidFill>
                  <a:srgbClr val="64748B"/>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10874959" cy="219456"/>
          </a:xfrm>
          <a:prstGeom prst="rect">
            <a:avLst/>
          </a:prstGeom>
          <a:noFill/>
        </p:spPr>
        <p:txBody>
          <a:bodyPr wrap="square" anchor="t" lIns="0" rIns="0" tIns="0" bIns="0">
            <a:spAutoFit/>
          </a:bodyPr>
          <a:lstStyle/>
          <a:p>
            <a:pPr algn="l">
              <a:lnSpc>
                <a:spcPct val="100000"/>
              </a:lnSpc>
            </a:pPr>
            <a:r>
              <a:rPr sz="1100" b="1" i="0">
                <a:solidFill>
                  <a:srgbClr val="6366F1"/>
                </a:solidFill>
                <a:latin typeface="Arial"/>
              </a:rPr>
              <a:t>ON STAGE</a:t>
            </a:r>
          </a:p>
        </p:txBody>
      </p:sp>
      <p:sp>
        <p:nvSpPr>
          <p:cNvPr id="3" name="TextBox 2"/>
          <p:cNvSpPr txBox="1"/>
          <p:nvPr/>
        </p:nvSpPr>
        <p:spPr>
          <a:xfrm>
            <a:off x="658368" y="676656"/>
            <a:ext cx="10874959" cy="566928"/>
          </a:xfrm>
          <a:prstGeom prst="rect">
            <a:avLst/>
          </a:prstGeom>
          <a:noFill/>
        </p:spPr>
        <p:txBody>
          <a:bodyPr wrap="square" anchor="t" lIns="0" rIns="0" tIns="0" bIns="0">
            <a:spAutoFit/>
          </a:bodyPr>
          <a:lstStyle/>
          <a:p>
            <a:pPr algn="l">
              <a:lnSpc>
                <a:spcPct val="100000"/>
              </a:lnSpc>
            </a:pPr>
            <a:r>
              <a:rPr sz="3000" b="1" i="0">
                <a:solidFill>
                  <a:srgbClr val="0F172A"/>
                </a:solidFill>
                <a:latin typeface="Arial"/>
              </a:rPr>
              <a:t>Six beats. About a minute. Nothing is typed.</a:t>
            </a:r>
          </a:p>
        </p:txBody>
      </p:sp>
      <p:sp>
        <p:nvSpPr>
          <p:cNvPr id="4" name="TextBox 3"/>
          <p:cNvSpPr txBox="1"/>
          <p:nvPr/>
        </p:nvSpPr>
        <p:spPr>
          <a:xfrm>
            <a:off x="658368" y="1243584"/>
            <a:ext cx="9352464" cy="457200"/>
          </a:xfrm>
          <a:prstGeom prst="rect">
            <a:avLst/>
          </a:prstGeom>
          <a:noFill/>
        </p:spPr>
        <p:txBody>
          <a:bodyPr wrap="square" anchor="t" lIns="0" rIns="0" tIns="0" bIns="0">
            <a:spAutoFit/>
          </a:bodyPr>
          <a:lstStyle/>
          <a:p>
            <a:pPr algn="l">
              <a:lnSpc>
                <a:spcPct val="115000"/>
              </a:lnSpc>
            </a:pPr>
            <a:r>
              <a:rPr sz="1400" b="0" i="0">
                <a:solidFill>
                  <a:srgbClr val="64748B"/>
                </a:solidFill>
                <a:latin typeface="Arial"/>
              </a:rPr>
              <a:t>Press 1 to 6 in the console. Every beat asserts what it is meant to prove, not a 200.</a:t>
            </a:r>
          </a:p>
        </p:txBody>
      </p:sp>
      <p:sp>
        <p:nvSpPr>
          <p:cNvPr id="5" name="Rounded Rectangle 4"/>
          <p:cNvSpPr/>
          <p:nvPr/>
        </p:nvSpPr>
        <p:spPr>
          <a:xfrm>
            <a:off x="658368" y="1965960"/>
            <a:ext cx="5300319" cy="91440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859536" y="2167128"/>
            <a:ext cx="512064" cy="512064"/>
          </a:xfrm>
          <a:prstGeom prst="roundRect">
            <a:avLst>
              <a:gd name="adj" fmla="val 16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rial"/>
              </a:rPr>
              <a:t>1</a:t>
            </a:r>
          </a:p>
        </p:txBody>
      </p:sp>
      <p:sp>
        <p:nvSpPr>
          <p:cNvPr id="7" name="TextBox 6"/>
          <p:cNvSpPr txBox="1"/>
          <p:nvPr/>
        </p:nvSpPr>
        <p:spPr>
          <a:xfrm>
            <a:off x="1527048" y="2148840"/>
            <a:ext cx="4203039" cy="274320"/>
          </a:xfrm>
          <a:prstGeom prst="rect">
            <a:avLst/>
          </a:prstGeom>
          <a:noFill/>
        </p:spPr>
        <p:txBody>
          <a:bodyPr wrap="square" anchor="t" lIns="0" rIns="0" tIns="0" bIns="0">
            <a:spAutoFit/>
          </a:bodyPr>
          <a:lstStyle/>
          <a:p>
            <a:pPr algn="l">
              <a:lnSpc>
                <a:spcPct val="100000"/>
              </a:lnSpc>
            </a:pPr>
            <a:r>
              <a:rPr sz="1350" b="1" i="0">
                <a:solidFill>
                  <a:srgbClr val="0F172A"/>
                </a:solidFill>
                <a:latin typeface="Arial"/>
              </a:rPr>
              <a:t>Happy path</a:t>
            </a:r>
          </a:p>
        </p:txBody>
      </p:sp>
      <p:sp>
        <p:nvSpPr>
          <p:cNvPr id="8" name="TextBox 7"/>
          <p:cNvSpPr txBox="1"/>
          <p:nvPr/>
        </p:nvSpPr>
        <p:spPr>
          <a:xfrm>
            <a:off x="1527048" y="2459736"/>
            <a:ext cx="4203039" cy="402336"/>
          </a:xfrm>
          <a:prstGeom prst="rect">
            <a:avLst/>
          </a:prstGeom>
          <a:noFill/>
        </p:spPr>
        <p:txBody>
          <a:bodyPr wrap="square" anchor="t" lIns="0" rIns="0" tIns="0" bIns="0">
            <a:spAutoFit/>
          </a:bodyPr>
          <a:lstStyle/>
          <a:p>
            <a:pPr algn="l">
              <a:lnSpc>
                <a:spcPct val="115000"/>
              </a:lnSpc>
            </a:pPr>
            <a:r>
              <a:rPr sz="1050" b="0" i="0">
                <a:solidFill>
                  <a:srgbClr val="64748B"/>
                </a:solidFill>
                <a:latin typeface="Arial"/>
              </a:rPr>
              <a:t>Agent buys end to end. Discovery, mandate, quote, gate, settlement — and every check on screen, including the ones that were skipped.</a:t>
            </a:r>
          </a:p>
        </p:txBody>
      </p:sp>
      <p:sp>
        <p:nvSpPr>
          <p:cNvPr id="9" name="Rounded Rectangle 8"/>
          <p:cNvSpPr/>
          <p:nvPr/>
        </p:nvSpPr>
        <p:spPr>
          <a:xfrm>
            <a:off x="6233007" y="1965960"/>
            <a:ext cx="5300319" cy="91440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6434175" y="2167128"/>
            <a:ext cx="512064" cy="512064"/>
          </a:xfrm>
          <a:prstGeom prst="roundRect">
            <a:avLst>
              <a:gd name="adj" fmla="val 16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rial"/>
              </a:rPr>
              <a:t>2</a:t>
            </a:r>
          </a:p>
        </p:txBody>
      </p:sp>
      <p:sp>
        <p:nvSpPr>
          <p:cNvPr id="11" name="TextBox 10"/>
          <p:cNvSpPr txBox="1"/>
          <p:nvPr/>
        </p:nvSpPr>
        <p:spPr>
          <a:xfrm>
            <a:off x="7101687" y="2148840"/>
            <a:ext cx="4203039" cy="274320"/>
          </a:xfrm>
          <a:prstGeom prst="rect">
            <a:avLst/>
          </a:prstGeom>
          <a:noFill/>
        </p:spPr>
        <p:txBody>
          <a:bodyPr wrap="square" anchor="t" lIns="0" rIns="0" tIns="0" bIns="0">
            <a:spAutoFit/>
          </a:bodyPr>
          <a:lstStyle/>
          <a:p>
            <a:pPr algn="l">
              <a:lnSpc>
                <a:spcPct val="100000"/>
              </a:lnSpc>
            </a:pPr>
            <a:r>
              <a:rPr sz="1350" b="1" i="0">
                <a:solidFill>
                  <a:srgbClr val="0F172A"/>
                </a:solidFill>
                <a:latin typeface="Arial"/>
              </a:rPr>
              <a:t>Headroom upsell</a:t>
            </a:r>
          </a:p>
        </p:txBody>
      </p:sp>
      <p:sp>
        <p:nvSpPr>
          <p:cNvPr id="12" name="TextBox 11"/>
          <p:cNvSpPr txBox="1"/>
          <p:nvPr/>
        </p:nvSpPr>
        <p:spPr>
          <a:xfrm>
            <a:off x="7101687" y="2459736"/>
            <a:ext cx="4203039" cy="402336"/>
          </a:xfrm>
          <a:prstGeom prst="rect">
            <a:avLst/>
          </a:prstGeom>
          <a:noFill/>
        </p:spPr>
        <p:txBody>
          <a:bodyPr wrap="square" anchor="t" lIns="0" rIns="0" tIns="0" bIns="0">
            <a:spAutoFit/>
          </a:bodyPr>
          <a:lstStyle/>
          <a:p>
            <a:pPr algn="l">
              <a:lnSpc>
                <a:spcPct val="115000"/>
              </a:lnSpc>
            </a:pPr>
            <a:r>
              <a:rPr sz="1050" b="0" i="0">
                <a:solidFill>
                  <a:srgbClr val="64748B"/>
                </a:solidFill>
                <a:latin typeface="Arial"/>
              </a:rPr>
              <a:t>An offer sized to what is left. Made, and accepted.</a:t>
            </a:r>
          </a:p>
        </p:txBody>
      </p:sp>
      <p:sp>
        <p:nvSpPr>
          <p:cNvPr id="13" name="Rounded Rectangle 12"/>
          <p:cNvSpPr/>
          <p:nvPr/>
        </p:nvSpPr>
        <p:spPr>
          <a:xfrm>
            <a:off x="658368" y="3026663"/>
            <a:ext cx="5300319" cy="91440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859536" y="3227832"/>
            <a:ext cx="512064" cy="512064"/>
          </a:xfrm>
          <a:prstGeom prst="roundRect">
            <a:avLst>
              <a:gd name="adj" fmla="val 16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rial"/>
              </a:rPr>
              <a:t>3</a:t>
            </a:r>
          </a:p>
        </p:txBody>
      </p:sp>
      <p:sp>
        <p:nvSpPr>
          <p:cNvPr id="15" name="TextBox 14"/>
          <p:cNvSpPr txBox="1"/>
          <p:nvPr/>
        </p:nvSpPr>
        <p:spPr>
          <a:xfrm>
            <a:off x="1527048" y="3209544"/>
            <a:ext cx="4203039" cy="274320"/>
          </a:xfrm>
          <a:prstGeom prst="rect">
            <a:avLst/>
          </a:prstGeom>
          <a:noFill/>
        </p:spPr>
        <p:txBody>
          <a:bodyPr wrap="square" anchor="t" lIns="0" rIns="0" tIns="0" bIns="0">
            <a:spAutoFit/>
          </a:bodyPr>
          <a:lstStyle/>
          <a:p>
            <a:pPr algn="l">
              <a:lnSpc>
                <a:spcPct val="100000"/>
              </a:lnSpc>
            </a:pPr>
            <a:r>
              <a:rPr sz="1350" b="1" i="0">
                <a:solidFill>
                  <a:srgbClr val="0F172A"/>
                </a:solidFill>
                <a:latin typeface="Arial"/>
              </a:rPr>
              <a:t>Naive upsell</a:t>
            </a:r>
          </a:p>
        </p:txBody>
      </p:sp>
      <p:sp>
        <p:nvSpPr>
          <p:cNvPr id="16" name="TextBox 15"/>
          <p:cNvSpPr txBox="1"/>
          <p:nvPr/>
        </p:nvSpPr>
        <p:spPr>
          <a:xfrm>
            <a:off x="1527048" y="3520439"/>
            <a:ext cx="4203039" cy="402336"/>
          </a:xfrm>
          <a:prstGeom prst="rect">
            <a:avLst/>
          </a:prstGeom>
          <a:noFill/>
        </p:spPr>
        <p:txBody>
          <a:bodyPr wrap="square" anchor="t" lIns="0" rIns="0" tIns="0" bIns="0">
            <a:spAutoFit/>
          </a:bodyPr>
          <a:lstStyle/>
          <a:p>
            <a:pPr algn="l">
              <a:lnSpc>
                <a:spcPct val="115000"/>
              </a:lnSpc>
            </a:pPr>
            <a:r>
              <a:rPr sz="1050" b="0" i="0">
                <a:solidFill>
                  <a:srgbClr val="64748B"/>
                </a:solidFill>
                <a:latin typeface="Arial"/>
              </a:rPr>
              <a:t>The same offer without headroom. The gate rejects it — this beat has to fail, or the contrast is not there.</a:t>
            </a:r>
          </a:p>
        </p:txBody>
      </p:sp>
      <p:sp>
        <p:nvSpPr>
          <p:cNvPr id="17" name="Rounded Rectangle 16"/>
          <p:cNvSpPr/>
          <p:nvPr/>
        </p:nvSpPr>
        <p:spPr>
          <a:xfrm>
            <a:off x="6233007" y="3026663"/>
            <a:ext cx="5300319" cy="91440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6434175" y="3227832"/>
            <a:ext cx="512064" cy="512064"/>
          </a:xfrm>
          <a:prstGeom prst="roundRect">
            <a:avLst>
              <a:gd name="adj" fmla="val 16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rial"/>
              </a:rPr>
              <a:t>4</a:t>
            </a:r>
          </a:p>
        </p:txBody>
      </p:sp>
      <p:sp>
        <p:nvSpPr>
          <p:cNvPr id="19" name="TextBox 18"/>
          <p:cNvSpPr txBox="1"/>
          <p:nvPr/>
        </p:nvSpPr>
        <p:spPr>
          <a:xfrm>
            <a:off x="7101687" y="3209544"/>
            <a:ext cx="4203039" cy="274320"/>
          </a:xfrm>
          <a:prstGeom prst="rect">
            <a:avLst/>
          </a:prstGeom>
          <a:noFill/>
        </p:spPr>
        <p:txBody>
          <a:bodyPr wrap="square" anchor="t" lIns="0" rIns="0" tIns="0" bIns="0">
            <a:spAutoFit/>
          </a:bodyPr>
          <a:lstStyle/>
          <a:p>
            <a:pPr algn="l">
              <a:lnSpc>
                <a:spcPct val="100000"/>
              </a:lnSpc>
            </a:pPr>
            <a:r>
              <a:rPr sz="1350" b="1" i="0">
                <a:solidFill>
                  <a:srgbClr val="0F172A"/>
                </a:solidFill>
                <a:latin typeface="Arial"/>
              </a:rPr>
              <a:t>Attacks, rapid fire</a:t>
            </a:r>
          </a:p>
        </p:txBody>
      </p:sp>
      <p:sp>
        <p:nvSpPr>
          <p:cNvPr id="20" name="TextBox 19"/>
          <p:cNvSpPr txBox="1"/>
          <p:nvPr/>
        </p:nvSpPr>
        <p:spPr>
          <a:xfrm>
            <a:off x="7101687" y="3520439"/>
            <a:ext cx="4203039" cy="402336"/>
          </a:xfrm>
          <a:prstGeom prst="rect">
            <a:avLst/>
          </a:prstGeom>
          <a:noFill/>
        </p:spPr>
        <p:txBody>
          <a:bodyPr wrap="square" anchor="t" lIns="0" rIns="0" tIns="0" bIns="0">
            <a:spAutoFit/>
          </a:bodyPr>
          <a:lstStyle/>
          <a:p>
            <a:pPr algn="l">
              <a:lnSpc>
                <a:spcPct val="115000"/>
              </a:lnSpc>
            </a:pPr>
            <a:r>
              <a:rPr sz="1050" b="0" i="0">
                <a:solidFill>
                  <a:srgbClr val="64748B"/>
                </a:solidFill>
                <a:latin typeface="Arial"/>
              </a:rPr>
              <a:t>Redirect, price hallucination, replay, slicing, injection. Each refused by a named check.</a:t>
            </a:r>
          </a:p>
        </p:txBody>
      </p:sp>
      <p:sp>
        <p:nvSpPr>
          <p:cNvPr id="21" name="Rounded Rectangle 20"/>
          <p:cNvSpPr/>
          <p:nvPr/>
        </p:nvSpPr>
        <p:spPr>
          <a:xfrm>
            <a:off x="658368" y="4087368"/>
            <a:ext cx="5300319" cy="91440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859536" y="4288536"/>
            <a:ext cx="512064" cy="512064"/>
          </a:xfrm>
          <a:prstGeom prst="roundRect">
            <a:avLst>
              <a:gd name="adj" fmla="val 16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rial"/>
              </a:rPr>
              <a:t>5</a:t>
            </a:r>
          </a:p>
        </p:txBody>
      </p:sp>
      <p:sp>
        <p:nvSpPr>
          <p:cNvPr id="23" name="TextBox 22"/>
          <p:cNvSpPr txBox="1"/>
          <p:nvPr/>
        </p:nvSpPr>
        <p:spPr>
          <a:xfrm>
            <a:off x="1527048" y="4270248"/>
            <a:ext cx="4203039" cy="274320"/>
          </a:xfrm>
          <a:prstGeom prst="rect">
            <a:avLst/>
          </a:prstGeom>
          <a:noFill/>
        </p:spPr>
        <p:txBody>
          <a:bodyPr wrap="square" anchor="t" lIns="0" rIns="0" tIns="0" bIns="0">
            <a:spAutoFit/>
          </a:bodyPr>
          <a:lstStyle/>
          <a:p>
            <a:pPr algn="l">
              <a:lnSpc>
                <a:spcPct val="100000"/>
              </a:lnSpc>
            </a:pPr>
            <a:r>
              <a:rPr sz="1350" b="1" i="0">
                <a:solidFill>
                  <a:srgbClr val="0F172A"/>
                </a:solidFill>
                <a:latin typeface="Arial"/>
              </a:rPr>
              <a:t>Stockout and recovery</a:t>
            </a:r>
          </a:p>
        </p:txBody>
      </p:sp>
      <p:sp>
        <p:nvSpPr>
          <p:cNvPr id="24" name="TextBox 23"/>
          <p:cNvSpPr txBox="1"/>
          <p:nvPr/>
        </p:nvSpPr>
        <p:spPr>
          <a:xfrm>
            <a:off x="1527048" y="4581144"/>
            <a:ext cx="4203039" cy="402336"/>
          </a:xfrm>
          <a:prstGeom prst="rect">
            <a:avLst/>
          </a:prstGeom>
          <a:noFill/>
        </p:spPr>
        <p:txBody>
          <a:bodyPr wrap="square" anchor="t" lIns="0" rIns="0" tIns="0" bIns="0">
            <a:spAutoFit/>
          </a:bodyPr>
          <a:lstStyle/>
          <a:p>
            <a:pPr algn="l">
              <a:lnSpc>
                <a:spcPct val="115000"/>
              </a:lnSpc>
            </a:pPr>
            <a:r>
              <a:rPr sz="1050" b="0" i="0">
                <a:solidFill>
                  <a:srgbClr val="64748B"/>
                </a:solidFill>
                <a:latin typeface="Arial"/>
              </a:rPr>
              <a:t>Refund, budget released, alternative signed, RECOVERED.</a:t>
            </a:r>
          </a:p>
        </p:txBody>
      </p:sp>
      <p:sp>
        <p:nvSpPr>
          <p:cNvPr id="25" name="Rounded Rectangle 24"/>
          <p:cNvSpPr/>
          <p:nvPr/>
        </p:nvSpPr>
        <p:spPr>
          <a:xfrm>
            <a:off x="6233007" y="4087368"/>
            <a:ext cx="5300319" cy="91440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434175" y="4288536"/>
            <a:ext cx="512064" cy="512064"/>
          </a:xfrm>
          <a:prstGeom prst="roundRect">
            <a:avLst>
              <a:gd name="adj" fmla="val 16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rial"/>
              </a:rPr>
              <a:t>6</a:t>
            </a:r>
          </a:p>
        </p:txBody>
      </p:sp>
      <p:sp>
        <p:nvSpPr>
          <p:cNvPr id="27" name="TextBox 26"/>
          <p:cNvSpPr txBox="1"/>
          <p:nvPr/>
        </p:nvSpPr>
        <p:spPr>
          <a:xfrm>
            <a:off x="7101687" y="4270248"/>
            <a:ext cx="4203039" cy="274320"/>
          </a:xfrm>
          <a:prstGeom prst="rect">
            <a:avLst/>
          </a:prstGeom>
          <a:noFill/>
        </p:spPr>
        <p:txBody>
          <a:bodyPr wrap="square" anchor="t" lIns="0" rIns="0" tIns="0" bIns="0">
            <a:spAutoFit/>
          </a:bodyPr>
          <a:lstStyle/>
          <a:p>
            <a:pPr algn="l">
              <a:lnSpc>
                <a:spcPct val="100000"/>
              </a:lnSpc>
            </a:pPr>
            <a:r>
              <a:rPr sz="1350" b="1" i="0">
                <a:solidFill>
                  <a:srgbClr val="0F172A"/>
                </a:solidFill>
                <a:latin typeface="Arial"/>
              </a:rPr>
              <a:t>Duplicate webhook</a:t>
            </a:r>
          </a:p>
        </p:txBody>
      </p:sp>
      <p:sp>
        <p:nvSpPr>
          <p:cNvPr id="28" name="TextBox 27"/>
          <p:cNvSpPr txBox="1"/>
          <p:nvPr/>
        </p:nvSpPr>
        <p:spPr>
          <a:xfrm>
            <a:off x="7101687" y="4581144"/>
            <a:ext cx="4203039" cy="402336"/>
          </a:xfrm>
          <a:prstGeom prst="rect">
            <a:avLst/>
          </a:prstGeom>
          <a:noFill/>
        </p:spPr>
        <p:txBody>
          <a:bodyPr wrap="square" anchor="t" lIns="0" rIns="0" tIns="0" bIns="0">
            <a:spAutoFit/>
          </a:bodyPr>
          <a:lstStyle/>
          <a:p>
            <a:pPr algn="l">
              <a:lnSpc>
                <a:spcPct val="115000"/>
              </a:lnSpc>
            </a:pPr>
            <a:r>
              <a:rPr sz="1050" b="0" i="0">
                <a:solidFill>
                  <a:srgbClr val="64748B"/>
                </a:solidFill>
                <a:latin typeface="Arial"/>
              </a:rPr>
              <a:t>It arrives twice. Nothing happens.</a:t>
            </a:r>
          </a:p>
        </p:txBody>
      </p:sp>
      <p:sp>
        <p:nvSpPr>
          <p:cNvPr id="29" name="Rounded Rectangle 28"/>
          <p:cNvSpPr/>
          <p:nvPr/>
        </p:nvSpPr>
        <p:spPr>
          <a:xfrm>
            <a:off x="658368" y="5349240"/>
            <a:ext cx="3454298" cy="868680"/>
          </a:xfrm>
          <a:prstGeom prst="roundRect">
            <a:avLst>
              <a:gd name="adj" fmla="val 45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96112" y="5495544"/>
            <a:ext cx="1463040" cy="310896"/>
          </a:xfrm>
          <a:prstGeom prst="rect">
            <a:avLst/>
          </a:prstGeom>
          <a:noFill/>
        </p:spPr>
        <p:txBody>
          <a:bodyPr wrap="square" anchor="t" lIns="0" rIns="0" tIns="0" bIns="0">
            <a:spAutoFit/>
          </a:bodyPr>
          <a:lstStyle/>
          <a:p>
            <a:pPr algn="l">
              <a:lnSpc>
                <a:spcPct val="100000"/>
              </a:lnSpc>
            </a:pPr>
            <a:r>
              <a:rPr sz="2000" b="1" i="0">
                <a:solidFill>
                  <a:srgbClr val="6366F1"/>
                </a:solidFill>
                <a:latin typeface="Arial"/>
              </a:rPr>
              <a:t>56 s</a:t>
            </a:r>
          </a:p>
        </p:txBody>
      </p:sp>
      <p:sp>
        <p:nvSpPr>
          <p:cNvPr id="31" name="TextBox 30"/>
          <p:cNvSpPr txBox="1"/>
          <p:nvPr/>
        </p:nvSpPr>
        <p:spPr>
          <a:xfrm>
            <a:off x="896112" y="5852159"/>
            <a:ext cx="2997098" cy="292608"/>
          </a:xfrm>
          <a:prstGeom prst="rect">
            <a:avLst/>
          </a:prstGeom>
          <a:noFill/>
        </p:spPr>
        <p:txBody>
          <a:bodyPr wrap="square" anchor="t" lIns="0" rIns="0" tIns="0" bIns="0">
            <a:spAutoFit/>
          </a:bodyPr>
          <a:lstStyle/>
          <a:p>
            <a:pPr algn="l">
              <a:lnSpc>
                <a:spcPct val="110000"/>
              </a:lnSpc>
            </a:pPr>
            <a:r>
              <a:rPr sz="1000" b="0" i="0">
                <a:solidFill>
                  <a:srgbClr val="64748B"/>
                </a:solidFill>
                <a:latin typeface="Arial"/>
              </a:rPr>
              <a:t>backup video, committed and re-recorded by CI</a:t>
            </a:r>
          </a:p>
        </p:txBody>
      </p:sp>
      <p:sp>
        <p:nvSpPr>
          <p:cNvPr id="32" name="Rounded Rectangle 31"/>
          <p:cNvSpPr/>
          <p:nvPr/>
        </p:nvSpPr>
        <p:spPr>
          <a:xfrm>
            <a:off x="4368698" y="5349240"/>
            <a:ext cx="3454298" cy="868680"/>
          </a:xfrm>
          <a:prstGeom prst="roundRect">
            <a:avLst>
              <a:gd name="adj" fmla="val 45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606442" y="5495544"/>
            <a:ext cx="1463040" cy="310896"/>
          </a:xfrm>
          <a:prstGeom prst="rect">
            <a:avLst/>
          </a:prstGeom>
          <a:noFill/>
        </p:spPr>
        <p:txBody>
          <a:bodyPr wrap="square" anchor="t" lIns="0" rIns="0" tIns="0" bIns="0">
            <a:spAutoFit/>
          </a:bodyPr>
          <a:lstStyle/>
          <a:p>
            <a:pPr algn="l">
              <a:lnSpc>
                <a:spcPct val="100000"/>
              </a:lnSpc>
            </a:pPr>
            <a:r>
              <a:rPr sz="2000" b="1" i="0">
                <a:solidFill>
                  <a:srgbClr val="10B981"/>
                </a:solidFill>
                <a:latin typeface="Arial"/>
              </a:rPr>
              <a:t>6</a:t>
            </a:r>
          </a:p>
        </p:txBody>
      </p:sp>
      <p:sp>
        <p:nvSpPr>
          <p:cNvPr id="34" name="TextBox 33"/>
          <p:cNvSpPr txBox="1"/>
          <p:nvPr/>
        </p:nvSpPr>
        <p:spPr>
          <a:xfrm>
            <a:off x="4606442" y="5852159"/>
            <a:ext cx="2997098" cy="292608"/>
          </a:xfrm>
          <a:prstGeom prst="rect">
            <a:avLst/>
          </a:prstGeom>
          <a:noFill/>
        </p:spPr>
        <p:txBody>
          <a:bodyPr wrap="square" anchor="t" lIns="0" rIns="0" tIns="0" bIns="0">
            <a:spAutoFit/>
          </a:bodyPr>
          <a:lstStyle/>
          <a:p>
            <a:pPr algn="l">
              <a:lnSpc>
                <a:spcPct val="110000"/>
              </a:lnSpc>
            </a:pPr>
            <a:r>
              <a:rPr sz="1000" b="0" i="0">
                <a:solidFill>
                  <a:srgbClr val="64748B"/>
                </a:solidFill>
                <a:latin typeface="Arial"/>
              </a:rPr>
              <a:t>clean rehearsal takes, automated</a:t>
            </a:r>
          </a:p>
        </p:txBody>
      </p:sp>
      <p:sp>
        <p:nvSpPr>
          <p:cNvPr id="35" name="Rounded Rectangle 34"/>
          <p:cNvSpPr/>
          <p:nvPr/>
        </p:nvSpPr>
        <p:spPr>
          <a:xfrm>
            <a:off x="8079028" y="5349240"/>
            <a:ext cx="3454298" cy="868680"/>
          </a:xfrm>
          <a:prstGeom prst="roundRect">
            <a:avLst>
              <a:gd name="adj" fmla="val 45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316772" y="5495544"/>
            <a:ext cx="1463040" cy="310896"/>
          </a:xfrm>
          <a:prstGeom prst="rect">
            <a:avLst/>
          </a:prstGeom>
          <a:noFill/>
        </p:spPr>
        <p:txBody>
          <a:bodyPr wrap="square" anchor="t" lIns="0" rIns="0" tIns="0" bIns="0">
            <a:spAutoFit/>
          </a:bodyPr>
          <a:lstStyle/>
          <a:p>
            <a:pPr algn="l">
              <a:lnSpc>
                <a:spcPct val="100000"/>
              </a:lnSpc>
            </a:pPr>
            <a:r>
              <a:rPr sz="2000" b="1" i="0">
                <a:solidFill>
                  <a:srgbClr val="3B82F6"/>
                </a:solidFill>
                <a:latin typeface="Arial"/>
              </a:rPr>
              <a:t>1</a:t>
            </a:r>
          </a:p>
        </p:txBody>
      </p:sp>
      <p:sp>
        <p:nvSpPr>
          <p:cNvPr id="37" name="TextBox 36"/>
          <p:cNvSpPr txBox="1"/>
          <p:nvPr/>
        </p:nvSpPr>
        <p:spPr>
          <a:xfrm>
            <a:off x="8316772" y="5852159"/>
            <a:ext cx="2997098" cy="292608"/>
          </a:xfrm>
          <a:prstGeom prst="rect">
            <a:avLst/>
          </a:prstGeom>
          <a:noFill/>
        </p:spPr>
        <p:txBody>
          <a:bodyPr wrap="square" anchor="t" lIns="0" rIns="0" tIns="0" bIns="0">
            <a:spAutoFit/>
          </a:bodyPr>
          <a:lstStyle/>
          <a:p>
            <a:pPr algn="l">
              <a:lnSpc>
                <a:spcPct val="110000"/>
              </a:lnSpc>
            </a:pPr>
            <a:r>
              <a:rPr sz="1000" b="0" i="0">
                <a:solidFill>
                  <a:srgbClr val="64748B"/>
                </a:solidFill>
                <a:latin typeface="Arial"/>
              </a:rPr>
              <a:t>written run of show — what to press, what to say</a:t>
            </a:r>
          </a:p>
        </p:txBody>
      </p:sp>
      <p:sp>
        <p:nvSpPr>
          <p:cNvPr id="38" name="Rectangle 37"/>
          <p:cNvSpPr/>
          <p:nvPr/>
        </p:nvSpPr>
        <p:spPr>
          <a:xfrm>
            <a:off x="658368" y="6291072"/>
            <a:ext cx="10874959"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6419088"/>
            <a:ext cx="7612471" cy="219456"/>
          </a:xfrm>
          <a:prstGeom prst="rect">
            <a:avLst/>
          </a:prstGeom>
          <a:noFill/>
        </p:spPr>
        <p:txBody>
          <a:bodyPr wrap="square" anchor="t" lIns="0" rIns="0" tIns="0" bIns="0">
            <a:spAutoFit/>
          </a:bodyPr>
          <a:lstStyle/>
          <a:p>
            <a:pPr algn="l">
              <a:lnSpc>
                <a:spcPct val="100000"/>
              </a:lnSpc>
            </a:pPr>
            <a:r>
              <a:rPr sz="950" b="0" i="0">
                <a:solidFill>
                  <a:srgbClr val="64748B"/>
                </a:solidFill>
                <a:latin typeface="Arial"/>
              </a:rPr>
              <a:t>On stage</a:t>
            </a:r>
          </a:p>
        </p:txBody>
      </p:sp>
      <p:sp>
        <p:nvSpPr>
          <p:cNvPr id="40" name="TextBox 39"/>
          <p:cNvSpPr txBox="1"/>
          <p:nvPr/>
        </p:nvSpPr>
        <p:spPr>
          <a:xfrm>
            <a:off x="10436047" y="6419088"/>
            <a:ext cx="1097280" cy="219456"/>
          </a:xfrm>
          <a:prstGeom prst="rect">
            <a:avLst/>
          </a:prstGeom>
          <a:noFill/>
        </p:spPr>
        <p:txBody>
          <a:bodyPr wrap="square" anchor="t" lIns="0" rIns="0" tIns="0" bIns="0">
            <a:spAutoFit/>
          </a:bodyPr>
          <a:lstStyle/>
          <a:p>
            <a:pPr algn="r">
              <a:lnSpc>
                <a:spcPct val="100000"/>
              </a:lnSpc>
            </a:pPr>
            <a:r>
              <a:rPr sz="950" b="0" i="0">
                <a:solidFill>
                  <a:srgbClr val="64748B"/>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10874959" cy="219456"/>
          </a:xfrm>
          <a:prstGeom prst="rect">
            <a:avLst/>
          </a:prstGeom>
          <a:noFill/>
        </p:spPr>
        <p:txBody>
          <a:bodyPr wrap="square" anchor="t" lIns="0" rIns="0" tIns="0" bIns="0">
            <a:spAutoFit/>
          </a:bodyPr>
          <a:lstStyle/>
          <a:p>
            <a:pPr algn="l">
              <a:lnSpc>
                <a:spcPct val="100000"/>
              </a:lnSpc>
            </a:pPr>
            <a:r>
              <a:rPr sz="1100" b="1" i="0">
                <a:solidFill>
                  <a:srgbClr val="6366F1"/>
                </a:solidFill>
                <a:latin typeface="Arial"/>
              </a:rPr>
              <a:t>WHAT SHIPS</a:t>
            </a:r>
          </a:p>
        </p:txBody>
      </p:sp>
      <p:sp>
        <p:nvSpPr>
          <p:cNvPr id="3" name="TextBox 2"/>
          <p:cNvSpPr txBox="1"/>
          <p:nvPr/>
        </p:nvSpPr>
        <p:spPr>
          <a:xfrm>
            <a:off x="658368" y="676656"/>
            <a:ext cx="10874959" cy="566928"/>
          </a:xfrm>
          <a:prstGeom prst="rect">
            <a:avLst/>
          </a:prstGeom>
          <a:noFill/>
        </p:spPr>
        <p:txBody>
          <a:bodyPr wrap="square" anchor="t" lIns="0" rIns="0" tIns="0" bIns="0">
            <a:spAutoFit/>
          </a:bodyPr>
          <a:lstStyle/>
          <a:p>
            <a:pPr algn="l">
              <a:lnSpc>
                <a:spcPct val="100000"/>
              </a:lnSpc>
            </a:pPr>
            <a:r>
              <a:rPr sz="2600" b="1" i="0">
                <a:solidFill>
                  <a:srgbClr val="0F172A"/>
                </a:solidFill>
                <a:latin typeface="Arial"/>
              </a:rPr>
              <a:t>CI does not prove that the tests pass. It proves the image works.</a:t>
            </a:r>
          </a:p>
        </p:txBody>
      </p:sp>
      <p:sp>
        <p:nvSpPr>
          <p:cNvPr id="4" name="TextBox 3"/>
          <p:cNvSpPr txBox="1"/>
          <p:nvPr/>
        </p:nvSpPr>
        <p:spPr>
          <a:xfrm>
            <a:off x="658368" y="1243584"/>
            <a:ext cx="9352464" cy="457200"/>
          </a:xfrm>
          <a:prstGeom prst="rect">
            <a:avLst/>
          </a:prstGeom>
          <a:noFill/>
        </p:spPr>
        <p:txBody>
          <a:bodyPr wrap="square" anchor="t" lIns="0" rIns="0" tIns="0" bIns="0">
            <a:spAutoFit/>
          </a:bodyPr>
          <a:lstStyle/>
          <a:p>
            <a:pPr algn="l">
              <a:lnSpc>
                <a:spcPct val="115000"/>
              </a:lnSpc>
            </a:pPr>
            <a:r>
              <a:rPr sz="1400" b="0" i="0">
                <a:solidFill>
                  <a:srgbClr val="64748B"/>
                </a:solidFill>
                <a:latin typeface="Arial"/>
              </a:rPr>
              <a:t>Only after all of this does the image reach ghcr.io/swetank18/pact:latest — so what ships is the artefact that was tested, not a second build.</a:t>
            </a:r>
          </a:p>
        </p:txBody>
      </p:sp>
      <p:sp>
        <p:nvSpPr>
          <p:cNvPr id="5" name="Rounded Rectangle 4"/>
          <p:cNvSpPr/>
          <p:nvPr/>
        </p:nvSpPr>
        <p:spPr>
          <a:xfrm>
            <a:off x="658368" y="2057400"/>
            <a:ext cx="3466490" cy="64008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41247" y="2240280"/>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a:t>
            </a:r>
          </a:p>
        </p:txBody>
      </p:sp>
      <p:sp>
        <p:nvSpPr>
          <p:cNvPr id="7" name="TextBox 6"/>
          <p:cNvSpPr txBox="1"/>
          <p:nvPr/>
        </p:nvSpPr>
        <p:spPr>
          <a:xfrm>
            <a:off x="1225295" y="2258568"/>
            <a:ext cx="2734970" cy="274320"/>
          </a:xfrm>
          <a:prstGeom prst="rect">
            <a:avLst/>
          </a:prstGeom>
          <a:noFill/>
        </p:spPr>
        <p:txBody>
          <a:bodyPr wrap="square" anchor="t" lIns="0" rIns="0" tIns="0" bIns="0">
            <a:spAutoFit/>
          </a:bodyPr>
          <a:lstStyle/>
          <a:p>
            <a:pPr algn="l">
              <a:lnSpc>
                <a:spcPct val="100000"/>
              </a:lnSpc>
            </a:pPr>
            <a:r>
              <a:rPr sz="1150" b="0" i="0">
                <a:solidFill>
                  <a:srgbClr val="0F172A"/>
                </a:solidFill>
                <a:latin typeface="Arial"/>
              </a:rPr>
              <a:t>Build the image</a:t>
            </a:r>
          </a:p>
        </p:txBody>
      </p:sp>
      <p:sp>
        <p:nvSpPr>
          <p:cNvPr id="8" name="Rounded Rectangle 7"/>
          <p:cNvSpPr/>
          <p:nvPr/>
        </p:nvSpPr>
        <p:spPr>
          <a:xfrm>
            <a:off x="4362602" y="2057400"/>
            <a:ext cx="3466490" cy="64008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545482" y="2240280"/>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a:t>
            </a:r>
          </a:p>
        </p:txBody>
      </p:sp>
      <p:sp>
        <p:nvSpPr>
          <p:cNvPr id="10" name="TextBox 9"/>
          <p:cNvSpPr txBox="1"/>
          <p:nvPr/>
        </p:nvSpPr>
        <p:spPr>
          <a:xfrm>
            <a:off x="4929530" y="2258568"/>
            <a:ext cx="2734970" cy="274320"/>
          </a:xfrm>
          <a:prstGeom prst="rect">
            <a:avLst/>
          </a:prstGeom>
          <a:noFill/>
        </p:spPr>
        <p:txBody>
          <a:bodyPr wrap="square" anchor="t" lIns="0" rIns="0" tIns="0" bIns="0">
            <a:spAutoFit/>
          </a:bodyPr>
          <a:lstStyle/>
          <a:p>
            <a:pPr algn="l">
              <a:lnSpc>
                <a:spcPct val="100000"/>
              </a:lnSpc>
            </a:pPr>
            <a:r>
              <a:rPr sz="1150" b="0" i="0">
                <a:solidFill>
                  <a:srgbClr val="0F172A"/>
                </a:solidFill>
                <a:latin typeface="Arial"/>
              </a:rPr>
              <a:t>Wait for its healthcheck</a:t>
            </a:r>
          </a:p>
        </p:txBody>
      </p:sp>
      <p:sp>
        <p:nvSpPr>
          <p:cNvPr id="11" name="Rounded Rectangle 10"/>
          <p:cNvSpPr/>
          <p:nvPr/>
        </p:nvSpPr>
        <p:spPr>
          <a:xfrm>
            <a:off x="8066836" y="2057400"/>
            <a:ext cx="3466490" cy="64008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249716" y="2240280"/>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a:t>
            </a:r>
          </a:p>
        </p:txBody>
      </p:sp>
      <p:sp>
        <p:nvSpPr>
          <p:cNvPr id="13" name="TextBox 12"/>
          <p:cNvSpPr txBox="1"/>
          <p:nvPr/>
        </p:nvSpPr>
        <p:spPr>
          <a:xfrm>
            <a:off x="8633764" y="2258568"/>
            <a:ext cx="2734970" cy="274320"/>
          </a:xfrm>
          <a:prstGeom prst="rect">
            <a:avLst/>
          </a:prstGeom>
          <a:noFill/>
        </p:spPr>
        <p:txBody>
          <a:bodyPr wrap="square" anchor="t" lIns="0" rIns="0" tIns="0" bIns="0">
            <a:spAutoFit/>
          </a:bodyPr>
          <a:lstStyle/>
          <a:p>
            <a:pPr algn="l">
              <a:lnSpc>
                <a:spcPct val="100000"/>
              </a:lnSpc>
            </a:pPr>
            <a:r>
              <a:rPr sz="1150" b="0" i="0">
                <a:solidFill>
                  <a:srgbClr val="0F172A"/>
                </a:solidFill>
                <a:latin typeface="Arial"/>
              </a:rPr>
              <a:t>Run the six beats over HTTP</a:t>
            </a:r>
          </a:p>
        </p:txBody>
      </p:sp>
      <p:sp>
        <p:nvSpPr>
          <p:cNvPr id="14" name="Rounded Rectangle 13"/>
          <p:cNvSpPr/>
          <p:nvPr/>
        </p:nvSpPr>
        <p:spPr>
          <a:xfrm>
            <a:off x="658368" y="2843784"/>
            <a:ext cx="3466490" cy="64008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41247" y="3026664"/>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a:t>
            </a:r>
          </a:p>
        </p:txBody>
      </p:sp>
      <p:sp>
        <p:nvSpPr>
          <p:cNvPr id="16" name="TextBox 15"/>
          <p:cNvSpPr txBox="1"/>
          <p:nvPr/>
        </p:nvSpPr>
        <p:spPr>
          <a:xfrm>
            <a:off x="1225295" y="3044952"/>
            <a:ext cx="2734970" cy="274320"/>
          </a:xfrm>
          <a:prstGeom prst="rect">
            <a:avLst/>
          </a:prstGeom>
          <a:noFill/>
        </p:spPr>
        <p:txBody>
          <a:bodyPr wrap="square" anchor="t" lIns="0" rIns="0" tIns="0" bIns="0">
            <a:spAutoFit/>
          </a:bodyPr>
          <a:lstStyle/>
          <a:p>
            <a:pPr algn="l">
              <a:lnSpc>
                <a:spcPct val="100000"/>
              </a:lnSpc>
            </a:pPr>
            <a:r>
              <a:rPr sz="1150" b="0" i="0">
                <a:solidFill>
                  <a:srgbClr val="0F172A"/>
                </a:solidFill>
                <a:latin typeface="Arial"/>
              </a:rPr>
              <a:t>Assert the SSE stream is live</a:t>
            </a:r>
          </a:p>
        </p:txBody>
      </p:sp>
      <p:sp>
        <p:nvSpPr>
          <p:cNvPr id="17" name="Rounded Rectangle 16"/>
          <p:cNvSpPr/>
          <p:nvPr/>
        </p:nvSpPr>
        <p:spPr>
          <a:xfrm>
            <a:off x="4362602" y="2843784"/>
            <a:ext cx="3466490" cy="64008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545482" y="3026664"/>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a:t>
            </a:r>
          </a:p>
        </p:txBody>
      </p:sp>
      <p:sp>
        <p:nvSpPr>
          <p:cNvPr id="19" name="TextBox 18"/>
          <p:cNvSpPr txBox="1"/>
          <p:nvPr/>
        </p:nvSpPr>
        <p:spPr>
          <a:xfrm>
            <a:off x="4929530" y="3044952"/>
            <a:ext cx="2734970" cy="274320"/>
          </a:xfrm>
          <a:prstGeom prst="rect">
            <a:avLst/>
          </a:prstGeom>
          <a:noFill/>
        </p:spPr>
        <p:txBody>
          <a:bodyPr wrap="square" anchor="t" lIns="0" rIns="0" tIns="0" bIns="0">
            <a:spAutoFit/>
          </a:bodyPr>
          <a:lstStyle/>
          <a:p>
            <a:pPr algn="l">
              <a:lnSpc>
                <a:spcPct val="100000"/>
              </a:lnSpc>
            </a:pPr>
            <a:r>
              <a:rPr sz="1150" b="0" i="0">
                <a:solidFill>
                  <a:srgbClr val="0F172A"/>
                </a:solidFill>
                <a:latin typeface="Arial"/>
              </a:rPr>
              <a:t>Restart it with the volume attached</a:t>
            </a:r>
          </a:p>
        </p:txBody>
      </p:sp>
      <p:sp>
        <p:nvSpPr>
          <p:cNvPr id="20" name="Rounded Rectangle 19"/>
          <p:cNvSpPr/>
          <p:nvPr/>
        </p:nvSpPr>
        <p:spPr>
          <a:xfrm>
            <a:off x="8066836" y="2843784"/>
            <a:ext cx="3466490" cy="64008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249716" y="3026664"/>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a:t>
            </a:r>
          </a:p>
        </p:txBody>
      </p:sp>
      <p:sp>
        <p:nvSpPr>
          <p:cNvPr id="22" name="TextBox 21"/>
          <p:cNvSpPr txBox="1"/>
          <p:nvPr/>
        </p:nvSpPr>
        <p:spPr>
          <a:xfrm>
            <a:off x="8633764" y="3044952"/>
            <a:ext cx="2734970" cy="274320"/>
          </a:xfrm>
          <a:prstGeom prst="rect">
            <a:avLst/>
          </a:prstGeom>
          <a:noFill/>
        </p:spPr>
        <p:txBody>
          <a:bodyPr wrap="square" anchor="t" lIns="0" rIns="0" tIns="0" bIns="0">
            <a:spAutoFit/>
          </a:bodyPr>
          <a:lstStyle/>
          <a:p>
            <a:pPr algn="l">
              <a:lnSpc>
                <a:spcPct val="100000"/>
              </a:lnSpc>
            </a:pPr>
            <a:r>
              <a:rPr sz="1150" b="0" i="0">
                <a:solidFill>
                  <a:srgbClr val="0F172A"/>
                </a:solidFill>
                <a:latin typeface="Arial"/>
              </a:rPr>
              <a:t>Check orders and signing key survived</a:t>
            </a:r>
          </a:p>
        </p:txBody>
      </p:sp>
      <p:sp>
        <p:nvSpPr>
          <p:cNvPr id="23" name="Rounded Rectangle 22"/>
          <p:cNvSpPr/>
          <p:nvPr/>
        </p:nvSpPr>
        <p:spPr>
          <a:xfrm>
            <a:off x="658368" y="3630168"/>
            <a:ext cx="3466490" cy="64008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41247" y="3813048"/>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a:t>
            </a:r>
          </a:p>
        </p:txBody>
      </p:sp>
      <p:sp>
        <p:nvSpPr>
          <p:cNvPr id="25" name="TextBox 24"/>
          <p:cNvSpPr txBox="1"/>
          <p:nvPr/>
        </p:nvSpPr>
        <p:spPr>
          <a:xfrm>
            <a:off x="1225295" y="3831335"/>
            <a:ext cx="2734970" cy="274320"/>
          </a:xfrm>
          <a:prstGeom prst="rect">
            <a:avLst/>
          </a:prstGeom>
          <a:noFill/>
        </p:spPr>
        <p:txBody>
          <a:bodyPr wrap="square" anchor="t" lIns="0" rIns="0" tIns="0" bIns="0">
            <a:spAutoFit/>
          </a:bodyPr>
          <a:lstStyle/>
          <a:p>
            <a:pPr algn="l">
              <a:lnSpc>
                <a:spcPct val="100000"/>
              </a:lnSpc>
            </a:pPr>
            <a:r>
              <a:rPr sz="1150" b="0" i="0">
                <a:solidFill>
                  <a:srgbClr val="0F172A"/>
                </a:solidFill>
                <a:latin typeface="Arial"/>
              </a:rPr>
              <a:t>Drive every console surface in Chromium</a:t>
            </a:r>
          </a:p>
        </p:txBody>
      </p:sp>
      <p:sp>
        <p:nvSpPr>
          <p:cNvPr id="26" name="Rounded Rectangle 25"/>
          <p:cNvSpPr/>
          <p:nvPr/>
        </p:nvSpPr>
        <p:spPr>
          <a:xfrm>
            <a:off x="4362602" y="3630168"/>
            <a:ext cx="3466490" cy="64008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4545482" y="3813048"/>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a:t>
            </a:r>
          </a:p>
        </p:txBody>
      </p:sp>
      <p:sp>
        <p:nvSpPr>
          <p:cNvPr id="28" name="TextBox 27"/>
          <p:cNvSpPr txBox="1"/>
          <p:nvPr/>
        </p:nvSpPr>
        <p:spPr>
          <a:xfrm>
            <a:off x="4929530" y="3831335"/>
            <a:ext cx="2734970" cy="274320"/>
          </a:xfrm>
          <a:prstGeom prst="rect">
            <a:avLst/>
          </a:prstGeom>
          <a:noFill/>
        </p:spPr>
        <p:txBody>
          <a:bodyPr wrap="square" anchor="t" lIns="0" rIns="0" tIns="0" bIns="0">
            <a:spAutoFit/>
          </a:bodyPr>
          <a:lstStyle/>
          <a:p>
            <a:pPr algn="l">
              <a:lnSpc>
                <a:spcPct val="100000"/>
              </a:lnSpc>
            </a:pPr>
            <a:r>
              <a:rPr sz="1150" b="0" i="0">
                <a:solidFill>
                  <a:srgbClr val="0F172A"/>
                </a:solidFill>
                <a:latin typeface="Arial"/>
              </a:rPr>
              <a:t>Record the demo video</a:t>
            </a:r>
          </a:p>
        </p:txBody>
      </p:sp>
      <p:sp>
        <p:nvSpPr>
          <p:cNvPr id="29" name="Rounded Rectangle 28"/>
          <p:cNvSpPr/>
          <p:nvPr/>
        </p:nvSpPr>
        <p:spPr>
          <a:xfrm>
            <a:off x="8066836" y="3630168"/>
            <a:ext cx="3466490" cy="64008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249716" y="3813048"/>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a:t>
            </a:r>
          </a:p>
        </p:txBody>
      </p:sp>
      <p:sp>
        <p:nvSpPr>
          <p:cNvPr id="31" name="TextBox 30"/>
          <p:cNvSpPr txBox="1"/>
          <p:nvPr/>
        </p:nvSpPr>
        <p:spPr>
          <a:xfrm>
            <a:off x="8633764" y="3831335"/>
            <a:ext cx="2734970" cy="274320"/>
          </a:xfrm>
          <a:prstGeom prst="rect">
            <a:avLst/>
          </a:prstGeom>
          <a:noFill/>
        </p:spPr>
        <p:txBody>
          <a:bodyPr wrap="square" anchor="t" lIns="0" rIns="0" tIns="0" bIns="0">
            <a:spAutoFit/>
          </a:bodyPr>
          <a:lstStyle/>
          <a:p>
            <a:pPr algn="l">
              <a:lnSpc>
                <a:spcPct val="100000"/>
              </a:lnSpc>
            </a:pPr>
            <a:r>
              <a:rPr sz="1150" b="0" i="0">
                <a:solidFill>
                  <a:srgbClr val="0F172A"/>
                </a:solidFill>
                <a:latin typeface="Arial"/>
              </a:rPr>
              <a:t>Soak it for three minutes</a:t>
            </a:r>
          </a:p>
        </p:txBody>
      </p:sp>
      <p:sp>
        <p:nvSpPr>
          <p:cNvPr id="32" name="Down Arrow 31"/>
          <p:cNvSpPr/>
          <p:nvPr/>
        </p:nvSpPr>
        <p:spPr>
          <a:xfrm>
            <a:off x="6004407" y="4407408"/>
            <a:ext cx="182880" cy="310896"/>
          </a:xfrm>
          <a:prstGeom prst="down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58368" y="4791456"/>
            <a:ext cx="10874959" cy="713232"/>
          </a:xfrm>
          <a:prstGeom prst="roundRect">
            <a:avLst>
              <a:gd name="adj" fmla="val 45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78407" y="4956048"/>
            <a:ext cx="10234879" cy="329184"/>
          </a:xfrm>
          <a:prstGeom prst="rect">
            <a:avLst/>
          </a:prstGeom>
          <a:noFill/>
        </p:spPr>
        <p:txBody>
          <a:bodyPr wrap="square" anchor="t" lIns="0" rIns="0" tIns="0" bIns="0">
            <a:spAutoFit/>
          </a:bodyPr>
          <a:lstStyle/>
          <a:p>
            <a:pPr algn="l">
              <a:lnSpc>
                <a:spcPct val="100000"/>
              </a:lnSpc>
            </a:pPr>
            <a:r>
              <a:rPr sz="1500" b="1" i="0">
                <a:solidFill>
                  <a:srgbClr val="FFFFFF"/>
                </a:solidFill>
                <a:latin typeface="Consolas"/>
              </a:rPr>
              <a:t>ghcr.io/swetank18/pact:latest</a:t>
            </a:r>
          </a:p>
        </p:txBody>
      </p:sp>
      <p:sp>
        <p:nvSpPr>
          <p:cNvPr id="35" name="TextBox 34"/>
          <p:cNvSpPr txBox="1"/>
          <p:nvPr/>
        </p:nvSpPr>
        <p:spPr>
          <a:xfrm>
            <a:off x="658368" y="5669280"/>
            <a:ext cx="3624986" cy="292608"/>
          </a:xfrm>
          <a:prstGeom prst="rect">
            <a:avLst/>
          </a:prstGeom>
          <a:noFill/>
        </p:spPr>
        <p:txBody>
          <a:bodyPr wrap="square" anchor="t" lIns="0" rIns="0" tIns="0" bIns="0">
            <a:spAutoFit/>
          </a:bodyPr>
          <a:lstStyle/>
          <a:p>
            <a:pPr algn="l">
              <a:lnSpc>
                <a:spcPct val="100000"/>
              </a:lnSpc>
            </a:pPr>
            <a:r>
              <a:rPr sz="1700" b="1" i="0">
                <a:solidFill>
                  <a:srgbClr val="6366F1"/>
                </a:solidFill>
                <a:latin typeface="Arial"/>
              </a:rPr>
              <a:t>269</a:t>
            </a:r>
          </a:p>
        </p:txBody>
      </p:sp>
      <p:sp>
        <p:nvSpPr>
          <p:cNvPr id="36" name="TextBox 35"/>
          <p:cNvSpPr txBox="1"/>
          <p:nvPr/>
        </p:nvSpPr>
        <p:spPr>
          <a:xfrm>
            <a:off x="658368" y="5998464"/>
            <a:ext cx="3350666" cy="256032"/>
          </a:xfrm>
          <a:prstGeom prst="rect">
            <a:avLst/>
          </a:prstGeom>
          <a:noFill/>
        </p:spPr>
        <p:txBody>
          <a:bodyPr wrap="square" anchor="t" lIns="0" rIns="0" tIns="0" bIns="0">
            <a:spAutoFit/>
          </a:bodyPr>
          <a:lstStyle/>
          <a:p>
            <a:pPr algn="l">
              <a:lnSpc>
                <a:spcPct val="100000"/>
              </a:lnSpc>
            </a:pPr>
            <a:r>
              <a:rPr sz="1050" b="0" i="0">
                <a:solidFill>
                  <a:srgbClr val="64748B"/>
                </a:solidFill>
                <a:latin typeface="Arial"/>
              </a:rPr>
              <a:t>tests — 214 Python, 55 console</a:t>
            </a:r>
          </a:p>
        </p:txBody>
      </p:sp>
      <p:sp>
        <p:nvSpPr>
          <p:cNvPr id="37" name="TextBox 36"/>
          <p:cNvSpPr txBox="1"/>
          <p:nvPr/>
        </p:nvSpPr>
        <p:spPr>
          <a:xfrm>
            <a:off x="4283354" y="5669280"/>
            <a:ext cx="3624986" cy="292608"/>
          </a:xfrm>
          <a:prstGeom prst="rect">
            <a:avLst/>
          </a:prstGeom>
          <a:noFill/>
        </p:spPr>
        <p:txBody>
          <a:bodyPr wrap="square" anchor="t" lIns="0" rIns="0" tIns="0" bIns="0">
            <a:spAutoFit/>
          </a:bodyPr>
          <a:lstStyle/>
          <a:p>
            <a:pPr algn="l">
              <a:lnSpc>
                <a:spcPct val="100000"/>
              </a:lnSpc>
            </a:pPr>
            <a:r>
              <a:rPr sz="1700" b="1" i="0">
                <a:solidFill>
                  <a:srgbClr val="3B82F6"/>
                </a:solidFill>
                <a:latin typeface="Arial"/>
              </a:rPr>
              <a:t>Every push</a:t>
            </a:r>
          </a:p>
        </p:txBody>
      </p:sp>
      <p:sp>
        <p:nvSpPr>
          <p:cNvPr id="38" name="TextBox 37"/>
          <p:cNvSpPr txBox="1"/>
          <p:nvPr/>
        </p:nvSpPr>
        <p:spPr>
          <a:xfrm>
            <a:off x="4283354" y="5998464"/>
            <a:ext cx="3350666" cy="256032"/>
          </a:xfrm>
          <a:prstGeom prst="rect">
            <a:avLst/>
          </a:prstGeom>
          <a:noFill/>
        </p:spPr>
        <p:txBody>
          <a:bodyPr wrap="square" anchor="t" lIns="0" rIns="0" tIns="0" bIns="0">
            <a:spAutoFit/>
          </a:bodyPr>
          <a:lstStyle/>
          <a:p>
            <a:pPr algn="l">
              <a:lnSpc>
                <a:spcPct val="100000"/>
              </a:lnSpc>
            </a:pPr>
            <a:r>
              <a:rPr sz="1050" b="0" i="0">
                <a:solidFill>
                  <a:srgbClr val="64748B"/>
                </a:solidFill>
                <a:latin typeface="Arial"/>
              </a:rPr>
              <a:t>typecheck and a contract-drift check</a:t>
            </a:r>
          </a:p>
        </p:txBody>
      </p:sp>
      <p:sp>
        <p:nvSpPr>
          <p:cNvPr id="39" name="TextBox 38"/>
          <p:cNvSpPr txBox="1"/>
          <p:nvPr/>
        </p:nvSpPr>
        <p:spPr>
          <a:xfrm>
            <a:off x="7908340" y="5669280"/>
            <a:ext cx="3624986" cy="292608"/>
          </a:xfrm>
          <a:prstGeom prst="rect">
            <a:avLst/>
          </a:prstGeom>
          <a:noFill/>
        </p:spPr>
        <p:txBody>
          <a:bodyPr wrap="square" anchor="t" lIns="0" rIns="0" tIns="0" bIns="0">
            <a:spAutoFit/>
          </a:bodyPr>
          <a:lstStyle/>
          <a:p>
            <a:pPr algn="l">
              <a:lnSpc>
                <a:spcPct val="100000"/>
              </a:lnSpc>
            </a:pPr>
            <a:r>
              <a:rPr sz="1700" b="1" i="0">
                <a:solidFill>
                  <a:srgbClr val="10B981"/>
                </a:solidFill>
                <a:latin typeface="Arial"/>
              </a:rPr>
              <a:t>Every run</a:t>
            </a:r>
          </a:p>
        </p:txBody>
      </p:sp>
      <p:sp>
        <p:nvSpPr>
          <p:cNvPr id="40" name="TextBox 39"/>
          <p:cNvSpPr txBox="1"/>
          <p:nvPr/>
        </p:nvSpPr>
        <p:spPr>
          <a:xfrm>
            <a:off x="7908340" y="5998464"/>
            <a:ext cx="3350666" cy="256032"/>
          </a:xfrm>
          <a:prstGeom prst="rect">
            <a:avLst/>
          </a:prstGeom>
          <a:noFill/>
        </p:spPr>
        <p:txBody>
          <a:bodyPr wrap="square" anchor="t" lIns="0" rIns="0" tIns="0" bIns="0">
            <a:spAutoFit/>
          </a:bodyPr>
          <a:lstStyle/>
          <a:p>
            <a:pPr algn="l">
              <a:lnSpc>
                <a:spcPct val="100000"/>
              </a:lnSpc>
            </a:pPr>
            <a:r>
              <a:rPr sz="1050" b="0" i="0">
                <a:solidFill>
                  <a:srgbClr val="64748B"/>
                </a:solidFill>
                <a:latin typeface="Arial"/>
              </a:rPr>
              <a:t>screenshots uploaded from the browser</a:t>
            </a:r>
          </a:p>
        </p:txBody>
      </p:sp>
      <p:sp>
        <p:nvSpPr>
          <p:cNvPr id="41" name="Rectangle 40"/>
          <p:cNvSpPr/>
          <p:nvPr/>
        </p:nvSpPr>
        <p:spPr>
          <a:xfrm>
            <a:off x="658368" y="6291072"/>
            <a:ext cx="10874959"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8368" y="6419088"/>
            <a:ext cx="7612471" cy="219456"/>
          </a:xfrm>
          <a:prstGeom prst="rect">
            <a:avLst/>
          </a:prstGeom>
          <a:noFill/>
        </p:spPr>
        <p:txBody>
          <a:bodyPr wrap="square" anchor="t" lIns="0" rIns="0" tIns="0" bIns="0">
            <a:spAutoFit/>
          </a:bodyPr>
          <a:lstStyle/>
          <a:p>
            <a:pPr algn="l">
              <a:lnSpc>
                <a:spcPct val="100000"/>
              </a:lnSpc>
            </a:pPr>
            <a:r>
              <a:rPr sz="950" b="0" i="0">
                <a:solidFill>
                  <a:srgbClr val="64748B"/>
                </a:solidFill>
                <a:latin typeface="Arial"/>
              </a:rPr>
              <a:t>What ships</a:t>
            </a:r>
          </a:p>
        </p:txBody>
      </p:sp>
      <p:sp>
        <p:nvSpPr>
          <p:cNvPr id="43" name="TextBox 42"/>
          <p:cNvSpPr txBox="1"/>
          <p:nvPr/>
        </p:nvSpPr>
        <p:spPr>
          <a:xfrm>
            <a:off x="10436047" y="6419088"/>
            <a:ext cx="1097280" cy="219456"/>
          </a:xfrm>
          <a:prstGeom prst="rect">
            <a:avLst/>
          </a:prstGeom>
          <a:noFill/>
        </p:spPr>
        <p:txBody>
          <a:bodyPr wrap="square" anchor="t" lIns="0" rIns="0" tIns="0" bIns="0">
            <a:spAutoFit/>
          </a:bodyPr>
          <a:lstStyle/>
          <a:p>
            <a:pPr algn="r">
              <a:lnSpc>
                <a:spcPct val="100000"/>
              </a:lnSpc>
            </a:pPr>
            <a:r>
              <a:rPr sz="950" b="0" i="0">
                <a:solidFill>
                  <a:srgbClr val="64748B"/>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10874959" cy="219456"/>
          </a:xfrm>
          <a:prstGeom prst="rect">
            <a:avLst/>
          </a:prstGeom>
          <a:noFill/>
        </p:spPr>
        <p:txBody>
          <a:bodyPr wrap="square" anchor="t" lIns="0" rIns="0" tIns="0" bIns="0">
            <a:spAutoFit/>
          </a:bodyPr>
          <a:lstStyle/>
          <a:p>
            <a:pPr algn="l">
              <a:lnSpc>
                <a:spcPct val="100000"/>
              </a:lnSpc>
            </a:pPr>
            <a:r>
              <a:rPr sz="1100" b="1" i="0">
                <a:solidFill>
                  <a:srgbClr val="6366F1"/>
                </a:solidFill>
                <a:latin typeface="Arial"/>
              </a:rPr>
              <a:t>THE HONEST BOUNDARY</a:t>
            </a:r>
          </a:p>
        </p:txBody>
      </p:sp>
      <p:sp>
        <p:nvSpPr>
          <p:cNvPr id="3" name="TextBox 2"/>
          <p:cNvSpPr txBox="1"/>
          <p:nvPr/>
        </p:nvSpPr>
        <p:spPr>
          <a:xfrm>
            <a:off x="658368" y="676656"/>
            <a:ext cx="10874959" cy="566928"/>
          </a:xfrm>
          <a:prstGeom prst="rect">
            <a:avLst/>
          </a:prstGeom>
          <a:noFill/>
        </p:spPr>
        <p:txBody>
          <a:bodyPr wrap="square" anchor="t" lIns="0" rIns="0" tIns="0" bIns="0">
            <a:spAutoFit/>
          </a:bodyPr>
          <a:lstStyle/>
          <a:p>
            <a:pPr algn="l">
              <a:lnSpc>
                <a:spcPct val="100000"/>
              </a:lnSpc>
            </a:pPr>
            <a:r>
              <a:rPr sz="3000" b="1" i="0">
                <a:solidFill>
                  <a:srgbClr val="0F172A"/>
                </a:solidFill>
                <a:latin typeface="Arial"/>
              </a:rPr>
              <a:t>What is verified by running it, and what is not.</a:t>
            </a:r>
          </a:p>
        </p:txBody>
      </p:sp>
      <p:sp>
        <p:nvSpPr>
          <p:cNvPr id="4" name="TextBox 3"/>
          <p:cNvSpPr txBox="1"/>
          <p:nvPr/>
        </p:nvSpPr>
        <p:spPr>
          <a:xfrm>
            <a:off x="658368" y="1243584"/>
            <a:ext cx="9352464" cy="457200"/>
          </a:xfrm>
          <a:prstGeom prst="rect">
            <a:avLst/>
          </a:prstGeom>
          <a:noFill/>
        </p:spPr>
        <p:txBody>
          <a:bodyPr wrap="square" anchor="t" lIns="0" rIns="0" tIns="0" bIns="0">
            <a:spAutoFit/>
          </a:bodyPr>
          <a:lstStyle/>
          <a:p>
            <a:pPr algn="l">
              <a:lnSpc>
                <a:spcPct val="115000"/>
              </a:lnSpc>
            </a:pPr>
            <a:r>
              <a:rPr sz="1400" b="0" i="0">
                <a:solidFill>
                  <a:srgbClr val="64748B"/>
                </a:solidFill>
                <a:latin typeface="Arial"/>
              </a:rPr>
              <a:t>Stated here rather than discovered in questions.</a:t>
            </a:r>
          </a:p>
        </p:txBody>
      </p:sp>
      <p:sp>
        <p:nvSpPr>
          <p:cNvPr id="5" name="Rounded Rectangle 4"/>
          <p:cNvSpPr/>
          <p:nvPr/>
        </p:nvSpPr>
        <p:spPr>
          <a:xfrm>
            <a:off x="658368" y="1965960"/>
            <a:ext cx="5272887" cy="3749039"/>
          </a:xfrm>
          <a:prstGeom prst="roundRect">
            <a:avLst>
              <a:gd name="adj" fmla="val 4500"/>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50976" y="2185415"/>
            <a:ext cx="3657600" cy="274320"/>
          </a:xfrm>
          <a:prstGeom prst="rect">
            <a:avLst/>
          </a:prstGeom>
          <a:noFill/>
        </p:spPr>
        <p:txBody>
          <a:bodyPr wrap="square" anchor="t" lIns="0" rIns="0" tIns="0" bIns="0">
            <a:spAutoFit/>
          </a:bodyPr>
          <a:lstStyle/>
          <a:p>
            <a:pPr algn="l">
              <a:lnSpc>
                <a:spcPct val="100000"/>
              </a:lnSpc>
            </a:pPr>
            <a:r>
              <a:rPr sz="1150" b="1" i="0">
                <a:solidFill>
                  <a:srgbClr val="10B981"/>
                </a:solidFill>
                <a:latin typeface="Arial"/>
              </a:rPr>
              <a:t>VERIFIED, BY RUNNING IT</a:t>
            </a:r>
          </a:p>
        </p:txBody>
      </p:sp>
      <p:sp>
        <p:nvSpPr>
          <p:cNvPr id="7" name="TextBox 6"/>
          <p:cNvSpPr txBox="1"/>
          <p:nvPr/>
        </p:nvSpPr>
        <p:spPr>
          <a:xfrm>
            <a:off x="950976" y="2587752"/>
            <a:ext cx="274320" cy="256032"/>
          </a:xfrm>
          <a:prstGeom prst="rect">
            <a:avLst/>
          </a:prstGeom>
          <a:noFill/>
        </p:spPr>
        <p:txBody>
          <a:bodyPr wrap="square" anchor="t" lIns="0" rIns="0" tIns="0" bIns="0">
            <a:spAutoFit/>
          </a:bodyPr>
          <a:lstStyle/>
          <a:p>
            <a:pPr algn="l">
              <a:lnSpc>
                <a:spcPct val="100000"/>
              </a:lnSpc>
            </a:pPr>
            <a:r>
              <a:rPr sz="1200" b="1" i="0">
                <a:solidFill>
                  <a:srgbClr val="10B981"/>
                </a:solidFill>
                <a:latin typeface="Arial"/>
              </a:rPr>
              <a:t>✓</a:t>
            </a:r>
          </a:p>
        </p:txBody>
      </p:sp>
      <p:sp>
        <p:nvSpPr>
          <p:cNvPr id="8" name="TextBox 7"/>
          <p:cNvSpPr txBox="1"/>
          <p:nvPr/>
        </p:nvSpPr>
        <p:spPr>
          <a:xfrm>
            <a:off x="1225295" y="2587752"/>
            <a:ext cx="4523079" cy="329184"/>
          </a:xfrm>
          <a:prstGeom prst="rect">
            <a:avLst/>
          </a:prstGeom>
          <a:noFill/>
        </p:spPr>
        <p:txBody>
          <a:bodyPr wrap="square" anchor="t" lIns="0" rIns="0" tIns="0" bIns="0">
            <a:spAutoFit/>
          </a:bodyPr>
          <a:lstStyle/>
          <a:p>
            <a:pPr algn="l">
              <a:lnSpc>
                <a:spcPct val="110000"/>
              </a:lnSpc>
            </a:pPr>
            <a:r>
              <a:rPr sz="1100" b="0" i="0">
                <a:solidFill>
                  <a:srgbClr val="334155"/>
                </a:solidFill>
                <a:latin typeface="Arial"/>
              </a:rPr>
              <a:t>269 tests, green on every push</a:t>
            </a:r>
          </a:p>
        </p:txBody>
      </p:sp>
      <p:sp>
        <p:nvSpPr>
          <p:cNvPr id="9" name="TextBox 8"/>
          <p:cNvSpPr txBox="1"/>
          <p:nvPr/>
        </p:nvSpPr>
        <p:spPr>
          <a:xfrm>
            <a:off x="950976" y="2971800"/>
            <a:ext cx="274320" cy="256032"/>
          </a:xfrm>
          <a:prstGeom prst="rect">
            <a:avLst/>
          </a:prstGeom>
          <a:noFill/>
        </p:spPr>
        <p:txBody>
          <a:bodyPr wrap="square" anchor="t" lIns="0" rIns="0" tIns="0" bIns="0">
            <a:spAutoFit/>
          </a:bodyPr>
          <a:lstStyle/>
          <a:p>
            <a:pPr algn="l">
              <a:lnSpc>
                <a:spcPct val="100000"/>
              </a:lnSpc>
            </a:pPr>
            <a:r>
              <a:rPr sz="1200" b="1" i="0">
                <a:solidFill>
                  <a:srgbClr val="10B981"/>
                </a:solidFill>
                <a:latin typeface="Arial"/>
              </a:rPr>
              <a:t>✓</a:t>
            </a:r>
          </a:p>
        </p:txBody>
      </p:sp>
      <p:sp>
        <p:nvSpPr>
          <p:cNvPr id="10" name="TextBox 9"/>
          <p:cNvSpPr txBox="1"/>
          <p:nvPr/>
        </p:nvSpPr>
        <p:spPr>
          <a:xfrm>
            <a:off x="1225295" y="2971800"/>
            <a:ext cx="4523079" cy="329184"/>
          </a:xfrm>
          <a:prstGeom prst="rect">
            <a:avLst/>
          </a:prstGeom>
          <a:noFill/>
        </p:spPr>
        <p:txBody>
          <a:bodyPr wrap="square" anchor="t" lIns="0" rIns="0" tIns="0" bIns="0">
            <a:spAutoFit/>
          </a:bodyPr>
          <a:lstStyle/>
          <a:p>
            <a:pPr algn="l">
              <a:lnSpc>
                <a:spcPct val="110000"/>
              </a:lnSpc>
            </a:pPr>
            <a:r>
              <a:rPr sz="1100" b="0" i="0">
                <a:solidFill>
                  <a:srgbClr val="334155"/>
                </a:solidFill>
                <a:latin typeface="Arial"/>
              </a:rPr>
              <a:t>The image built, started and driven by the six beats over HTTP</a:t>
            </a:r>
          </a:p>
        </p:txBody>
      </p:sp>
      <p:sp>
        <p:nvSpPr>
          <p:cNvPr id="11" name="TextBox 10"/>
          <p:cNvSpPr txBox="1"/>
          <p:nvPr/>
        </p:nvSpPr>
        <p:spPr>
          <a:xfrm>
            <a:off x="950976" y="3355848"/>
            <a:ext cx="274320" cy="256032"/>
          </a:xfrm>
          <a:prstGeom prst="rect">
            <a:avLst/>
          </a:prstGeom>
          <a:noFill/>
        </p:spPr>
        <p:txBody>
          <a:bodyPr wrap="square" anchor="t" lIns="0" rIns="0" tIns="0" bIns="0">
            <a:spAutoFit/>
          </a:bodyPr>
          <a:lstStyle/>
          <a:p>
            <a:pPr algn="l">
              <a:lnSpc>
                <a:spcPct val="100000"/>
              </a:lnSpc>
            </a:pPr>
            <a:r>
              <a:rPr sz="1200" b="1" i="0">
                <a:solidFill>
                  <a:srgbClr val="10B981"/>
                </a:solidFill>
                <a:latin typeface="Arial"/>
              </a:rPr>
              <a:t>✓</a:t>
            </a:r>
          </a:p>
        </p:txBody>
      </p:sp>
      <p:sp>
        <p:nvSpPr>
          <p:cNvPr id="12" name="TextBox 11"/>
          <p:cNvSpPr txBox="1"/>
          <p:nvPr/>
        </p:nvSpPr>
        <p:spPr>
          <a:xfrm>
            <a:off x="1225295" y="3355848"/>
            <a:ext cx="4523079" cy="329184"/>
          </a:xfrm>
          <a:prstGeom prst="rect">
            <a:avLst/>
          </a:prstGeom>
          <a:noFill/>
        </p:spPr>
        <p:txBody>
          <a:bodyPr wrap="square" anchor="t" lIns="0" rIns="0" tIns="0" bIns="0">
            <a:spAutoFit/>
          </a:bodyPr>
          <a:lstStyle/>
          <a:p>
            <a:pPr algn="l">
              <a:lnSpc>
                <a:spcPct val="110000"/>
              </a:lnSpc>
            </a:pPr>
            <a:r>
              <a:rPr sz="1100" b="0" i="0">
                <a:solidFill>
                  <a:srgbClr val="334155"/>
                </a:solidFill>
                <a:latin typeface="Arial"/>
              </a:rPr>
              <a:t>Restarted with its volume — orders and signing key survived</a:t>
            </a:r>
          </a:p>
        </p:txBody>
      </p:sp>
      <p:sp>
        <p:nvSpPr>
          <p:cNvPr id="13" name="TextBox 12"/>
          <p:cNvSpPr txBox="1"/>
          <p:nvPr/>
        </p:nvSpPr>
        <p:spPr>
          <a:xfrm>
            <a:off x="950976" y="3739896"/>
            <a:ext cx="274320" cy="256032"/>
          </a:xfrm>
          <a:prstGeom prst="rect">
            <a:avLst/>
          </a:prstGeom>
          <a:noFill/>
        </p:spPr>
        <p:txBody>
          <a:bodyPr wrap="square" anchor="t" lIns="0" rIns="0" tIns="0" bIns="0">
            <a:spAutoFit/>
          </a:bodyPr>
          <a:lstStyle/>
          <a:p>
            <a:pPr algn="l">
              <a:lnSpc>
                <a:spcPct val="100000"/>
              </a:lnSpc>
            </a:pPr>
            <a:r>
              <a:rPr sz="1200" b="1" i="0">
                <a:solidFill>
                  <a:srgbClr val="10B981"/>
                </a:solidFill>
                <a:latin typeface="Arial"/>
              </a:rPr>
              <a:t>✓</a:t>
            </a:r>
          </a:p>
        </p:txBody>
      </p:sp>
      <p:sp>
        <p:nvSpPr>
          <p:cNvPr id="14" name="TextBox 13"/>
          <p:cNvSpPr txBox="1"/>
          <p:nvPr/>
        </p:nvSpPr>
        <p:spPr>
          <a:xfrm>
            <a:off x="1225295" y="3739896"/>
            <a:ext cx="4523079" cy="329184"/>
          </a:xfrm>
          <a:prstGeom prst="rect">
            <a:avLst/>
          </a:prstGeom>
          <a:noFill/>
        </p:spPr>
        <p:txBody>
          <a:bodyPr wrap="square" anchor="t" lIns="0" rIns="0" tIns="0" bIns="0">
            <a:spAutoFit/>
          </a:bodyPr>
          <a:lstStyle/>
          <a:p>
            <a:pPr algn="l">
              <a:lnSpc>
                <a:spcPct val="110000"/>
              </a:lnSpc>
            </a:pPr>
            <a:r>
              <a:rPr sz="1100" b="0" i="0">
                <a:solidFill>
                  <a:srgbClr val="334155"/>
                </a:solidFill>
                <a:latin typeface="Arial"/>
              </a:rPr>
              <a:t>Every console surface driven in a real browser, screenshotted</a:t>
            </a:r>
          </a:p>
        </p:txBody>
      </p:sp>
      <p:sp>
        <p:nvSpPr>
          <p:cNvPr id="15" name="TextBox 14"/>
          <p:cNvSpPr txBox="1"/>
          <p:nvPr/>
        </p:nvSpPr>
        <p:spPr>
          <a:xfrm>
            <a:off x="950976" y="4123944"/>
            <a:ext cx="274320" cy="256032"/>
          </a:xfrm>
          <a:prstGeom prst="rect">
            <a:avLst/>
          </a:prstGeom>
          <a:noFill/>
        </p:spPr>
        <p:txBody>
          <a:bodyPr wrap="square" anchor="t" lIns="0" rIns="0" tIns="0" bIns="0">
            <a:spAutoFit/>
          </a:bodyPr>
          <a:lstStyle/>
          <a:p>
            <a:pPr algn="l">
              <a:lnSpc>
                <a:spcPct val="100000"/>
              </a:lnSpc>
            </a:pPr>
            <a:r>
              <a:rPr sz="1200" b="1" i="0">
                <a:solidFill>
                  <a:srgbClr val="10B981"/>
                </a:solidFill>
                <a:latin typeface="Arial"/>
              </a:rPr>
              <a:t>✓</a:t>
            </a:r>
          </a:p>
        </p:txBody>
      </p:sp>
      <p:sp>
        <p:nvSpPr>
          <p:cNvPr id="16" name="TextBox 15"/>
          <p:cNvSpPr txBox="1"/>
          <p:nvPr/>
        </p:nvSpPr>
        <p:spPr>
          <a:xfrm>
            <a:off x="1225295" y="4123944"/>
            <a:ext cx="4523079" cy="329184"/>
          </a:xfrm>
          <a:prstGeom prst="rect">
            <a:avLst/>
          </a:prstGeom>
          <a:noFill/>
        </p:spPr>
        <p:txBody>
          <a:bodyPr wrap="square" anchor="t" lIns="0" rIns="0" tIns="0" bIns="0">
            <a:spAutoFit/>
          </a:bodyPr>
          <a:lstStyle/>
          <a:p>
            <a:pPr algn="l">
              <a:lnSpc>
                <a:spcPct val="110000"/>
              </a:lnSpc>
            </a:pPr>
            <a:r>
              <a:rPr sz="1100" b="0" i="0">
                <a:solidFill>
                  <a:srgbClr val="334155"/>
                </a:solidFill>
                <a:latin typeface="Arial"/>
              </a:rPr>
              <a:t>Signature parity verified in the browser's own Ed25519, at boot</a:t>
            </a:r>
          </a:p>
        </p:txBody>
      </p:sp>
      <p:sp>
        <p:nvSpPr>
          <p:cNvPr id="17" name="TextBox 16"/>
          <p:cNvSpPr txBox="1"/>
          <p:nvPr/>
        </p:nvSpPr>
        <p:spPr>
          <a:xfrm>
            <a:off x="950976" y="4507992"/>
            <a:ext cx="274320" cy="256032"/>
          </a:xfrm>
          <a:prstGeom prst="rect">
            <a:avLst/>
          </a:prstGeom>
          <a:noFill/>
        </p:spPr>
        <p:txBody>
          <a:bodyPr wrap="square" anchor="t" lIns="0" rIns="0" tIns="0" bIns="0">
            <a:spAutoFit/>
          </a:bodyPr>
          <a:lstStyle/>
          <a:p>
            <a:pPr algn="l">
              <a:lnSpc>
                <a:spcPct val="100000"/>
              </a:lnSpc>
            </a:pPr>
            <a:r>
              <a:rPr sz="1200" b="1" i="0">
                <a:solidFill>
                  <a:srgbClr val="10B981"/>
                </a:solidFill>
                <a:latin typeface="Arial"/>
              </a:rPr>
              <a:t>✓</a:t>
            </a:r>
          </a:p>
        </p:txBody>
      </p:sp>
      <p:sp>
        <p:nvSpPr>
          <p:cNvPr id="18" name="TextBox 17"/>
          <p:cNvSpPr txBox="1"/>
          <p:nvPr/>
        </p:nvSpPr>
        <p:spPr>
          <a:xfrm>
            <a:off x="1225295" y="4507992"/>
            <a:ext cx="4523079" cy="329184"/>
          </a:xfrm>
          <a:prstGeom prst="rect">
            <a:avLst/>
          </a:prstGeom>
          <a:noFill/>
        </p:spPr>
        <p:txBody>
          <a:bodyPr wrap="square" anchor="t" lIns="0" rIns="0" tIns="0" bIns="0">
            <a:spAutoFit/>
          </a:bodyPr>
          <a:lstStyle/>
          <a:p>
            <a:pPr algn="l">
              <a:lnSpc>
                <a:spcPct val="110000"/>
              </a:lnSpc>
            </a:pPr>
            <a:r>
              <a:rPr sz="1100" b="0" i="0">
                <a:solidFill>
                  <a:srgbClr val="334155"/>
                </a:solidFill>
                <a:latin typeface="Arial"/>
              </a:rPr>
              <a:t>Two hours under load: 49,501 purchases, no transport or server errors</a:t>
            </a:r>
          </a:p>
        </p:txBody>
      </p:sp>
      <p:sp>
        <p:nvSpPr>
          <p:cNvPr id="19" name="TextBox 18"/>
          <p:cNvSpPr txBox="1"/>
          <p:nvPr/>
        </p:nvSpPr>
        <p:spPr>
          <a:xfrm>
            <a:off x="950976" y="4892040"/>
            <a:ext cx="274320" cy="256032"/>
          </a:xfrm>
          <a:prstGeom prst="rect">
            <a:avLst/>
          </a:prstGeom>
          <a:noFill/>
        </p:spPr>
        <p:txBody>
          <a:bodyPr wrap="square" anchor="t" lIns="0" rIns="0" tIns="0" bIns="0">
            <a:spAutoFit/>
          </a:bodyPr>
          <a:lstStyle/>
          <a:p>
            <a:pPr algn="l">
              <a:lnSpc>
                <a:spcPct val="100000"/>
              </a:lnSpc>
            </a:pPr>
            <a:r>
              <a:rPr sz="1200" b="1" i="0">
                <a:solidFill>
                  <a:srgbClr val="10B981"/>
                </a:solidFill>
                <a:latin typeface="Arial"/>
              </a:rPr>
              <a:t>✓</a:t>
            </a:r>
          </a:p>
        </p:txBody>
      </p:sp>
      <p:sp>
        <p:nvSpPr>
          <p:cNvPr id="20" name="TextBox 19"/>
          <p:cNvSpPr txBox="1"/>
          <p:nvPr/>
        </p:nvSpPr>
        <p:spPr>
          <a:xfrm>
            <a:off x="1225295" y="4892040"/>
            <a:ext cx="4523079" cy="329184"/>
          </a:xfrm>
          <a:prstGeom prst="rect">
            <a:avLst/>
          </a:prstGeom>
          <a:noFill/>
        </p:spPr>
        <p:txBody>
          <a:bodyPr wrap="square" anchor="t" lIns="0" rIns="0" tIns="0" bIns="0">
            <a:spAutoFit/>
          </a:bodyPr>
          <a:lstStyle/>
          <a:p>
            <a:pPr algn="l">
              <a:lnSpc>
                <a:spcPct val="110000"/>
              </a:lnSpc>
            </a:pPr>
            <a:r>
              <a:rPr sz="1100" b="0" i="0">
                <a:solidFill>
                  <a:srgbClr val="334155"/>
                </a:solidFill>
                <a:latin typeface="Arial"/>
              </a:rPr>
              <a:t>The merchant's ledger agrees with the harness to the paise</a:t>
            </a:r>
          </a:p>
        </p:txBody>
      </p:sp>
      <p:sp>
        <p:nvSpPr>
          <p:cNvPr id="21" name="TextBox 20"/>
          <p:cNvSpPr txBox="1"/>
          <p:nvPr/>
        </p:nvSpPr>
        <p:spPr>
          <a:xfrm>
            <a:off x="950976" y="5276088"/>
            <a:ext cx="274320" cy="256032"/>
          </a:xfrm>
          <a:prstGeom prst="rect">
            <a:avLst/>
          </a:prstGeom>
          <a:noFill/>
        </p:spPr>
        <p:txBody>
          <a:bodyPr wrap="square" anchor="t" lIns="0" rIns="0" tIns="0" bIns="0">
            <a:spAutoFit/>
          </a:bodyPr>
          <a:lstStyle/>
          <a:p>
            <a:pPr algn="l">
              <a:lnSpc>
                <a:spcPct val="100000"/>
              </a:lnSpc>
            </a:pPr>
            <a:r>
              <a:rPr sz="1200" b="1" i="0">
                <a:solidFill>
                  <a:srgbClr val="10B981"/>
                </a:solidFill>
                <a:latin typeface="Arial"/>
              </a:rPr>
              <a:t>✓</a:t>
            </a:r>
          </a:p>
        </p:txBody>
      </p:sp>
      <p:sp>
        <p:nvSpPr>
          <p:cNvPr id="22" name="TextBox 21"/>
          <p:cNvSpPr txBox="1"/>
          <p:nvPr/>
        </p:nvSpPr>
        <p:spPr>
          <a:xfrm>
            <a:off x="1225295" y="5276088"/>
            <a:ext cx="4523079" cy="329184"/>
          </a:xfrm>
          <a:prstGeom prst="rect">
            <a:avLst/>
          </a:prstGeom>
          <a:noFill/>
        </p:spPr>
        <p:txBody>
          <a:bodyPr wrap="square" anchor="t" lIns="0" rIns="0" tIns="0" bIns="0">
            <a:spAutoFit/>
          </a:bodyPr>
          <a:lstStyle/>
          <a:p>
            <a:pPr algn="l">
              <a:lnSpc>
                <a:spcPct val="110000"/>
              </a:lnSpc>
            </a:pPr>
            <a:r>
              <a:rPr sz="1100" b="0" i="0">
                <a:solidFill>
                  <a:srgbClr val="334155"/>
                </a:solidFill>
                <a:latin typeface="Arial"/>
              </a:rPr>
              <a:t>13 of 13 applicable attack variants blocked</a:t>
            </a:r>
          </a:p>
        </p:txBody>
      </p:sp>
      <p:sp>
        <p:nvSpPr>
          <p:cNvPr id="23" name="Rounded Rectangle 22"/>
          <p:cNvSpPr/>
          <p:nvPr/>
        </p:nvSpPr>
        <p:spPr>
          <a:xfrm>
            <a:off x="6260439" y="1965960"/>
            <a:ext cx="5272887" cy="3749039"/>
          </a:xfrm>
          <a:prstGeom prst="roundRect">
            <a:avLst>
              <a:gd name="adj" fmla="val 4500"/>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53047" y="2185415"/>
            <a:ext cx="4206240" cy="274320"/>
          </a:xfrm>
          <a:prstGeom prst="rect">
            <a:avLst/>
          </a:prstGeom>
          <a:noFill/>
        </p:spPr>
        <p:txBody>
          <a:bodyPr wrap="square" anchor="t" lIns="0" rIns="0" tIns="0" bIns="0">
            <a:spAutoFit/>
          </a:bodyPr>
          <a:lstStyle/>
          <a:p>
            <a:pPr algn="l">
              <a:lnSpc>
                <a:spcPct val="100000"/>
              </a:lnSpc>
            </a:pPr>
            <a:r>
              <a:rPr sz="1150" b="1" i="0">
                <a:solidFill>
                  <a:srgbClr val="F59E0B"/>
                </a:solidFill>
                <a:latin typeface="Arial"/>
              </a:rPr>
              <a:t>NOT VERIFIED — AND WHY</a:t>
            </a:r>
          </a:p>
        </p:txBody>
      </p:sp>
      <p:sp>
        <p:nvSpPr>
          <p:cNvPr id="25" name="TextBox 24"/>
          <p:cNvSpPr txBox="1"/>
          <p:nvPr/>
        </p:nvSpPr>
        <p:spPr>
          <a:xfrm>
            <a:off x="6553047" y="2624328"/>
            <a:ext cx="4705959" cy="274320"/>
          </a:xfrm>
          <a:prstGeom prst="rect">
            <a:avLst/>
          </a:prstGeom>
          <a:noFill/>
        </p:spPr>
        <p:txBody>
          <a:bodyPr wrap="square" anchor="t" lIns="0" rIns="0" tIns="0" bIns="0">
            <a:spAutoFit/>
          </a:bodyPr>
          <a:lstStyle/>
          <a:p>
            <a:pPr algn="l">
              <a:lnSpc>
                <a:spcPct val="100000"/>
              </a:lnSpc>
            </a:pPr>
            <a:r>
              <a:rPr sz="1150" b="1" i="0">
                <a:solidFill>
                  <a:srgbClr val="0F172A"/>
                </a:solidFill>
                <a:latin typeface="Arial"/>
              </a:rPr>
              <a:t>The Razorpay client has never run against the live API</a:t>
            </a:r>
          </a:p>
        </p:txBody>
      </p:sp>
      <p:sp>
        <p:nvSpPr>
          <p:cNvPr id="26" name="TextBox 25"/>
          <p:cNvSpPr txBox="1"/>
          <p:nvPr/>
        </p:nvSpPr>
        <p:spPr>
          <a:xfrm>
            <a:off x="6553047" y="2898648"/>
            <a:ext cx="4705959" cy="731520"/>
          </a:xfrm>
          <a:prstGeom prst="rect">
            <a:avLst/>
          </a:prstGeom>
          <a:noFill/>
        </p:spPr>
        <p:txBody>
          <a:bodyPr wrap="square" anchor="t" lIns="0" rIns="0" tIns="0" bIns="0">
            <a:spAutoFit/>
          </a:bodyPr>
          <a:lstStyle/>
          <a:p>
            <a:pPr algn="l">
              <a:lnSpc>
                <a:spcPct val="115000"/>
              </a:lnSpc>
            </a:pPr>
            <a:r>
              <a:rPr sz="1050" b="0" i="0">
                <a:solidFill>
                  <a:srgbClr val="334155"/>
                </a:solidFill>
                <a:latin typeface="Arial"/>
              </a:rPr>
              <a:t>No test keys in this environment. It is driven instead against a fake built from the written API notes, which refuses what the real API refuses.</a:t>
            </a:r>
          </a:p>
        </p:txBody>
      </p:sp>
      <p:sp>
        <p:nvSpPr>
          <p:cNvPr id="27" name="TextBox 26"/>
          <p:cNvSpPr txBox="1"/>
          <p:nvPr/>
        </p:nvSpPr>
        <p:spPr>
          <a:xfrm>
            <a:off x="6553047" y="3703320"/>
            <a:ext cx="4705959" cy="274320"/>
          </a:xfrm>
          <a:prstGeom prst="rect">
            <a:avLst/>
          </a:prstGeom>
          <a:noFill/>
        </p:spPr>
        <p:txBody>
          <a:bodyPr wrap="square" anchor="t" lIns="0" rIns="0" tIns="0" bIns="0">
            <a:spAutoFit/>
          </a:bodyPr>
          <a:lstStyle/>
          <a:p>
            <a:pPr algn="l">
              <a:lnSpc>
                <a:spcPct val="100000"/>
              </a:lnSpc>
            </a:pPr>
            <a:r>
              <a:rPr sz="1150" b="1" i="0">
                <a:solidFill>
                  <a:srgbClr val="0F172A"/>
                </a:solidFill>
                <a:latin typeface="Arial"/>
              </a:rPr>
              <a:t>The intent auditor's model has never been called</a:t>
            </a:r>
          </a:p>
        </p:txBody>
      </p:sp>
      <p:sp>
        <p:nvSpPr>
          <p:cNvPr id="28" name="TextBox 27"/>
          <p:cNvSpPr txBox="1"/>
          <p:nvPr/>
        </p:nvSpPr>
        <p:spPr>
          <a:xfrm>
            <a:off x="6553047" y="3977639"/>
            <a:ext cx="4705959" cy="731520"/>
          </a:xfrm>
          <a:prstGeom prst="rect">
            <a:avLst/>
          </a:prstGeom>
          <a:noFill/>
        </p:spPr>
        <p:txBody>
          <a:bodyPr wrap="square" anchor="t" lIns="0" rIns="0" tIns="0" bIns="0">
            <a:spAutoFit/>
          </a:bodyPr>
          <a:lstStyle/>
          <a:p>
            <a:pPr algn="l">
              <a:lnSpc>
                <a:spcPct val="115000"/>
              </a:lnSpc>
            </a:pPr>
            <a:r>
              <a:rPr sz="1050" b="0" i="0">
                <a:solidFill>
                  <a:srgbClr val="334155"/>
                </a:solidFill>
                <a:latin typeface="Arial"/>
              </a:rPr>
              <a:t>No API key, so the gate runs deterministic mode — a complete system by design — and atk_06 is reported N/A rather than as a pass.</a:t>
            </a:r>
          </a:p>
        </p:txBody>
      </p:sp>
      <p:sp>
        <p:nvSpPr>
          <p:cNvPr id="29" name="TextBox 28"/>
          <p:cNvSpPr txBox="1"/>
          <p:nvPr/>
        </p:nvSpPr>
        <p:spPr>
          <a:xfrm>
            <a:off x="6553047" y="4782312"/>
            <a:ext cx="4705959" cy="274320"/>
          </a:xfrm>
          <a:prstGeom prst="rect">
            <a:avLst/>
          </a:prstGeom>
          <a:noFill/>
        </p:spPr>
        <p:txBody>
          <a:bodyPr wrap="square" anchor="t" lIns="0" rIns="0" tIns="0" bIns="0">
            <a:spAutoFit/>
          </a:bodyPr>
          <a:lstStyle/>
          <a:p>
            <a:pPr algn="l">
              <a:lnSpc>
                <a:spcPct val="100000"/>
              </a:lnSpc>
            </a:pPr>
            <a:r>
              <a:rPr sz="1150" b="1" i="0">
                <a:solidFill>
                  <a:srgbClr val="0F172A"/>
                </a:solidFill>
                <a:latin typeface="Arial"/>
              </a:rPr>
              <a:t>Deployed, but without a disk</a:t>
            </a:r>
          </a:p>
        </p:txBody>
      </p:sp>
      <p:sp>
        <p:nvSpPr>
          <p:cNvPr id="30" name="TextBox 29"/>
          <p:cNvSpPr txBox="1"/>
          <p:nvPr/>
        </p:nvSpPr>
        <p:spPr>
          <a:xfrm>
            <a:off x="6553047" y="5056631"/>
            <a:ext cx="4705959" cy="731520"/>
          </a:xfrm>
          <a:prstGeom prst="rect">
            <a:avLst/>
          </a:prstGeom>
          <a:noFill/>
        </p:spPr>
        <p:txBody>
          <a:bodyPr wrap="square" anchor="t" lIns="0" rIns="0" tIns="0" bIns="0">
            <a:spAutoFit/>
          </a:bodyPr>
          <a:lstStyle/>
          <a:p>
            <a:pPr algn="l">
              <a:lnSpc>
                <a:spcPct val="115000"/>
              </a:lnSpc>
            </a:pPr>
            <a:r>
              <a:rPr sz="1050" b="0" i="0">
                <a:solidFill>
                  <a:srgbClr val="334155"/>
                </a:solidFill>
                <a:latin typeface="Arial"/>
              </a:rPr>
              <a:t>Render is live on the free plan, which has none: a restart issues a new signing key and empties the ledger. A card is all that stands between the two.</a:t>
            </a:r>
          </a:p>
        </p:txBody>
      </p:sp>
      <p:sp>
        <p:nvSpPr>
          <p:cNvPr id="31" name="TextBox 30"/>
          <p:cNvSpPr txBox="1"/>
          <p:nvPr/>
        </p:nvSpPr>
        <p:spPr>
          <a:xfrm>
            <a:off x="658368" y="5943600"/>
            <a:ext cx="10874959" cy="274320"/>
          </a:xfrm>
          <a:prstGeom prst="rect">
            <a:avLst/>
          </a:prstGeom>
          <a:noFill/>
        </p:spPr>
        <p:txBody>
          <a:bodyPr wrap="square" anchor="t" lIns="0" rIns="0" tIns="0" bIns="0">
            <a:spAutoFit/>
          </a:bodyPr>
          <a:lstStyle/>
          <a:p>
            <a:pPr algn="ctr">
              <a:lnSpc>
                <a:spcPct val="100000"/>
              </a:lnSpc>
            </a:pPr>
            <a:r>
              <a:rPr sz="1200" b="1" i="0">
                <a:solidFill>
                  <a:srgbClr val="64748B"/>
                </a:solidFill>
                <a:latin typeface="Arial"/>
              </a:rPr>
              <a:t>Test mode only. No live money has moved through this, and the client refuses a key that is not rzp_test_.</a:t>
            </a:r>
          </a:p>
        </p:txBody>
      </p:sp>
      <p:sp>
        <p:nvSpPr>
          <p:cNvPr id="32" name="Rectangle 31"/>
          <p:cNvSpPr/>
          <p:nvPr/>
        </p:nvSpPr>
        <p:spPr>
          <a:xfrm>
            <a:off x="658368" y="6291072"/>
            <a:ext cx="10874959"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6419088"/>
            <a:ext cx="7612471" cy="219456"/>
          </a:xfrm>
          <a:prstGeom prst="rect">
            <a:avLst/>
          </a:prstGeom>
          <a:noFill/>
        </p:spPr>
        <p:txBody>
          <a:bodyPr wrap="square" anchor="t" lIns="0" rIns="0" tIns="0" bIns="0">
            <a:spAutoFit/>
          </a:bodyPr>
          <a:lstStyle/>
          <a:p>
            <a:pPr algn="l">
              <a:lnSpc>
                <a:spcPct val="100000"/>
              </a:lnSpc>
            </a:pPr>
            <a:r>
              <a:rPr sz="950" b="0" i="0">
                <a:solidFill>
                  <a:srgbClr val="64748B"/>
                </a:solidFill>
                <a:latin typeface="Arial"/>
              </a:rPr>
              <a:t>The honest boundary</a:t>
            </a:r>
          </a:p>
        </p:txBody>
      </p:sp>
      <p:sp>
        <p:nvSpPr>
          <p:cNvPr id="34" name="TextBox 33"/>
          <p:cNvSpPr txBox="1"/>
          <p:nvPr/>
        </p:nvSpPr>
        <p:spPr>
          <a:xfrm>
            <a:off x="10436047" y="6419088"/>
            <a:ext cx="1097280" cy="219456"/>
          </a:xfrm>
          <a:prstGeom prst="rect">
            <a:avLst/>
          </a:prstGeom>
          <a:noFill/>
        </p:spPr>
        <p:txBody>
          <a:bodyPr wrap="square" anchor="t" lIns="0" rIns="0" tIns="0" bIns="0">
            <a:spAutoFit/>
          </a:bodyPr>
          <a:lstStyle/>
          <a:p>
            <a:pPr algn="r">
              <a:lnSpc>
                <a:spcPct val="100000"/>
              </a:lnSpc>
            </a:pPr>
            <a:r>
              <a:rPr sz="950" b="0" i="0">
                <a:solidFill>
                  <a:srgbClr val="64748B"/>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051560"/>
            <a:ext cx="9601200" cy="365760"/>
          </a:xfrm>
          <a:prstGeom prst="rect">
            <a:avLst/>
          </a:prstGeom>
          <a:noFill/>
        </p:spPr>
        <p:txBody>
          <a:bodyPr wrap="square" anchor="t" lIns="0" rIns="0" tIns="0" bIns="0">
            <a:spAutoFit/>
          </a:bodyPr>
          <a:lstStyle/>
          <a:p>
            <a:pPr algn="l">
              <a:lnSpc>
                <a:spcPct val="100000"/>
              </a:lnSpc>
            </a:pPr>
            <a:r>
              <a:rPr sz="1150" b="1" i="0">
                <a:solidFill>
                  <a:srgbClr val="10B981"/>
                </a:solidFill>
                <a:latin typeface="Arial"/>
              </a:rPr>
              <a:t>THE WHOLE THING, IN ONE LINE</a:t>
            </a:r>
          </a:p>
        </p:txBody>
      </p:sp>
      <p:sp>
        <p:nvSpPr>
          <p:cNvPr id="4" name="TextBox 3"/>
          <p:cNvSpPr txBox="1"/>
          <p:nvPr/>
        </p:nvSpPr>
        <p:spPr>
          <a:xfrm>
            <a:off x="658368" y="1508760"/>
            <a:ext cx="10424160" cy="1554480"/>
          </a:xfrm>
          <a:prstGeom prst="rect">
            <a:avLst/>
          </a:prstGeom>
          <a:noFill/>
        </p:spPr>
        <p:txBody>
          <a:bodyPr wrap="square" anchor="t" lIns="0" rIns="0" tIns="0" bIns="0">
            <a:spAutoFit/>
          </a:bodyPr>
          <a:lstStyle/>
          <a:p>
            <a:pPr algn="l">
              <a:lnSpc>
                <a:spcPct val="125000"/>
              </a:lnSpc>
            </a:pPr>
            <a:r>
              <a:rPr sz="2900" b="1" i="0">
                <a:solidFill>
                  <a:srgbClr val="FFFFFF"/>
                </a:solidFill>
                <a:latin typeface="Arial"/>
              </a:rPr>
              <a:t>The merchant reads what the buyer is allowed to spend,
before it quotes.</a:t>
            </a:r>
          </a:p>
        </p:txBody>
      </p:sp>
      <p:sp>
        <p:nvSpPr>
          <p:cNvPr id="5" name="Rectangle 4"/>
          <p:cNvSpPr/>
          <p:nvPr/>
        </p:nvSpPr>
        <p:spPr>
          <a:xfrm>
            <a:off x="658368" y="3429000"/>
            <a:ext cx="3442106"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85032"/>
            <a:ext cx="3259226" cy="548640"/>
          </a:xfrm>
          <a:prstGeom prst="rect">
            <a:avLst/>
          </a:prstGeom>
          <a:noFill/>
        </p:spPr>
        <p:txBody>
          <a:bodyPr wrap="square" anchor="t" lIns="0" rIns="0" tIns="0" bIns="0">
            <a:spAutoFit/>
          </a:bodyPr>
          <a:lstStyle/>
          <a:p>
            <a:pPr algn="l">
              <a:lnSpc>
                <a:spcPct val="110000"/>
              </a:lnSpc>
            </a:pPr>
            <a:r>
              <a:rPr sz="1500" b="1" i="0">
                <a:solidFill>
                  <a:srgbClr val="FFFFFF"/>
                </a:solidFill>
                <a:latin typeface="Arial"/>
              </a:rPr>
              <a:t>Provably approvable offers</a:t>
            </a:r>
          </a:p>
        </p:txBody>
      </p:sp>
      <p:sp>
        <p:nvSpPr>
          <p:cNvPr id="7" name="TextBox 6"/>
          <p:cNvSpPr txBox="1"/>
          <p:nvPr/>
        </p:nvSpPr>
        <p:spPr>
          <a:xfrm>
            <a:off x="658368" y="4343400"/>
            <a:ext cx="3259226" cy="914400"/>
          </a:xfrm>
          <a:prstGeom prst="rect">
            <a:avLst/>
          </a:prstGeom>
          <a:noFill/>
        </p:spPr>
        <p:txBody>
          <a:bodyPr wrap="square" anchor="t" lIns="0" rIns="0" tIns="0" bIns="0">
            <a:spAutoFit/>
          </a:bodyPr>
          <a:lstStyle/>
          <a:p>
            <a:pPr algn="l">
              <a:lnSpc>
                <a:spcPct val="125000"/>
              </a:lnSpc>
            </a:pPr>
            <a:r>
              <a:rPr sz="1150" b="0" i="0">
                <a:solidFill>
                  <a:srgbClr val="CBD5E1"/>
                </a:solidFill>
                <a:latin typeface="Arial"/>
              </a:rPr>
              <a:t>Every cross-sell is one the gate will approve, so the spending gate becomes a conversion instrument rather than friction.</a:t>
            </a:r>
          </a:p>
        </p:txBody>
      </p:sp>
      <p:sp>
        <p:nvSpPr>
          <p:cNvPr id="8" name="Rectangle 7"/>
          <p:cNvSpPr/>
          <p:nvPr/>
        </p:nvSpPr>
        <p:spPr>
          <a:xfrm>
            <a:off x="4374794" y="3429000"/>
            <a:ext cx="3442106" cy="457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4794" y="3685032"/>
            <a:ext cx="3259226" cy="548640"/>
          </a:xfrm>
          <a:prstGeom prst="rect">
            <a:avLst/>
          </a:prstGeom>
          <a:noFill/>
        </p:spPr>
        <p:txBody>
          <a:bodyPr wrap="square" anchor="t" lIns="0" rIns="0" tIns="0" bIns="0">
            <a:spAutoFit/>
          </a:bodyPr>
          <a:lstStyle/>
          <a:p>
            <a:pPr algn="l">
              <a:lnSpc>
                <a:spcPct val="110000"/>
              </a:lnSpc>
            </a:pPr>
            <a:r>
              <a:rPr sz="1500" b="1" i="0">
                <a:solidFill>
                  <a:srgbClr val="FFFFFF"/>
                </a:solidFill>
                <a:latin typeface="Arial"/>
              </a:rPr>
              <a:t>Authority that survives a compromised agent</a:t>
            </a:r>
          </a:p>
        </p:txBody>
      </p:sp>
      <p:sp>
        <p:nvSpPr>
          <p:cNvPr id="10" name="TextBox 9"/>
          <p:cNvSpPr txBox="1"/>
          <p:nvPr/>
        </p:nvSpPr>
        <p:spPr>
          <a:xfrm>
            <a:off x="4374794" y="4343400"/>
            <a:ext cx="3259226" cy="914400"/>
          </a:xfrm>
          <a:prstGeom prst="rect">
            <a:avLst/>
          </a:prstGeom>
          <a:noFill/>
        </p:spPr>
        <p:txBody>
          <a:bodyPr wrap="square" anchor="t" lIns="0" rIns="0" tIns="0" bIns="0">
            <a:spAutoFit/>
          </a:bodyPr>
          <a:lstStyle/>
          <a:p>
            <a:pPr algn="l">
              <a:lnSpc>
                <a:spcPct val="125000"/>
              </a:lnSpc>
            </a:pPr>
            <a:r>
              <a:rPr sz="1150" b="0" i="0">
                <a:solidFill>
                  <a:srgbClr val="CBD5E1"/>
                </a:solidFill>
                <a:latin typeface="Arial"/>
              </a:rPr>
              <a:t>The control is server side. A client-side cap is not a control.</a:t>
            </a:r>
          </a:p>
        </p:txBody>
      </p:sp>
      <p:sp>
        <p:nvSpPr>
          <p:cNvPr id="11" name="Rectangle 10"/>
          <p:cNvSpPr/>
          <p:nvPr/>
        </p:nvSpPr>
        <p:spPr>
          <a:xfrm>
            <a:off x="8091220" y="3429000"/>
            <a:ext cx="3442106" cy="45720"/>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91220" y="3685032"/>
            <a:ext cx="3259226" cy="548640"/>
          </a:xfrm>
          <a:prstGeom prst="rect">
            <a:avLst/>
          </a:prstGeom>
          <a:noFill/>
        </p:spPr>
        <p:txBody>
          <a:bodyPr wrap="square" anchor="t" lIns="0" rIns="0" tIns="0" bIns="0">
            <a:spAutoFit/>
          </a:bodyPr>
          <a:lstStyle/>
          <a:p>
            <a:pPr algn="l">
              <a:lnSpc>
                <a:spcPct val="110000"/>
              </a:lnSpc>
            </a:pPr>
            <a:r>
              <a:rPr sz="1500" b="1" i="0">
                <a:solidFill>
                  <a:srgbClr val="FFFFFF"/>
                </a:solidFill>
                <a:latin typeface="Arial"/>
              </a:rPr>
              <a:t>An audit trail that answers "why"</a:t>
            </a:r>
          </a:p>
        </p:txBody>
      </p:sp>
      <p:sp>
        <p:nvSpPr>
          <p:cNvPr id="13" name="TextBox 12"/>
          <p:cNvSpPr txBox="1"/>
          <p:nvPr/>
        </p:nvSpPr>
        <p:spPr>
          <a:xfrm>
            <a:off x="8091220" y="4343400"/>
            <a:ext cx="3259226" cy="914400"/>
          </a:xfrm>
          <a:prstGeom prst="rect">
            <a:avLst/>
          </a:prstGeom>
          <a:noFill/>
        </p:spPr>
        <p:txBody>
          <a:bodyPr wrap="square" anchor="t" lIns="0" rIns="0" tIns="0" bIns="0">
            <a:spAutoFit/>
          </a:bodyPr>
          <a:lstStyle/>
          <a:p>
            <a:pPr algn="l">
              <a:lnSpc>
                <a:spcPct val="125000"/>
              </a:lnSpc>
            </a:pPr>
            <a:r>
              <a:rPr sz="1150" b="0" i="0">
                <a:solidFill>
                  <a:srgbClr val="CBD5E1"/>
                </a:solidFill>
                <a:latin typeface="Arial"/>
              </a:rPr>
              <a:t>Ten checks, each with its status, timing and detail, stored on the decision and rendered in the console.</a:t>
            </a:r>
          </a:p>
        </p:txBody>
      </p:sp>
      <p:sp>
        <p:nvSpPr>
          <p:cNvPr id="14" name="Rectangle 13"/>
          <p:cNvSpPr/>
          <p:nvPr/>
        </p:nvSpPr>
        <p:spPr>
          <a:xfrm>
            <a:off x="658368" y="5532120"/>
            <a:ext cx="10874959" cy="10972"/>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788152"/>
            <a:ext cx="7315200" cy="274320"/>
          </a:xfrm>
          <a:prstGeom prst="rect">
            <a:avLst/>
          </a:prstGeom>
          <a:noFill/>
        </p:spPr>
        <p:txBody>
          <a:bodyPr wrap="square" anchor="t" lIns="0" rIns="0" tIns="0" bIns="0">
            <a:spAutoFit/>
          </a:bodyPr>
          <a:lstStyle/>
          <a:p>
            <a:pPr algn="l">
              <a:lnSpc>
                <a:spcPct val="100000"/>
              </a:lnSpc>
            </a:pPr>
            <a:r>
              <a:rPr sz="1200" b="0" i="0">
                <a:solidFill>
                  <a:srgbClr val="CBD5E1"/>
                </a:solidFill>
                <a:latin typeface="Consolas"/>
              </a:rPr>
              <a:t>docker run -p 8080:8080 ghcr.io/swetank18/pact:latest      then press 1 to 6</a:t>
            </a:r>
          </a:p>
        </p:txBody>
      </p:sp>
      <p:sp>
        <p:nvSpPr>
          <p:cNvPr id="16" name="TextBox 15"/>
          <p:cNvSpPr txBox="1"/>
          <p:nvPr/>
        </p:nvSpPr>
        <p:spPr>
          <a:xfrm>
            <a:off x="7875727" y="5788152"/>
            <a:ext cx="3657600" cy="274320"/>
          </a:xfrm>
          <a:prstGeom prst="rect">
            <a:avLst/>
          </a:prstGeom>
          <a:noFill/>
        </p:spPr>
        <p:txBody>
          <a:bodyPr wrap="square" anchor="t" lIns="0" rIns="0" tIns="0" bIns="0">
            <a:spAutoFit/>
          </a:bodyPr>
          <a:lstStyle/>
          <a:p>
            <a:pPr algn="r">
              <a:lnSpc>
                <a:spcPct val="100000"/>
              </a:lnSpc>
            </a:pPr>
            <a:r>
              <a:rPr sz="1200" b="1" i="0">
                <a:solidFill>
                  <a:srgbClr val="10B981"/>
                </a:solidFill>
                <a:latin typeface="Arial"/>
              </a:rPr>
              <a:t>github.com/swetank18/PACT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PACT</dc:title>
  <dc:subject>The merchant reads what the buyer is allowed to spend, before it quotes.</dc:subject>
  <dc:creator>swetank18</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