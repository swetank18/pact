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Lst>
  <p:sldSz cx="18288000" cy="10287000"/>
  <p:notesSz cx="6858000" cy="9144000"/>
  <p:embeddedFontLst>
    <p:embeddedFont>
      <p:font typeface="Arimo Bold" panose="020B0604020202020204" charset="0"/>
      <p:regular r:id="rId1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50" d="100"/>
          <a:sy n="50" d="100"/>
        </p:scale>
        <p:origin x="946" y="1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font" Target="fonts/font1.fntdata"/><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99694" cy="10283190"/>
          </a:xfrm>
          <a:custGeom>
            <a:avLst/>
            <a:gdLst/>
            <a:ahLst/>
            <a:cxnLst/>
            <a:rect l="l" t="t" r="r" b="b"/>
            <a:pathLst>
              <a:path w="18294778" h="10283190">
                <a:moveTo>
                  <a:pt x="0" y="0"/>
                </a:moveTo>
                <a:lnTo>
                  <a:pt x="18294778" y="0"/>
                </a:lnTo>
                <a:lnTo>
                  <a:pt x="18294778" y="10283190"/>
                </a:lnTo>
                <a:lnTo>
                  <a:pt x="0" y="10283190"/>
                </a:lnTo>
                <a:lnTo>
                  <a:pt x="0" y="0"/>
                </a:lnTo>
                <a:close/>
              </a:path>
            </a:pathLst>
          </a:custGeom>
          <a:blipFill>
            <a:blip r:embed="rId2"/>
            <a:stretch>
              <a:fillRect/>
            </a:stretch>
          </a:blipFill>
        </p:spPr>
        <p:txBody>
          <a:bodyPr/>
          <a:p/>
        </p:txBody>
      </p:sp>
      <p:sp>
        <p:nvSpPr>
          <p:cNvPr id="3" name="TextBox 3"/>
          <p:cNvSpPr txBox="1"/>
          <p:nvPr/>
        </p:nvSpPr>
        <p:spPr>
          <a:xfrm>
            <a:off x="5867400" y="3543300"/>
            <a:ext cx="6553200" cy="1041888"/>
          </a:xfrm>
          <a:prstGeom prst="rect">
            <a:avLst/>
          </a:prstGeom>
        </p:spPr>
        <p:txBody>
          <a:bodyPr wrap="square" lIns="0" tIns="0" rIns="0" bIns="0" rtlCol="0" anchor="t">
            <a:spAutoFit/>
          </a:bodyPr>
          <a:lstStyle/>
          <a:p>
            <a:pPr algn="ctr">
              <a:lnSpc>
                <a:spcPts val="8914"/>
              </a:lnSpc>
            </a:pPr>
            <a:r>
              <a:rPr lang="en-US" sz="6367" b="1" dirty="0">
                <a:solidFill>
                  <a:srgbClr val="FFFFFF"/>
                </a:solidFill>
                <a:latin typeface="Arimo Bold"/>
                <a:ea typeface="Arimo Bold"/>
                <a:cs typeface="Arimo Bold"/>
                <a:sym typeface="Arimo Bold"/>
              </a:rPr>
              <a:t>PACT</a:t>
            </a:r>
          </a:p>
        </p:txBody>
      </p:sp>
      <p:sp>
        <p:nvSpPr>
          <p:cNvPr id="4" name="TextBox 4"/>
          <p:cNvSpPr txBox="1"/>
          <p:nvPr/>
        </p:nvSpPr>
        <p:spPr>
          <a:xfrm>
            <a:off x="1596433" y="5312588"/>
            <a:ext cx="3549491"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NAME - </a:t>
            </a:r>
          </a:p>
        </p:txBody>
      </p:sp>
      <p:sp>
        <p:nvSpPr>
          <p:cNvPr id="5" name="TextBox 5"/>
          <p:cNvSpPr txBox="1"/>
          <p:nvPr/>
        </p:nvSpPr>
        <p:spPr>
          <a:xfrm>
            <a:off x="1596433" y="6362869"/>
            <a:ext cx="3435906"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LEAD - </a:t>
            </a:r>
          </a:p>
        </p:txBody>
      </p:sp>
      <p:sp>
        <p:nvSpPr>
          <p:cNvPr id="6" name="TextBox 6"/>
          <p:cNvSpPr txBox="1"/>
          <p:nvPr/>
        </p:nvSpPr>
        <p:spPr>
          <a:xfrm>
            <a:off x="1596433" y="7413149"/>
            <a:ext cx="2243138"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TRACK - AI Growth &amp; Agentic Commerce, Razorpay</a:t>
            </a:r>
          </a:p>
        </p:txBody>
      </p:sp>
      <p:sp>
        <p:nvSpPr>
          <p:cNvPr id="7" name="TextBox 6"/>
          <p:cNvSpPr txBox="1"/>
          <p:nvPr/>
        </p:nvSpPr>
        <p:spPr>
          <a:xfrm>
            <a:off x="1600200" y="4617720"/>
            <a:ext cx="15087600" cy="731520"/>
          </a:xfrm>
          <a:prstGeom prst="rect">
            <a:avLst/>
          </a:prstGeom>
          <a:noFill/>
        </p:spPr>
        <p:txBody>
          <a:bodyPr wrap="square" lIns="0" rIns="0" tIns="0" bIns="0" anchor="t">
            <a:spAutoFit/>
          </a:bodyPr>
          <a:lstStyle/>
          <a:p>
            <a:pPr algn="ctr">
              <a:spcBef>
                <a:spcPts val="0"/>
              </a:spcBef>
            </a:pPr>
            <a:r>
              <a:rPr sz="3000" b="0">
                <a:solidFill>
                  <a:srgbClr val="001B35"/>
                </a:solidFill>
                <a:latin typeface="Arial"/>
              </a:rPr>
              <a:t>The merchant reads what the buyer is allowed to spend — before it quotes.</a:t>
            </a:r>
          </a:p>
        </p:txBody>
      </p:sp>
      <p:sp>
        <p:nvSpPr>
          <p:cNvPr id="8" name="Rounded Rectangle 7"/>
          <p:cNvSpPr/>
          <p:nvPr/>
        </p:nvSpPr>
        <p:spPr>
          <a:xfrm>
            <a:off x="9464040" y="5559552"/>
            <a:ext cx="384048" cy="6858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0" y="5440680"/>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206 + 55 tests, green on every push</a:t>
            </a:r>
          </a:p>
        </p:txBody>
      </p:sp>
      <p:sp>
        <p:nvSpPr>
          <p:cNvPr id="10" name="Rounded Rectangle 9"/>
          <p:cNvSpPr/>
          <p:nvPr/>
        </p:nvSpPr>
        <p:spPr>
          <a:xfrm>
            <a:off x="9464040" y="6345936"/>
            <a:ext cx="384048" cy="6858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0" y="6227064"/>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49,501 purchases settled in a two-hour soak</a:t>
            </a:r>
          </a:p>
        </p:txBody>
      </p:sp>
      <p:sp>
        <p:nvSpPr>
          <p:cNvPr id="12" name="Rounded Rectangle 11"/>
          <p:cNvSpPr/>
          <p:nvPr/>
        </p:nvSpPr>
        <p:spPr>
          <a:xfrm>
            <a:off x="9464040" y="7132320"/>
            <a:ext cx="384048" cy="6858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0" y="7013448"/>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0% false blocks vs 28% for a client-side cap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137814" y="1181100"/>
            <a:ext cx="801237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PROBLEM STATEMENT</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Agentic commerce has standardised how an AI agent pays. Nothing lets the merchant read what that buyer is still allowed to spend before it makes an offer.</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cap is in the wrong place</a:t>
            </a:r>
          </a:p>
          <a:p>
            <a:pPr algn="l">
              <a:spcBef>
                <a:spcPts val="1350"/>
              </a:spcBef>
            </a:pPr>
            <a:r>
              <a:rPr sz="2025" b="0">
                <a:solidFill>
                  <a:srgbClr val="33506B"/>
                </a:solidFill>
                <a:latin typeface="Arial"/>
              </a:rPr>
              <a:t>Spending limits live inside the agent. A compromised or jailbroken agent simply does not run them.</a:t>
            </a:r>
          </a:p>
          <a:p>
            <a:pPr algn="l">
              <a:spcBef>
                <a:spcPts val="1350"/>
              </a:spcBef>
            </a:pPr>
            <a:r>
              <a:rPr sz="1950" b="1">
                <a:solidFill>
                  <a:srgbClr val="EF4444"/>
                </a:solidFill>
                <a:latin typeface="Arial"/>
              </a:rPr>
              <a:t>A client-side control is not a control.</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merchant is blind at quote time</a:t>
            </a:r>
          </a:p>
          <a:p>
            <a:pPr algn="l">
              <a:spcBef>
                <a:spcPts val="1350"/>
              </a:spcBef>
            </a:pPr>
            <a:r>
              <a:rPr sz="2025" b="0">
                <a:solidFill>
                  <a:srgbClr val="33506B"/>
                </a:solidFill>
                <a:latin typeface="Arial"/>
              </a:rPr>
              <a:t>With no way to read remaining authority it must guess: refuse sales that would have been approved, or accept payments the human never authorised.</a:t>
            </a:r>
          </a:p>
          <a:p>
            <a:pPr algn="l">
              <a:spcBef>
                <a:spcPts val="1350"/>
              </a:spcBef>
            </a:pPr>
            <a:r>
              <a:rPr sz="1950" b="1">
                <a:solidFill>
                  <a:srgbClr val="F59E0B"/>
                </a:solidFill>
                <a:latin typeface="Arial"/>
              </a:rPr>
              <a:t>Both mistakes are expensive.</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Ledgers overspend under concurrency</a:t>
            </a:r>
          </a:p>
          <a:p>
            <a:pPr algn="l">
              <a:spcBef>
                <a:spcPts val="1350"/>
              </a:spcBef>
            </a:pPr>
            <a:r>
              <a:rPr sz="2025" b="0">
                <a:solidFill>
                  <a:srgbClr val="33506B"/>
                </a:solidFill>
                <a:latin typeface="Arial"/>
              </a:rPr>
              <a:t>A read-then-write balance check loses the race. Twenty concurrent payments against room for five approve all twenty.</a:t>
            </a:r>
          </a:p>
          <a:p>
            <a:pPr algn="l">
              <a:spcBef>
                <a:spcPts val="1350"/>
              </a:spcBef>
            </a:pPr>
            <a:r>
              <a:rPr sz="1950" b="1">
                <a:solidFill>
                  <a:srgbClr val="EF4444"/>
                </a:solidFill>
                <a:latin typeface="Arial"/>
              </a:rPr>
              <a:t>4x overspend, measured in tests/test_race.py</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The first failure loses revenue. The second buys chargebacks, dispute handling and an account in bad standing — and the merchant carries both.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224939" y="1233900"/>
            <a:ext cx="7857173" cy="973002"/>
          </a:xfrm>
          <a:prstGeom prst="rect">
            <a:avLst/>
          </a:prstGeom>
        </p:spPr>
        <p:txBody>
          <a:bodyPr lIns="0" tIns="0" rIns="0" bIns="0" rtlCol="0" anchor="t">
            <a:spAutoFit/>
          </a:bodyPr>
          <a:lstStyle/>
          <a:p>
            <a:pPr algn="ctr">
              <a:lnSpc>
                <a:spcPts val="7794"/>
              </a:lnSpc>
            </a:pPr>
            <a:r>
              <a:rPr lang="en-US" sz="5567" b="1">
                <a:solidFill>
                  <a:srgbClr val="000000"/>
                </a:solidFill>
                <a:latin typeface="Arimo Bold"/>
                <a:ea typeface="Arimo Bold"/>
                <a:cs typeface="Arimo Bold"/>
                <a:sym typeface="Arimo Bold"/>
              </a:rPr>
              <a:t>PROPOSED SOLUTION</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 spending mandate signed on the principal's own device, a gate that decides on authority alone, and a headroom envelope the merchant can read before it quotes.</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TRUST</a:t>
            </a:r>
          </a:p>
          <a:p>
            <a:pPr algn="l">
              <a:spcBef>
                <a:spcPts val="1350"/>
              </a:spcBef>
            </a:pPr>
            <a:r>
              <a:rPr sz="2025" b="0">
                <a:solidFill>
                  <a:srgbClr val="33506B"/>
                </a:solidFill>
                <a:latin typeface="Arial"/>
              </a:rPr>
              <a:t>Ed25519 over RFC 8785 canonical JSON, signed in the browser. The agent carries the mandate and never the key. Nine checks at the gate, every decision written to an audit trail with a machine-readable reason code.</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COMMERCE</a:t>
            </a:r>
          </a:p>
          <a:p>
            <a:pPr algn="l">
              <a:spcBef>
                <a:spcPts val="1350"/>
              </a:spcBef>
            </a:pPr>
            <a:r>
              <a:rPr sz="2025" b="0">
                <a:solidFill>
                  <a:srgbClr val="33506B"/>
                </a:solidFill>
                <a:latin typeface="Arial"/>
              </a:rPr>
              <a:t>Prices are computed server-side, so a hallucinated price is structurally impossible rather than unlikely. Ceilings are reserved inside one transaction, so the race cannot overspend.</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GROWTH</a:t>
            </a:r>
          </a:p>
          <a:p>
            <a:pPr algn="l">
              <a:spcBef>
                <a:spcPts val="1350"/>
              </a:spcBef>
            </a:pPr>
            <a:r>
              <a:rPr sz="2025" b="0">
                <a:solidFill>
                  <a:srgbClr val="33506B"/>
                </a:solidFill>
                <a:latin typeface="Arial"/>
              </a:rPr>
              <a:t>The envelope reveals what is left, never the budget. The merchant offers only what will be approved — so the spending gate stops being friction and becomes a conversion instrument.</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Measured across four arms, 200 sessions each, three seeds: about 25% more net revenue than a client-side cap, with a 0% false block rate against its 28%.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938236" y="1181100"/>
            <a:ext cx="841152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TECHNICAL APPROACH</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Python and FastAPI · SQLite in WAL mode · React and TypeScript · Ed25519 with RFC 8785 JCS · Docker · GitHub Actions</a:t>
            </a:r>
          </a:p>
        </p:txBody>
      </p:sp>
      <p:sp>
        <p:nvSpPr>
          <p:cNvPr id="5" name="Rounded Rectangle 4"/>
          <p:cNvSpPr/>
          <p:nvPr/>
        </p:nvSpPr>
        <p:spPr>
          <a:xfrm>
            <a:off x="91440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867912"/>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Ceilings are reserved, not counted</a:t>
            </a:r>
          </a:p>
          <a:p>
            <a:pPr algn="l">
              <a:spcBef>
                <a:spcPts val="1350"/>
              </a:spcBef>
            </a:pPr>
            <a:r>
              <a:rPr sz="2025" b="0">
                <a:solidFill>
                  <a:srgbClr val="33506B"/>
                </a:solidFill>
                <a:latin typeface="Arial"/>
              </a:rPr>
              <a:t>The budget SUM runs inside the same BEGIN IMMEDIATE that inserts the reservation. Twenty racers, exactly five win.</a:t>
            </a:r>
          </a:p>
        </p:txBody>
      </p:sp>
      <p:sp>
        <p:nvSpPr>
          <p:cNvPr id="8" name="Rounded Rectangle 7"/>
          <p:cNvSpPr/>
          <p:nvPr/>
        </p:nvSpPr>
        <p:spPr>
          <a:xfrm>
            <a:off x="932688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9601200" y="3867912"/>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Replay is a PRIMARY KEY, not a SELECT</a:t>
            </a:r>
          </a:p>
          <a:p>
            <a:pPr algn="l">
              <a:spcBef>
                <a:spcPts val="1350"/>
              </a:spcBef>
            </a:pPr>
            <a:r>
              <a:rPr sz="2025" b="0">
                <a:solidFill>
                  <a:srgbClr val="33506B"/>
                </a:solidFill>
                <a:latin typeface="Arial"/>
              </a:rPr>
              <a:t>The IntegrityError is the replay. A select-then-insert would be a second race and a second round trip.</a:t>
            </a:r>
          </a:p>
        </p:txBody>
      </p:sp>
      <p:sp>
        <p:nvSpPr>
          <p:cNvPr id="11" name="Rounded Rectangle 10"/>
          <p:cNvSpPr/>
          <p:nvPr/>
        </p:nvSpPr>
        <p:spPr>
          <a:xfrm>
            <a:off x="91440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188720" y="6053327"/>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core cannot see the rail</a:t>
            </a:r>
          </a:p>
          <a:p>
            <a:pPr algn="l">
              <a:spcBef>
                <a:spcPts val="1350"/>
              </a:spcBef>
            </a:pPr>
            <a:r>
              <a:rPr sz="2025" b="0">
                <a:solidFill>
                  <a:srgbClr val="33506B"/>
                </a:solidFill>
                <a:latin typeface="Arial"/>
              </a:rPr>
              <a:t>Nothing in core/ imports rails/, and no executable line there may name a vendor. Enforced by an AST test, not by review.</a:t>
            </a:r>
          </a:p>
        </p:txBody>
      </p:sp>
      <p:sp>
        <p:nvSpPr>
          <p:cNvPr id="14" name="Rounded Rectangle 13"/>
          <p:cNvSpPr/>
          <p:nvPr/>
        </p:nvSpPr>
        <p:spPr>
          <a:xfrm>
            <a:off x="932688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9601200" y="6053327"/>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Fail closed, always</a:t>
            </a:r>
          </a:p>
          <a:p>
            <a:pPr algn="l">
              <a:spcBef>
                <a:spcPts val="1350"/>
              </a:spcBef>
            </a:pPr>
            <a:r>
              <a:rPr sz="2025" b="0">
                <a:solidFill>
                  <a:srgbClr val="33506B"/>
                </a:solidFill>
                <a:latin typeface="Arial"/>
              </a:rPr>
              <a:t>Any error, timeout or unparseable input becomes BLOCK or STEP_UP. A gate that crashes open is worse than no gate.</a:t>
            </a:r>
          </a:p>
        </p:txBody>
      </p:sp>
      <p:sp>
        <p:nvSpPr>
          <p:cNvPr id="17" name="Rounded Rectangle 16"/>
          <p:cNvSpPr/>
          <p:nvPr/>
        </p:nvSpPr>
        <p:spPr>
          <a:xfrm>
            <a:off x="914400" y="8110728"/>
            <a:ext cx="16459200" cy="960120"/>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25880" y="8110728"/>
            <a:ext cx="15636240" cy="960120"/>
          </a:xfrm>
          <a:prstGeom prst="rect">
            <a:avLst/>
          </a:prstGeom>
          <a:noFill/>
        </p:spPr>
        <p:txBody>
          <a:bodyPr wrap="square" lIns="0" rIns="0" tIns="0" bIns="0" anchor="ctr">
            <a:spAutoFit/>
          </a:bodyPr>
          <a:lstStyle/>
          <a:p>
            <a:pPr algn="l">
              <a:spcBef>
                <a:spcPts val="0"/>
              </a:spcBef>
            </a:pPr>
            <a:r>
              <a:rPr sz="2325" b="1">
                <a:solidFill>
                  <a:srgbClr val="FFFFFF"/>
                </a:solidFill>
                <a:latin typeface="Arial"/>
              </a:rPr>
              <a:t>206 Python tests, 55 console tests, and the six demo beats run against the image itself on every push.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531876" y="1181100"/>
            <a:ext cx="922424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ARCHITECTURE DIAGRAM</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One purchase, left to right. The human signs; the agent carries; the merchant asks before it offers; the gate decides on authority alone.</a:t>
            </a:r>
          </a:p>
        </p:txBody>
      </p:sp>
      <p:sp>
        <p:nvSpPr>
          <p:cNvPr id="5" name="Rounded Rectangle 4"/>
          <p:cNvSpPr/>
          <p:nvPr/>
        </p:nvSpPr>
        <p:spPr>
          <a:xfrm>
            <a:off x="914400"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914400" y="3273552"/>
            <a:ext cx="3881628" cy="91440"/>
          </a:xfrm>
          <a:prstGeom prst="roundRect">
            <a:avLst>
              <a:gd name="adj" fmla="val 500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2144"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PRINCIPAL</a:t>
            </a:r>
          </a:p>
          <a:p>
            <a:pPr algn="l">
              <a:spcBef>
                <a:spcPts val="450"/>
              </a:spcBef>
            </a:pPr>
            <a:r>
              <a:rPr sz="1875" b="0">
                <a:solidFill>
                  <a:srgbClr val="001B35"/>
                </a:solidFill>
                <a:latin typeface="Arial"/>
              </a:rPr>
              <a:t>the human</a:t>
            </a:r>
          </a:p>
          <a:p>
            <a:pPr algn="l">
              <a:spcBef>
                <a:spcPts val="1350"/>
              </a:spcBef>
            </a:pPr>
            <a:r>
              <a:rPr sz="1950" b="0">
                <a:solidFill>
                  <a:srgbClr val="33506B"/>
                </a:solidFill>
                <a:latin typeface="Arial"/>
              </a:rPr>
              <a:t>·  Signs on device</a:t>
            </a:r>
          </a:p>
          <a:p>
            <a:pPr algn="l">
              <a:spcBef>
                <a:spcPts val="1350"/>
              </a:spcBef>
            </a:pPr>
            <a:r>
              <a:rPr sz="1950" b="0">
                <a:solidFill>
                  <a:srgbClr val="33506B"/>
                </a:solidFill>
                <a:latin typeface="Arial"/>
              </a:rPr>
              <a:t>·  Holds the only key</a:t>
            </a:r>
          </a:p>
          <a:p>
            <a:pPr algn="l">
              <a:spcBef>
                <a:spcPts val="1350"/>
              </a:spcBef>
            </a:pPr>
            <a:r>
              <a:rPr sz="1950" b="0">
                <a:solidFill>
                  <a:srgbClr val="33506B"/>
                </a:solidFill>
                <a:latin typeface="Arial"/>
              </a:rPr>
              <a:t>·  Kill switch revokes</a:t>
            </a:r>
          </a:p>
        </p:txBody>
      </p:sp>
      <p:sp>
        <p:nvSpPr>
          <p:cNvPr id="8" name="Right Arrow 7"/>
          <p:cNvSpPr/>
          <p:nvPr/>
        </p:nvSpPr>
        <p:spPr>
          <a:xfrm>
            <a:off x="4837176"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106924"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5106924" y="3273552"/>
            <a:ext cx="3881628" cy="9144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4668"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BUYER AGENT</a:t>
            </a:r>
          </a:p>
          <a:p>
            <a:pPr algn="l">
              <a:spcBef>
                <a:spcPts val="450"/>
              </a:spcBef>
            </a:pPr>
            <a:r>
              <a:rPr sz="1875" b="0">
                <a:solidFill>
                  <a:srgbClr val="1D6FC4"/>
                </a:solidFill>
                <a:latin typeface="Arial"/>
              </a:rPr>
              <a:t>carries, cannot mint</a:t>
            </a:r>
          </a:p>
          <a:p>
            <a:pPr algn="l">
              <a:spcBef>
                <a:spcPts val="1350"/>
              </a:spcBef>
            </a:pPr>
            <a:r>
              <a:rPr sz="1950" b="0">
                <a:solidFill>
                  <a:srgbClr val="33506B"/>
                </a:solidFill>
                <a:latin typeface="Arial"/>
              </a:rPr>
              <a:t>·  Carries the mandate</a:t>
            </a:r>
          </a:p>
          <a:p>
            <a:pPr algn="l">
              <a:spcBef>
                <a:spcPts val="1350"/>
              </a:spcBef>
            </a:pPr>
            <a:r>
              <a:rPr sz="1950" b="0">
                <a:solidFill>
                  <a:srgbClr val="33506B"/>
                </a:solidFill>
                <a:latin typeface="Arial"/>
              </a:rPr>
              <a:t>·  Never holds the key</a:t>
            </a:r>
          </a:p>
          <a:p>
            <a:pPr algn="l">
              <a:spcBef>
                <a:spcPts val="1350"/>
              </a:spcBef>
            </a:pPr>
            <a:r>
              <a:rPr sz="1950" b="0">
                <a:solidFill>
                  <a:srgbClr val="33506B"/>
                </a:solidFill>
                <a:latin typeface="Arial"/>
              </a:rPr>
              <a:t>·  Cannot widen it</a:t>
            </a:r>
          </a:p>
        </p:txBody>
      </p:sp>
      <p:sp>
        <p:nvSpPr>
          <p:cNvPr id="12" name="Right Arrow 11"/>
          <p:cNvSpPr/>
          <p:nvPr/>
        </p:nvSpPr>
        <p:spPr>
          <a:xfrm>
            <a:off x="9029700"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299448"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9299448" y="3273552"/>
            <a:ext cx="3881628" cy="9144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7192"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MERCHANT</a:t>
            </a:r>
          </a:p>
          <a:p>
            <a:pPr algn="l">
              <a:spcBef>
                <a:spcPts val="450"/>
              </a:spcBef>
            </a:pPr>
            <a:r>
              <a:rPr sz="1875" b="0">
                <a:solidFill>
                  <a:srgbClr val="109881"/>
                </a:solidFill>
                <a:latin typeface="Arial"/>
              </a:rPr>
              <a:t>offers what will pass</a:t>
            </a:r>
          </a:p>
          <a:p>
            <a:pPr algn="l">
              <a:spcBef>
                <a:spcPts val="1350"/>
              </a:spcBef>
            </a:pPr>
            <a:r>
              <a:rPr sz="1950" b="0">
                <a:solidFill>
                  <a:srgbClr val="33506B"/>
                </a:solidFill>
                <a:latin typeface="Arial"/>
              </a:rPr>
              <a:t>·  Reads the envelope</a:t>
            </a:r>
          </a:p>
          <a:p>
            <a:pPr algn="l">
              <a:spcBef>
                <a:spcPts val="1350"/>
              </a:spcBef>
            </a:pPr>
            <a:r>
              <a:rPr sz="1950" b="0">
                <a:solidFill>
                  <a:srgbClr val="33506B"/>
                </a:solidFill>
                <a:latin typeface="Arial"/>
              </a:rPr>
              <a:t>·  Quotes server-side</a:t>
            </a:r>
          </a:p>
          <a:p>
            <a:pPr algn="l">
              <a:spcBef>
                <a:spcPts val="1350"/>
              </a:spcBef>
            </a:pPr>
            <a:r>
              <a:rPr sz="1950" b="0">
                <a:solidFill>
                  <a:srgbClr val="33506B"/>
                </a:solidFill>
                <a:latin typeface="Arial"/>
              </a:rPr>
              <a:t>·  Upsells within it</a:t>
            </a:r>
          </a:p>
        </p:txBody>
      </p:sp>
      <p:sp>
        <p:nvSpPr>
          <p:cNvPr id="16" name="Right Arrow 15"/>
          <p:cNvSpPr/>
          <p:nvPr/>
        </p:nvSpPr>
        <p:spPr>
          <a:xfrm>
            <a:off x="13222224"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3491972"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3491972" y="3273552"/>
            <a:ext cx="3881628" cy="9144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29716"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GATE</a:t>
            </a:r>
          </a:p>
          <a:p>
            <a:pPr algn="l">
              <a:spcBef>
                <a:spcPts val="450"/>
              </a:spcBef>
            </a:pPr>
            <a:r>
              <a:rPr sz="1875" b="0">
                <a:solidFill>
                  <a:srgbClr val="F59E0B"/>
                </a:solidFill>
                <a:latin typeface="Arial"/>
              </a:rPr>
              <a:t>decides on authority</a:t>
            </a:r>
          </a:p>
          <a:p>
            <a:pPr algn="l">
              <a:spcBef>
                <a:spcPts val="1350"/>
              </a:spcBef>
            </a:pPr>
            <a:r>
              <a:rPr sz="1950" b="0">
                <a:solidFill>
                  <a:srgbClr val="33506B"/>
                </a:solidFill>
                <a:latin typeface="Arial"/>
              </a:rPr>
              <a:t>·  Nine checks, ~4 ms</a:t>
            </a:r>
          </a:p>
          <a:p>
            <a:pPr algn="l">
              <a:spcBef>
                <a:spcPts val="1350"/>
              </a:spcBef>
            </a:pPr>
            <a:r>
              <a:rPr sz="1950" b="0">
                <a:solidFill>
                  <a:srgbClr val="33506B"/>
                </a:solidFill>
                <a:latin typeface="Arial"/>
              </a:rPr>
              <a:t>·  Reserves atomically</a:t>
            </a:r>
          </a:p>
          <a:p>
            <a:pPr algn="l">
              <a:spcBef>
                <a:spcPts val="1350"/>
              </a:spcBef>
            </a:pPr>
            <a:r>
              <a:rPr sz="1950" b="0">
                <a:solidFill>
                  <a:srgbClr val="33506B"/>
                </a:solidFill>
                <a:latin typeface="Arial"/>
              </a:rPr>
              <a:t>·  Writes a reason code</a:t>
            </a:r>
          </a:p>
        </p:txBody>
      </p:sp>
      <p:sp>
        <p:nvSpPr>
          <p:cNvPr id="20" name="TextBox 19"/>
          <p:cNvSpPr txBox="1"/>
          <p:nvPr/>
        </p:nvSpPr>
        <p:spPr>
          <a:xfrm>
            <a:off x="2855214"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signed mandate</a:t>
            </a:r>
          </a:p>
        </p:txBody>
      </p:sp>
      <p:sp>
        <p:nvSpPr>
          <p:cNvPr id="21" name="TextBox 20"/>
          <p:cNvSpPr txBox="1"/>
          <p:nvPr/>
        </p:nvSpPr>
        <p:spPr>
          <a:xfrm>
            <a:off x="7047738"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GET /headroom → envelope</a:t>
            </a:r>
          </a:p>
        </p:txBody>
      </p:sp>
      <p:sp>
        <p:nvSpPr>
          <p:cNvPr id="22" name="TextBox 21"/>
          <p:cNvSpPr txBox="1"/>
          <p:nvPr/>
        </p:nvSpPr>
        <p:spPr>
          <a:xfrm>
            <a:off x="11240262"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settlement token</a:t>
            </a:r>
          </a:p>
        </p:txBody>
      </p:sp>
      <p:sp>
        <p:nvSpPr>
          <p:cNvPr id="23" name="Rounded Rectangle 22"/>
          <p:cNvSpPr/>
          <p:nvPr/>
        </p:nvSpPr>
        <p:spPr>
          <a:xfrm>
            <a:off x="914400"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188720"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SETTLEMENT RAIL   mock_upi · Razorpay</a:t>
            </a:r>
          </a:p>
          <a:p>
            <a:pPr algn="l">
              <a:spcBef>
                <a:spcPts val="900"/>
              </a:spcBef>
            </a:pPr>
            <a:r>
              <a:rPr sz="2025" b="0">
                <a:solidFill>
                  <a:srgbClr val="33506B"/>
                </a:solidFill>
                <a:latin typeface="Arial"/>
              </a:rPr>
              <a:t>Swapped by one flag. The gate has never heard of either — nothing in core/ imports a rail.</a:t>
            </a:r>
          </a:p>
        </p:txBody>
      </p:sp>
      <p:sp>
        <p:nvSpPr>
          <p:cNvPr id="25" name="Rounded Rectangle 24"/>
          <p:cNvSpPr/>
          <p:nvPr/>
        </p:nvSpPr>
        <p:spPr>
          <a:xfrm>
            <a:off x="9299448"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573768"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CONSOLE   five surfaces, one of them the principal's</a:t>
            </a:r>
          </a:p>
          <a:p>
            <a:pPr algn="l">
              <a:spcBef>
                <a:spcPts val="900"/>
              </a:spcBef>
            </a:pPr>
            <a:r>
              <a:rPr sz="2025" b="0">
                <a:solidFill>
                  <a:srgbClr val="33506B"/>
                </a:solidFill>
                <a:latin typeface="Arial"/>
              </a:rPr>
              <a:t>Merchant, grant, checkout, pitch — and a firewall the person whose money it is can watch, with its own kill switch.</a:t>
            </a:r>
          </a:p>
        </p:txBody>
      </p:sp>
      <p:sp>
        <p:nvSpPr>
          <p:cNvPr id="27" name="TextBox 26"/>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Failure path, same diagram: capture succeeds → fulfilment fails → refund issued → budget released → alternative offered → the buyer signs it → RECOVERED. Compensations run in reverse, each idempotent; a refund that fails three times parks the order rather than swallowing it.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3680519" y="1181100"/>
            <a:ext cx="1092696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FEASIBILITY AND SCALABILITY</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It is built and running, and every number below was produced by running it rather than by estimating it.</a:t>
            </a:r>
          </a:p>
        </p:txBody>
      </p:sp>
      <p:sp>
        <p:nvSpPr>
          <p:cNvPr id="5" name="Rounded Rectangle 4"/>
          <p:cNvSpPr/>
          <p:nvPr/>
        </p:nvSpPr>
        <p:spPr>
          <a:xfrm>
            <a:off x="914400"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70432"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432"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49,501</a:t>
            </a:r>
          </a:p>
          <a:p>
            <a:pPr algn="l">
              <a:spcBef>
                <a:spcPts val="750"/>
              </a:spcBef>
            </a:pPr>
            <a:r>
              <a:rPr sz="1950" b="0">
                <a:solidFill>
                  <a:srgbClr val="64748B"/>
                </a:solidFill>
                <a:latin typeface="Arial"/>
              </a:rPr>
              <a:t>purchases in a two-hour soak,
zero transport or server errors</a:t>
            </a:r>
          </a:p>
        </p:txBody>
      </p:sp>
      <p:sp>
        <p:nvSpPr>
          <p:cNvPr id="8" name="Rounded Rectangle 7"/>
          <p:cNvSpPr/>
          <p:nvPr/>
        </p:nvSpPr>
        <p:spPr>
          <a:xfrm>
            <a:off x="5111496"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367528"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67528"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₹4.86 cr</a:t>
            </a:r>
          </a:p>
          <a:p>
            <a:pPr algn="l">
              <a:spcBef>
                <a:spcPts val="750"/>
              </a:spcBef>
            </a:pPr>
            <a:r>
              <a:rPr sz="1950" b="0">
                <a:solidFill>
                  <a:srgbClr val="64748B"/>
                </a:solidFill>
                <a:latin typeface="Arial"/>
              </a:rPr>
              <a:t>settled, and the ledger agreed
with the harness to the paise</a:t>
            </a:r>
          </a:p>
        </p:txBody>
      </p:sp>
      <p:sp>
        <p:nvSpPr>
          <p:cNvPr id="11" name="Rounded Rectangle 10"/>
          <p:cNvSpPr/>
          <p:nvPr/>
        </p:nvSpPr>
        <p:spPr>
          <a:xfrm>
            <a:off x="9308592"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9564624"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64624"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53 / s</a:t>
            </a:r>
          </a:p>
          <a:p>
            <a:pPr algn="l">
              <a:spcBef>
                <a:spcPts val="750"/>
              </a:spcBef>
            </a:pPr>
            <a:r>
              <a:rPr sz="1950" b="0">
                <a:solidFill>
                  <a:srgbClr val="64748B"/>
                </a:solidFill>
                <a:latin typeface="Arial"/>
              </a:rPr>
              <a:t>measured ceiling, 32 buyers,
200/200 completed</a:t>
            </a:r>
          </a:p>
        </p:txBody>
      </p:sp>
      <p:sp>
        <p:nvSpPr>
          <p:cNvPr id="14" name="Rounded Rectangle 13"/>
          <p:cNvSpPr/>
          <p:nvPr/>
        </p:nvSpPr>
        <p:spPr>
          <a:xfrm>
            <a:off x="13505688"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13761720"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61720"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 ms</a:t>
            </a:r>
          </a:p>
          <a:p>
            <a:pPr algn="l">
              <a:spcBef>
                <a:spcPts val="750"/>
              </a:spcBef>
            </a:pPr>
            <a:r>
              <a:rPr sz="1950" b="0">
                <a:solidFill>
                  <a:srgbClr val="64748B"/>
                </a:solidFill>
                <a:latin typeface="Arial"/>
              </a:rPr>
              <a:t>for the gate to reach ALLOW
across its ten checks</a:t>
            </a:r>
          </a:p>
        </p:txBody>
      </p:sp>
      <p:sp>
        <p:nvSpPr>
          <p:cNvPr id="17" name="Rounded Rectangle 16"/>
          <p:cNvSpPr/>
          <p:nvPr/>
        </p:nvSpPr>
        <p:spPr>
          <a:xfrm>
            <a:off x="914400"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188720" y="5733288"/>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FEASIBLE — because it already runs</a:t>
            </a:r>
          </a:p>
          <a:p>
            <a:pPr algn="l">
              <a:spcBef>
                <a:spcPts val="1350"/>
              </a:spcBef>
            </a:pPr>
            <a:r>
              <a:rPr sz="2025" b="0">
                <a:solidFill>
                  <a:srgbClr val="33506B"/>
                </a:solidFill>
                <a:latin typeface="Arial"/>
              </a:rPr>
              <a:t>·  CI publishes the image only after the six beats pass on it</a:t>
            </a:r>
          </a:p>
          <a:p>
            <a:pPr algn="l">
              <a:spcBef>
                <a:spcPts val="1050"/>
              </a:spcBef>
            </a:pPr>
            <a:r>
              <a:rPr sz="2025" b="0">
                <a:solidFill>
                  <a:srgbClr val="33506B"/>
                </a:solidFill>
                <a:latin typeface="Arial"/>
              </a:rPr>
              <a:t>·  Rollback proven end to end, through to RECOVERED</a:t>
            </a:r>
          </a:p>
          <a:p>
            <a:pPr algn="l">
              <a:spcBef>
                <a:spcPts val="1050"/>
              </a:spcBef>
            </a:pPr>
            <a:r>
              <a:rPr sz="2025" b="0">
                <a:solidFill>
                  <a:srgbClr val="33506B"/>
                </a:solidFill>
                <a:latin typeface="Arial"/>
              </a:rPr>
              <a:t>·  593,961 SSE frames to one subscriber, zero reconnects</a:t>
            </a:r>
          </a:p>
          <a:p>
            <a:pPr algn="l">
              <a:spcBef>
                <a:spcPts val="1050"/>
              </a:spcBef>
            </a:pPr>
            <a:r>
              <a:rPr sz="2025" b="0">
                <a:solidFill>
                  <a:srgbClr val="33506B"/>
                </a:solidFill>
                <a:latin typeface="Arial"/>
              </a:rPr>
              <a:t>·  A recorded backup take, re-recorded by CI on every push</a:t>
            </a:r>
          </a:p>
        </p:txBody>
      </p:sp>
      <p:sp>
        <p:nvSpPr>
          <p:cNvPr id="20" name="Rounded Rectangle 19"/>
          <p:cNvSpPr/>
          <p:nvPr/>
        </p:nvSpPr>
        <p:spPr>
          <a:xfrm>
            <a:off x="9308592"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9582912" y="5733288"/>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82912"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SCALABLE — and the limits are named</a:t>
            </a:r>
          </a:p>
          <a:p>
            <a:pPr algn="l">
              <a:spcBef>
                <a:spcPts val="1350"/>
              </a:spcBef>
            </a:pPr>
            <a:r>
              <a:rPr sz="2025" b="0">
                <a:solidFill>
                  <a:srgbClr val="33506B"/>
                </a:solidFill>
                <a:latin typeface="Arial"/>
              </a:rPr>
              <a:t>·  It degrades by refusing, never by settling unauthorised</a:t>
            </a:r>
          </a:p>
          <a:p>
            <a:pPr algn="l">
              <a:spcBef>
                <a:spcPts val="1050"/>
              </a:spcBef>
            </a:pPr>
            <a:r>
              <a:rPr sz="2025" b="0">
                <a:solidFill>
                  <a:srgbClr val="33506B"/>
                </a:solidFill>
                <a:latin typeface="Arial"/>
              </a:rPr>
              <a:t>·  A leak found under load and closed: 620 bytes a purchase → 7</a:t>
            </a:r>
          </a:p>
          <a:p>
            <a:pPr algn="l">
              <a:spcBef>
                <a:spcPts val="1050"/>
              </a:spcBef>
            </a:pPr>
            <a:r>
              <a:rPr sz="2025" b="0">
                <a:solidFill>
                  <a:srgbClr val="33506B"/>
                </a:solidFill>
                <a:latin typeface="Arial"/>
              </a:rPr>
              <a:t>·  One worker on SQLite; Postgres and a queue is the next step</a:t>
            </a:r>
          </a:p>
        </p:txBody>
      </p:sp>
      <p:sp>
        <p:nvSpPr>
          <p:cNvPr id="23" name="TextBox 22"/>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Stated rather than glossed: the Razorpay client is driven against a fake built from the API notes, not the live API, and the intent auditor's model has not been called — so that one attack is reported N/A rather than as a pass.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6166604" y="1181100"/>
            <a:ext cx="5954792"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TEAM MEMBERS</a:t>
            </a:r>
          </a:p>
        </p:txBody>
      </p:sp>
      <p:sp>
        <p:nvSpPr>
          <p:cNvPr id="4" name="TextBox 3"/>
          <p:cNvSpPr txBox="1"/>
          <p:nvPr/>
        </p:nvSpPr>
        <p:spPr>
          <a:xfrm>
            <a:off x="914400" y="2395728"/>
            <a:ext cx="16459200" cy="713232"/>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Three lanes, one repository, 107 commits on main — backend, evidence and interfaces, each with its own directory and its own tests.</a:t>
            </a:r>
          </a:p>
        </p:txBody>
      </p:sp>
      <p:sp>
        <p:nvSpPr>
          <p:cNvPr id="5" name="Rounded Rectangle 4"/>
          <p:cNvSpPr/>
          <p:nvPr/>
        </p:nvSpPr>
        <p:spPr>
          <a:xfrm>
            <a:off x="914400"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529584"/>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A — BACKEND</a:t>
            </a:r>
          </a:p>
          <a:p>
            <a:pPr algn="l">
              <a:spcBef>
                <a:spcPts val="900"/>
              </a:spcBef>
            </a:pPr>
            <a:r>
              <a:rPr sz="1950" b="1">
                <a:solidFill>
                  <a:srgbClr val="1D6FC4"/>
                </a:solidFill>
                <a:latin typeface="Arial"/>
              </a:rPr>
              <a:t>contracts/  core/  rails/  merchant/</a:t>
            </a:r>
          </a:p>
          <a:p>
            <a:pPr algn="l">
              <a:spcBef>
                <a:spcPts val="1500"/>
              </a:spcBef>
            </a:pPr>
            <a:r>
              <a:rPr sz="2100" b="0">
                <a:solidFill>
                  <a:srgbClr val="33506B"/>
                </a:solidFill>
                <a:latin typeface="Arial"/>
              </a:rPr>
              <a:t>The gate and its ten checks, the reservation ledger, the quote engine, the rollback saga and the settlement rails.</a:t>
            </a:r>
          </a:p>
        </p:txBody>
      </p:sp>
      <p:sp>
        <p:nvSpPr>
          <p:cNvPr id="8" name="TextBox 7"/>
          <p:cNvSpPr txBox="1"/>
          <p:nvPr/>
        </p:nvSpPr>
        <p:spPr>
          <a:xfrm>
            <a:off x="1188720"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SWETANK</a:t>
            </a:r>
          </a:p>
        </p:txBody>
      </p:sp>
      <p:sp>
        <p:nvSpPr>
          <p:cNvPr id="9" name="Rectangle 8"/>
          <p:cNvSpPr/>
          <p:nvPr/>
        </p:nvSpPr>
        <p:spPr>
          <a:xfrm>
            <a:off x="1188720"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28816"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803136" y="3529584"/>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3136"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B — EVIDENCE</a:t>
            </a:r>
          </a:p>
          <a:p>
            <a:pPr algn="l">
              <a:spcBef>
                <a:spcPts val="900"/>
              </a:spcBef>
            </a:pPr>
            <a:r>
              <a:rPr sz="1950" b="1">
                <a:solidFill>
                  <a:srgbClr val="109881"/>
                </a:solidFill>
                <a:latin typeface="Arial"/>
              </a:rPr>
              <a:t>buyer/  sim/  eval/</a:t>
            </a:r>
          </a:p>
          <a:p>
            <a:pPr algn="l">
              <a:spcBef>
                <a:spcPts val="1500"/>
              </a:spcBef>
            </a:pPr>
            <a:r>
              <a:rPr sz="2100" b="0">
                <a:solidFill>
                  <a:srgbClr val="33506B"/>
                </a:solidFill>
                <a:latin typeface="Arial"/>
              </a:rPr>
              <a:t>The buyer agent, the four-arm experiment, the attack suite and every generated number in the results.</a:t>
            </a:r>
          </a:p>
        </p:txBody>
      </p:sp>
      <p:sp>
        <p:nvSpPr>
          <p:cNvPr id="13" name="TextBox 12"/>
          <p:cNvSpPr txBox="1"/>
          <p:nvPr/>
        </p:nvSpPr>
        <p:spPr>
          <a:xfrm>
            <a:off x="6803136"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UTKARSH</a:t>
            </a:r>
          </a:p>
        </p:txBody>
      </p:sp>
      <p:sp>
        <p:nvSpPr>
          <p:cNvPr id="14" name="Rectangle 13"/>
          <p:cNvSpPr/>
          <p:nvPr/>
        </p:nvSpPr>
        <p:spPr>
          <a:xfrm>
            <a:off x="6803136"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143232"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2417552" y="3529584"/>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417552"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C — INTERFACES</a:t>
            </a:r>
          </a:p>
          <a:p>
            <a:pPr algn="l">
              <a:spcBef>
                <a:spcPts val="900"/>
              </a:spcBef>
            </a:pPr>
            <a:r>
              <a:rPr sz="1950" b="1">
                <a:solidFill>
                  <a:srgbClr val="F59E0B"/>
                </a:solidFill>
                <a:latin typeface="Arial"/>
              </a:rPr>
              <a:t>console/</a:t>
            </a:r>
          </a:p>
          <a:p>
            <a:pPr algn="l">
              <a:spcBef>
                <a:spcPts val="1500"/>
              </a:spcBef>
            </a:pPr>
            <a:r>
              <a:rPr sz="2100" b="0">
                <a:solidFill>
                  <a:srgbClr val="33506B"/>
                </a:solidFill>
                <a:latin typeface="Arial"/>
              </a:rPr>
              <a:t>Five surfaces including the principal's firewall, the signature parity check that runs in the browser, and the demo.</a:t>
            </a:r>
          </a:p>
        </p:txBody>
      </p:sp>
      <p:sp>
        <p:nvSpPr>
          <p:cNvPr id="18" name="TextBox 17"/>
          <p:cNvSpPr txBox="1"/>
          <p:nvPr/>
        </p:nvSpPr>
        <p:spPr>
          <a:xfrm>
            <a:off x="12417552"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DEVANSH</a:t>
            </a:r>
          </a:p>
        </p:txBody>
      </p:sp>
      <p:sp>
        <p:nvSpPr>
          <p:cNvPr id="19" name="Rectangle 18"/>
          <p:cNvSpPr/>
          <p:nvPr/>
        </p:nvSpPr>
        <p:spPr>
          <a:xfrm>
            <a:off x="12417552"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2025" b="0">
                <a:solidFill>
                  <a:srgbClr val="64748B"/>
                </a:solidFill>
                <a:latin typeface="Arial"/>
              </a:rPr>
              <a:t>Every member presents in the Q&amp;A, as the rulebook requires.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118</Words>
  <Application>Microsoft Office PowerPoint</Application>
  <PresentationFormat>Custom</PresentationFormat>
  <Paragraphs>16</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Calibri</vt:lpstr>
      <vt:lpstr>Arimo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Hack Summit 7.0</dc:title>
  <cp:lastModifiedBy>Pranjal Garg</cp:lastModifiedBy>
  <cp:revision>3</cp:revision>
  <dcterms:created xsi:type="dcterms:W3CDTF">2006-08-16T00:00:00Z</dcterms:created>
  <dcterms:modified xsi:type="dcterms:W3CDTF">2026-09-01T14:09:16Z</dcterms:modified>
  <dc:identifier>DAHT9LSGs_E</dc:identifier>
</cp:coreProperties>
</file>