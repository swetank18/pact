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Arimo Bold"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font" Target="fonts/font1.fntdata"/><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99694" cy="10283190"/>
          </a:xfrm>
          <a:custGeom>
            <a:avLst/>
            <a:gdLst/>
            <a:ahLst/>
            <a:cxnLst/>
            <a:rect l="l" t="t" r="r" b="b"/>
            <a:pathLst>
              <a:path w="18294778" h="10283190">
                <a:moveTo>
                  <a:pt x="0" y="0"/>
                </a:moveTo>
                <a:lnTo>
                  <a:pt x="18294778" y="0"/>
                </a:lnTo>
                <a:lnTo>
                  <a:pt x="18294778" y="10283190"/>
                </a:lnTo>
                <a:lnTo>
                  <a:pt x="0" y="10283190"/>
                </a:lnTo>
                <a:lnTo>
                  <a:pt x="0" y="0"/>
                </a:lnTo>
                <a:close/>
              </a:path>
            </a:pathLst>
          </a:custGeom>
          <a:blipFill>
            <a:blip r:embed="rId2"/>
            <a:stretch>
              <a:fillRect/>
            </a:stretch>
          </a:blipFill>
        </p:spPr>
        <p:txBody>
          <a:bodyPr/>
          <a:p/>
        </p:txBody>
      </p:sp>
      <p:sp>
        <p:nvSpPr>
          <p:cNvPr id="3" name="TextBox 3"/>
          <p:cNvSpPr txBox="1"/>
          <p:nvPr/>
        </p:nvSpPr>
        <p:spPr>
          <a:xfrm>
            <a:off x="5867400" y="3543300"/>
            <a:ext cx="6553200" cy="1041888"/>
          </a:xfrm>
          <a:prstGeom prst="rect">
            <a:avLst/>
          </a:prstGeom>
        </p:spPr>
        <p:txBody>
          <a:bodyPr wrap="square" lIns="0" tIns="0" rIns="0" bIns="0" rtlCol="0" anchor="t">
            <a:spAutoFit/>
          </a:bodyPr>
          <a:lstStyle/>
          <a:p>
            <a:pPr algn="ctr">
              <a:lnSpc>
                <a:spcPts val="8914"/>
              </a:lnSpc>
            </a:pPr>
            <a:r>
              <a:rPr lang="en-US" sz="6367" b="1" dirty="0">
                <a:solidFill>
                  <a:srgbClr val="FFFFFF"/>
                </a:solidFill>
                <a:latin typeface="Arimo Bold"/>
                <a:ea typeface="Arimo Bold"/>
                <a:cs typeface="Arimo Bold"/>
                <a:sym typeface="Arimo Bold"/>
              </a:rPr>
              <a:t>PACT</a:t>
            </a:r>
          </a:p>
        </p:txBody>
      </p:sp>
      <p:sp>
        <p:nvSpPr>
          <p:cNvPr id="4" name="TextBox 4"/>
          <p:cNvSpPr txBox="1"/>
          <p:nvPr/>
        </p:nvSpPr>
        <p:spPr>
          <a:xfrm>
            <a:off x="1596433" y="5312588"/>
            <a:ext cx="3549491" cy="707380"/>
          </a:xfrm>
          <a:prstGeom prst="rect">
            <a:avLst/>
          </a:prstGeom>
        </p:spPr>
        <p:txBody>
          <a:bodyPr lIns="0" tIns="0" rIns="0" bIns="0" rtlCol="0" anchor="t">
            <a:spAutoFit/>
          </a:bodyPr>
          <a:lstStyle/>
          <a:p>
            <a:pPr algn="ctr">
              <a:lnSpc>
                <a:spcPts val="5635"/>
              </a:lnSpc>
            </a:pPr>
            <a:r>
              <a:rPr lang="en-US" sz="4025" b="1">
                <a:solidFill>
                  <a:srgbClr val="FFFFFF"/>
                </a:solidFill>
                <a:latin typeface="Arimo Bold"/>
                <a:ea typeface="Arimo Bold"/>
                <a:cs typeface="Arimo Bold"/>
                <a:sym typeface="Arimo Bold"/>
              </a:rPr>
              <a:t>TEAM NAME - </a:t>
            </a:r>
          </a:p>
        </p:txBody>
      </p:sp>
      <p:sp>
        <p:nvSpPr>
          <p:cNvPr id="5" name="TextBox 5"/>
          <p:cNvSpPr txBox="1"/>
          <p:nvPr/>
        </p:nvSpPr>
        <p:spPr>
          <a:xfrm>
            <a:off x="1596433" y="6362869"/>
            <a:ext cx="3435906" cy="707380"/>
          </a:xfrm>
          <a:prstGeom prst="rect">
            <a:avLst/>
          </a:prstGeom>
        </p:spPr>
        <p:txBody>
          <a:bodyPr lIns="0" tIns="0" rIns="0" bIns="0" rtlCol="0" anchor="t">
            <a:spAutoFit/>
          </a:bodyPr>
          <a:lstStyle/>
          <a:p>
            <a:pPr algn="ctr">
              <a:lnSpc>
                <a:spcPts val="5635"/>
              </a:lnSpc>
            </a:pPr>
            <a:r>
              <a:rPr lang="en-US" sz="4025" b="1">
                <a:solidFill>
                  <a:srgbClr val="FFFFFF"/>
                </a:solidFill>
                <a:latin typeface="Arimo Bold"/>
                <a:ea typeface="Arimo Bold"/>
                <a:cs typeface="Arimo Bold"/>
                <a:sym typeface="Arimo Bold"/>
              </a:rPr>
              <a:t>TEAM LEAD - </a:t>
            </a:r>
          </a:p>
        </p:txBody>
      </p:sp>
      <p:sp>
        <p:nvSpPr>
          <p:cNvPr id="6" name="TextBox 6"/>
          <p:cNvSpPr txBox="1"/>
          <p:nvPr/>
        </p:nvSpPr>
        <p:spPr>
          <a:xfrm>
            <a:off x="1596433" y="7413149"/>
            <a:ext cx="2243138" cy="707380"/>
          </a:xfrm>
          <a:prstGeom prst="rect">
            <a:avLst/>
          </a:prstGeom>
        </p:spPr>
        <p:txBody>
          <a:bodyPr lIns="0" tIns="0" rIns="0" bIns="0" rtlCol="0" anchor="t">
            <a:spAutoFit/>
          </a:bodyPr>
          <a:lstStyle/>
          <a:p>
            <a:pPr algn="ctr">
              <a:lnSpc>
                <a:spcPts val="5635"/>
              </a:lnSpc>
            </a:pPr>
            <a:r>
              <a:rPr lang="en-US" sz="4025" b="1">
                <a:solidFill>
                  <a:srgbClr val="FFFFFF"/>
                </a:solidFill>
                <a:latin typeface="Arimo Bold"/>
                <a:ea typeface="Arimo Bold"/>
                <a:cs typeface="Arimo Bold"/>
                <a:sym typeface="Arimo Bold"/>
              </a:rPr>
              <a:t>TRACK - AI Growth &amp; Agentic Commerce, Razorpay</a:t>
            </a:r>
          </a:p>
        </p:txBody>
      </p:sp>
      <p:sp>
        <p:nvSpPr>
          <p:cNvPr id="7" name="TextBox 6"/>
          <p:cNvSpPr txBox="1"/>
          <p:nvPr/>
        </p:nvSpPr>
        <p:spPr>
          <a:xfrm>
            <a:off x="1600200" y="4617720"/>
            <a:ext cx="15087600" cy="731520"/>
          </a:xfrm>
          <a:prstGeom prst="rect">
            <a:avLst/>
          </a:prstGeom>
          <a:noFill/>
        </p:spPr>
        <p:txBody>
          <a:bodyPr wrap="square" lIns="0" rIns="0" tIns="0" bIns="0" anchor="t">
            <a:spAutoFit/>
          </a:bodyPr>
          <a:lstStyle/>
          <a:p>
            <a:pPr algn="ctr">
              <a:spcBef>
                <a:spcPts val="0"/>
              </a:spcBef>
            </a:pPr>
            <a:r>
              <a:rPr sz="3000" b="0">
                <a:solidFill>
                  <a:srgbClr val="001B35"/>
                </a:solidFill>
                <a:latin typeface="Arial"/>
              </a:rPr>
              <a:t>The merchant reads what the buyer is allowed to spend — before it quotes.</a:t>
            </a:r>
          </a:p>
        </p:txBody>
      </p:sp>
      <p:sp>
        <p:nvSpPr>
          <p:cNvPr id="8" name="Rounded Rectangle 7"/>
          <p:cNvSpPr/>
          <p:nvPr/>
        </p:nvSpPr>
        <p:spPr>
          <a:xfrm>
            <a:off x="9464040" y="5559552"/>
            <a:ext cx="384048" cy="68580"/>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5440680"/>
            <a:ext cx="6400800" cy="566928"/>
          </a:xfrm>
          <a:prstGeom prst="rect">
            <a:avLst/>
          </a:prstGeom>
          <a:noFill/>
        </p:spPr>
        <p:txBody>
          <a:bodyPr wrap="square" lIns="0" rIns="0" tIns="0" bIns="0" anchor="t">
            <a:spAutoFit/>
          </a:bodyPr>
          <a:lstStyle/>
          <a:p>
            <a:pPr algn="l">
              <a:spcBef>
                <a:spcPts val="0"/>
              </a:spcBef>
            </a:pPr>
            <a:r>
              <a:rPr sz="2250" b="1">
                <a:solidFill>
                  <a:srgbClr val="001B35"/>
                </a:solidFill>
                <a:latin typeface="Arial"/>
              </a:rPr>
              <a:t>200 + 55 tests, green on every push</a:t>
            </a:r>
          </a:p>
        </p:txBody>
      </p:sp>
      <p:sp>
        <p:nvSpPr>
          <p:cNvPr id="10" name="Rounded Rectangle 9"/>
          <p:cNvSpPr/>
          <p:nvPr/>
        </p:nvSpPr>
        <p:spPr>
          <a:xfrm>
            <a:off x="9464040" y="6345936"/>
            <a:ext cx="384048" cy="68580"/>
          </a:xfrm>
          <a:prstGeom prst="roundRect">
            <a:avLst>
              <a:gd name="adj" fmla="val 50000"/>
            </a:avLst>
          </a:prstGeom>
          <a:solidFill>
            <a:srgbClr val="1D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0" y="6227064"/>
            <a:ext cx="6400800" cy="566928"/>
          </a:xfrm>
          <a:prstGeom prst="rect">
            <a:avLst/>
          </a:prstGeom>
          <a:noFill/>
        </p:spPr>
        <p:txBody>
          <a:bodyPr wrap="square" lIns="0" rIns="0" tIns="0" bIns="0" anchor="t">
            <a:spAutoFit/>
          </a:bodyPr>
          <a:lstStyle/>
          <a:p>
            <a:pPr algn="l">
              <a:spcBef>
                <a:spcPts val="0"/>
              </a:spcBef>
            </a:pPr>
            <a:r>
              <a:rPr sz="2250" b="1">
                <a:solidFill>
                  <a:srgbClr val="001B35"/>
                </a:solidFill>
                <a:latin typeface="Arial"/>
              </a:rPr>
              <a:t>49,501 purchases settled in a two-hour soak</a:t>
            </a:r>
          </a:p>
        </p:txBody>
      </p:sp>
      <p:sp>
        <p:nvSpPr>
          <p:cNvPr id="12" name="Rounded Rectangle 11"/>
          <p:cNvSpPr/>
          <p:nvPr/>
        </p:nvSpPr>
        <p:spPr>
          <a:xfrm>
            <a:off x="9464040" y="7132320"/>
            <a:ext cx="384048" cy="6858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0" y="7013448"/>
            <a:ext cx="6400800" cy="566928"/>
          </a:xfrm>
          <a:prstGeom prst="rect">
            <a:avLst/>
          </a:prstGeom>
          <a:noFill/>
        </p:spPr>
        <p:txBody>
          <a:bodyPr wrap="square" lIns="0" rIns="0" tIns="0" bIns="0" anchor="t">
            <a:spAutoFit/>
          </a:bodyPr>
          <a:lstStyle/>
          <a:p>
            <a:pPr algn="l">
              <a:spcBef>
                <a:spcPts val="0"/>
              </a:spcBef>
            </a:pPr>
            <a:r>
              <a:rPr sz="2250" b="1">
                <a:solidFill>
                  <a:srgbClr val="001B35"/>
                </a:solidFill>
                <a:latin typeface="Arial"/>
              </a:rPr>
              <a:t>0% false blocks vs 28% for a client-side cap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
            <a:ext cx="18288000" cy="10279380"/>
          </a:xfrm>
          <a:custGeom>
            <a:avLst/>
            <a:gdLst/>
            <a:ahLst/>
            <a:cxnLst/>
            <a:rect l="l" t="t" r="r" b="b"/>
            <a:pathLst>
              <a:path w="18288000" h="10279380">
                <a:moveTo>
                  <a:pt x="0" y="0"/>
                </a:moveTo>
                <a:lnTo>
                  <a:pt x="18288000" y="0"/>
                </a:lnTo>
                <a:lnTo>
                  <a:pt x="18288000" y="10279380"/>
                </a:lnTo>
                <a:lnTo>
                  <a:pt x="0" y="10279380"/>
                </a:lnTo>
                <a:lnTo>
                  <a:pt x="0" y="0"/>
                </a:lnTo>
                <a:close/>
              </a:path>
            </a:pathLst>
          </a:custGeom>
          <a:blipFill>
            <a:blip r:embed="rId2"/>
            <a:stretch>
              <a:fillRect/>
            </a:stretch>
          </a:blipFill>
        </p:spPr>
      </p:sp>
      <p:sp>
        <p:nvSpPr>
          <p:cNvPr id="3" name="TextBox 3"/>
          <p:cNvSpPr txBox="1"/>
          <p:nvPr/>
        </p:nvSpPr>
        <p:spPr>
          <a:xfrm>
            <a:off x="5137814" y="1181100"/>
            <a:ext cx="8012371" cy="912686"/>
          </a:xfrm>
          <a:prstGeom prst="rect">
            <a:avLst/>
          </a:prstGeom>
        </p:spPr>
        <p:txBody>
          <a:bodyPr wrap="square" lIns="0" tIns="0" rIns="0" bIns="0" rtlCol="0" anchor="t">
            <a:spAutoFit/>
          </a:bodyPr>
          <a:lstStyle/>
          <a:p>
            <a:pPr algn="ctr">
              <a:lnSpc>
                <a:spcPts val="7794"/>
              </a:lnSpc>
            </a:pPr>
            <a:r>
              <a:rPr lang="en-US" sz="5567" b="1" dirty="0">
                <a:solidFill>
                  <a:srgbClr val="000000"/>
                </a:solidFill>
                <a:latin typeface="Arimo Bold"/>
                <a:ea typeface="Arimo Bold"/>
                <a:cs typeface="Arimo Bold"/>
                <a:sym typeface="Arimo Bold"/>
              </a:rPr>
              <a:t>PROBLEM STATEMENT</a:t>
            </a:r>
          </a:p>
        </p:txBody>
      </p:sp>
      <p:sp>
        <p:nvSpPr>
          <p:cNvPr id="4" name="TextBox 3"/>
          <p:cNvSpPr txBox="1"/>
          <p:nvPr/>
        </p:nvSpPr>
        <p:spPr>
          <a:xfrm>
            <a:off x="914400" y="2395728"/>
            <a:ext cx="16459200" cy="960120"/>
          </a:xfrm>
          <a:prstGeom prst="rect">
            <a:avLst/>
          </a:prstGeom>
          <a:noFill/>
        </p:spPr>
        <p:txBody>
          <a:bodyPr wrap="square" lIns="0" rIns="0" tIns="0" bIns="0" anchor="t">
            <a:spAutoFit/>
          </a:bodyPr>
          <a:lstStyle/>
          <a:p>
            <a:pPr algn="l">
              <a:spcBef>
                <a:spcPts val="0"/>
              </a:spcBef>
            </a:pPr>
            <a:r>
              <a:rPr sz="2850" b="0">
                <a:solidFill>
                  <a:srgbClr val="33506B"/>
                </a:solidFill>
                <a:latin typeface="Arial"/>
              </a:rPr>
              <a:t>Agentic commerce has standardised how an AI agent pays. Nothing lets the merchant read what that buyer is still allowed to spend before it makes an offer.</a:t>
            </a:r>
          </a:p>
        </p:txBody>
      </p:sp>
      <p:sp>
        <p:nvSpPr>
          <p:cNvPr id="5" name="Rounded Rectangle 4"/>
          <p:cNvSpPr/>
          <p:nvPr/>
        </p:nvSpPr>
        <p:spPr>
          <a:xfrm>
            <a:off x="914400" y="3648456"/>
            <a:ext cx="5230368" cy="3246120"/>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88720" y="3922776"/>
            <a:ext cx="960120" cy="77724"/>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42232"/>
            <a:ext cx="4681728" cy="2569464"/>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The cap is in the wrong place</a:t>
            </a:r>
          </a:p>
          <a:p>
            <a:pPr algn="l">
              <a:spcBef>
                <a:spcPts val="1350"/>
              </a:spcBef>
            </a:pPr>
            <a:r>
              <a:rPr sz="2025" b="0">
                <a:solidFill>
                  <a:srgbClr val="33506B"/>
                </a:solidFill>
                <a:latin typeface="Arial"/>
              </a:rPr>
              <a:t>Spending limits live inside the agent. A compromised or jailbroken agent simply does not run them.</a:t>
            </a:r>
          </a:p>
          <a:p>
            <a:pPr algn="l">
              <a:spcBef>
                <a:spcPts val="1350"/>
              </a:spcBef>
            </a:pPr>
            <a:r>
              <a:rPr sz="1950" b="1">
                <a:solidFill>
                  <a:srgbClr val="EF4444"/>
                </a:solidFill>
                <a:latin typeface="Arial"/>
              </a:rPr>
              <a:t>A client-side control is not a control.</a:t>
            </a:r>
          </a:p>
        </p:txBody>
      </p:sp>
      <p:sp>
        <p:nvSpPr>
          <p:cNvPr id="8" name="Rounded Rectangle 7"/>
          <p:cNvSpPr/>
          <p:nvPr/>
        </p:nvSpPr>
        <p:spPr>
          <a:xfrm>
            <a:off x="6528816" y="3648456"/>
            <a:ext cx="5230368" cy="3246120"/>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803136" y="3922776"/>
            <a:ext cx="960120" cy="7772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03136" y="4142232"/>
            <a:ext cx="4681728" cy="2569464"/>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The merchant is blind at quote time</a:t>
            </a:r>
          </a:p>
          <a:p>
            <a:pPr algn="l">
              <a:spcBef>
                <a:spcPts val="1350"/>
              </a:spcBef>
            </a:pPr>
            <a:r>
              <a:rPr sz="2025" b="0">
                <a:solidFill>
                  <a:srgbClr val="33506B"/>
                </a:solidFill>
                <a:latin typeface="Arial"/>
              </a:rPr>
              <a:t>With no way to read remaining authority it must guess: refuse sales that would have been approved, or accept payments the human never authorised.</a:t>
            </a:r>
          </a:p>
          <a:p>
            <a:pPr algn="l">
              <a:spcBef>
                <a:spcPts val="1350"/>
              </a:spcBef>
            </a:pPr>
            <a:r>
              <a:rPr sz="1950" b="1">
                <a:solidFill>
                  <a:srgbClr val="F59E0B"/>
                </a:solidFill>
                <a:latin typeface="Arial"/>
              </a:rPr>
              <a:t>Both mistakes are expensive.</a:t>
            </a:r>
          </a:p>
        </p:txBody>
      </p:sp>
      <p:sp>
        <p:nvSpPr>
          <p:cNvPr id="11" name="Rounded Rectangle 10"/>
          <p:cNvSpPr/>
          <p:nvPr/>
        </p:nvSpPr>
        <p:spPr>
          <a:xfrm>
            <a:off x="12143232" y="3648456"/>
            <a:ext cx="5230368" cy="3246120"/>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2417552" y="3922776"/>
            <a:ext cx="960120" cy="77724"/>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17552" y="4142232"/>
            <a:ext cx="4681728" cy="2569464"/>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Ledgers overspend under concurrency</a:t>
            </a:r>
          </a:p>
          <a:p>
            <a:pPr algn="l">
              <a:spcBef>
                <a:spcPts val="1350"/>
              </a:spcBef>
            </a:pPr>
            <a:r>
              <a:rPr sz="2025" b="0">
                <a:solidFill>
                  <a:srgbClr val="33506B"/>
                </a:solidFill>
                <a:latin typeface="Arial"/>
              </a:rPr>
              <a:t>A read-then-write balance check loses the race. Twenty concurrent payments against room for five approve all twenty.</a:t>
            </a:r>
          </a:p>
          <a:p>
            <a:pPr algn="l">
              <a:spcBef>
                <a:spcPts val="1350"/>
              </a:spcBef>
            </a:pPr>
            <a:r>
              <a:rPr sz="1950" b="1">
                <a:solidFill>
                  <a:srgbClr val="EF4444"/>
                </a:solidFill>
                <a:latin typeface="Arial"/>
              </a:rPr>
              <a:t>4x overspend, measured in tests/test_race.py</a:t>
            </a:r>
          </a:p>
        </p:txBody>
      </p:sp>
      <p:sp>
        <p:nvSpPr>
          <p:cNvPr id="14" name="Rounded Rectangle 13"/>
          <p:cNvSpPr/>
          <p:nvPr/>
        </p:nvSpPr>
        <p:spPr>
          <a:xfrm>
            <a:off x="914400" y="7772400"/>
            <a:ext cx="16459200" cy="1298448"/>
          </a:xfrm>
          <a:prstGeom prst="roundRect">
            <a:avLst>
              <a:gd name="adj" fmla="val 3500"/>
            </a:avLst>
          </a:prstGeom>
          <a:solidFill>
            <a:srgbClr val="001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25880" y="8046720"/>
            <a:ext cx="15636240" cy="749808"/>
          </a:xfrm>
          <a:prstGeom prst="rect">
            <a:avLst/>
          </a:prstGeom>
          <a:noFill/>
        </p:spPr>
        <p:txBody>
          <a:bodyPr wrap="square" lIns="0" rIns="0" tIns="0" bIns="0" anchor="t">
            <a:spAutoFit/>
          </a:bodyPr>
          <a:lstStyle/>
          <a:p>
            <a:pPr algn="l">
              <a:spcBef>
                <a:spcPts val="0"/>
              </a:spcBef>
            </a:pPr>
            <a:r>
              <a:rPr sz="2475" b="0">
                <a:solidFill>
                  <a:srgbClr val="FFFFFF"/>
                </a:solidFill>
                <a:latin typeface="Arial"/>
              </a:rPr>
              <a:t>The first failure loses revenue. The second buys chargebacks, dispute handling and an account in bad standing — and the merchant carries both.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
            <a:ext cx="18288000" cy="10279380"/>
          </a:xfrm>
          <a:custGeom>
            <a:avLst/>
            <a:gdLst/>
            <a:ahLst/>
            <a:cxnLst/>
            <a:rect l="l" t="t" r="r" b="b"/>
            <a:pathLst>
              <a:path w="18288000" h="10279380">
                <a:moveTo>
                  <a:pt x="0" y="0"/>
                </a:moveTo>
                <a:lnTo>
                  <a:pt x="18288000" y="0"/>
                </a:lnTo>
                <a:lnTo>
                  <a:pt x="18288000" y="10279380"/>
                </a:lnTo>
                <a:lnTo>
                  <a:pt x="0" y="10279380"/>
                </a:lnTo>
                <a:lnTo>
                  <a:pt x="0" y="0"/>
                </a:lnTo>
                <a:close/>
              </a:path>
            </a:pathLst>
          </a:custGeom>
          <a:blipFill>
            <a:blip r:embed="rId2"/>
            <a:stretch>
              <a:fillRect/>
            </a:stretch>
          </a:blipFill>
        </p:spPr>
      </p:sp>
      <p:sp>
        <p:nvSpPr>
          <p:cNvPr id="3" name="TextBox 3"/>
          <p:cNvSpPr txBox="1"/>
          <p:nvPr/>
        </p:nvSpPr>
        <p:spPr>
          <a:xfrm>
            <a:off x="5224939" y="1233900"/>
            <a:ext cx="7857173" cy="973002"/>
          </a:xfrm>
          <a:prstGeom prst="rect">
            <a:avLst/>
          </a:prstGeom>
        </p:spPr>
        <p:txBody>
          <a:bodyPr lIns="0" tIns="0" rIns="0" bIns="0" rtlCol="0" anchor="t">
            <a:spAutoFit/>
          </a:bodyPr>
          <a:lstStyle/>
          <a:p>
            <a:pPr algn="ctr">
              <a:lnSpc>
                <a:spcPts val="7794"/>
              </a:lnSpc>
            </a:pPr>
            <a:r>
              <a:rPr lang="en-US" sz="5567" b="1">
                <a:solidFill>
                  <a:srgbClr val="000000"/>
                </a:solidFill>
                <a:latin typeface="Arimo Bold"/>
                <a:ea typeface="Arimo Bold"/>
                <a:cs typeface="Arimo Bold"/>
                <a:sym typeface="Arimo Bold"/>
              </a:rPr>
              <a:t>PROPOSED SOLUTION</a:t>
            </a:r>
          </a:p>
        </p:txBody>
      </p:sp>
      <p:sp>
        <p:nvSpPr>
          <p:cNvPr id="4" name="TextBox 3"/>
          <p:cNvSpPr txBox="1"/>
          <p:nvPr/>
        </p:nvSpPr>
        <p:spPr>
          <a:xfrm>
            <a:off x="914400" y="2395728"/>
            <a:ext cx="16459200" cy="960120"/>
          </a:xfrm>
          <a:prstGeom prst="rect">
            <a:avLst/>
          </a:prstGeom>
          <a:noFill/>
        </p:spPr>
        <p:txBody>
          <a:bodyPr wrap="square" lIns="0" rIns="0" tIns="0" bIns="0" anchor="t">
            <a:spAutoFit/>
          </a:bodyPr>
          <a:lstStyle/>
          <a:p>
            <a:pPr algn="l">
              <a:spcBef>
                <a:spcPts val="0"/>
              </a:spcBef>
            </a:pPr>
            <a:r>
              <a:rPr sz="2850" b="0">
                <a:solidFill>
                  <a:srgbClr val="33506B"/>
                </a:solidFill>
                <a:latin typeface="Arial"/>
              </a:rPr>
              <a:t>A spending mandate signed on the principal's own device, a gate that decides on authority alone, and a headroom envelope the merchant can read before it quotes.</a:t>
            </a:r>
          </a:p>
        </p:txBody>
      </p:sp>
      <p:sp>
        <p:nvSpPr>
          <p:cNvPr id="5" name="Rounded Rectangle 4"/>
          <p:cNvSpPr/>
          <p:nvPr/>
        </p:nvSpPr>
        <p:spPr>
          <a:xfrm>
            <a:off x="914400" y="3648456"/>
            <a:ext cx="5230368" cy="3246120"/>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88720" y="3922776"/>
            <a:ext cx="960120" cy="77724"/>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42232"/>
            <a:ext cx="4681728" cy="2569464"/>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TRUST</a:t>
            </a:r>
          </a:p>
          <a:p>
            <a:pPr algn="l">
              <a:spcBef>
                <a:spcPts val="1350"/>
              </a:spcBef>
            </a:pPr>
            <a:r>
              <a:rPr sz="2025" b="0">
                <a:solidFill>
                  <a:srgbClr val="33506B"/>
                </a:solidFill>
                <a:latin typeface="Arial"/>
              </a:rPr>
              <a:t>Ed25519 over RFC 8785 canonical JSON, signed in the browser. The agent carries the mandate and never the key. Nine checks at the gate, every decision written to an audit trail with a machine-readable reason code.</a:t>
            </a:r>
          </a:p>
        </p:txBody>
      </p:sp>
      <p:sp>
        <p:nvSpPr>
          <p:cNvPr id="8" name="Rounded Rectangle 7"/>
          <p:cNvSpPr/>
          <p:nvPr/>
        </p:nvSpPr>
        <p:spPr>
          <a:xfrm>
            <a:off x="6528816" y="3648456"/>
            <a:ext cx="5230368" cy="3246120"/>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803136" y="3922776"/>
            <a:ext cx="960120" cy="77724"/>
          </a:xfrm>
          <a:prstGeom prst="roundRect">
            <a:avLst>
              <a:gd name="adj" fmla="val 50000"/>
            </a:avLst>
          </a:prstGeom>
          <a:solidFill>
            <a:srgbClr val="1D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03136" y="4142232"/>
            <a:ext cx="4681728" cy="2569464"/>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COMMERCE</a:t>
            </a:r>
          </a:p>
          <a:p>
            <a:pPr algn="l">
              <a:spcBef>
                <a:spcPts val="1350"/>
              </a:spcBef>
            </a:pPr>
            <a:r>
              <a:rPr sz="2025" b="0">
                <a:solidFill>
                  <a:srgbClr val="33506B"/>
                </a:solidFill>
                <a:latin typeface="Arial"/>
              </a:rPr>
              <a:t>Prices are computed server-side, so a hallucinated price is structurally impossible rather than unlikely. Ceilings are reserved inside one transaction, so the race cannot overspend.</a:t>
            </a:r>
          </a:p>
        </p:txBody>
      </p:sp>
      <p:sp>
        <p:nvSpPr>
          <p:cNvPr id="11" name="Rounded Rectangle 10"/>
          <p:cNvSpPr/>
          <p:nvPr/>
        </p:nvSpPr>
        <p:spPr>
          <a:xfrm>
            <a:off x="12143232" y="3648456"/>
            <a:ext cx="5230368" cy="3246120"/>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2417552" y="3922776"/>
            <a:ext cx="960120" cy="7772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17552" y="4142232"/>
            <a:ext cx="4681728" cy="2569464"/>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GROWTH</a:t>
            </a:r>
          </a:p>
          <a:p>
            <a:pPr algn="l">
              <a:spcBef>
                <a:spcPts val="1350"/>
              </a:spcBef>
            </a:pPr>
            <a:r>
              <a:rPr sz="2025" b="0">
                <a:solidFill>
                  <a:srgbClr val="33506B"/>
                </a:solidFill>
                <a:latin typeface="Arial"/>
              </a:rPr>
              <a:t>The envelope reveals what is left, never the budget. The merchant offers only what will be approved — so the spending gate stops being friction and becomes a conversion instrument.</a:t>
            </a:r>
          </a:p>
        </p:txBody>
      </p:sp>
      <p:sp>
        <p:nvSpPr>
          <p:cNvPr id="14" name="Rounded Rectangle 13"/>
          <p:cNvSpPr/>
          <p:nvPr/>
        </p:nvSpPr>
        <p:spPr>
          <a:xfrm>
            <a:off x="914400" y="7772400"/>
            <a:ext cx="16459200" cy="1298448"/>
          </a:xfrm>
          <a:prstGeom prst="roundRect">
            <a:avLst>
              <a:gd name="adj" fmla="val 3500"/>
            </a:avLst>
          </a:prstGeom>
          <a:solidFill>
            <a:srgbClr val="001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25880" y="8046720"/>
            <a:ext cx="15636240" cy="749808"/>
          </a:xfrm>
          <a:prstGeom prst="rect">
            <a:avLst/>
          </a:prstGeom>
          <a:noFill/>
        </p:spPr>
        <p:txBody>
          <a:bodyPr wrap="square" lIns="0" rIns="0" tIns="0" bIns="0" anchor="t">
            <a:spAutoFit/>
          </a:bodyPr>
          <a:lstStyle/>
          <a:p>
            <a:pPr algn="l">
              <a:spcBef>
                <a:spcPts val="0"/>
              </a:spcBef>
            </a:pPr>
            <a:r>
              <a:rPr sz="2475" b="0">
                <a:solidFill>
                  <a:srgbClr val="FFFFFF"/>
                </a:solidFill>
                <a:latin typeface="Arial"/>
              </a:rPr>
              <a:t>Measured across four arms, 200 sessions each, three seeds: about 25% more net revenue than a client-side cap, with a 0% false block rate against its 28%.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
            <a:ext cx="18288000" cy="10279380"/>
          </a:xfrm>
          <a:custGeom>
            <a:avLst/>
            <a:gdLst/>
            <a:ahLst/>
            <a:cxnLst/>
            <a:rect l="l" t="t" r="r" b="b"/>
            <a:pathLst>
              <a:path w="18288000" h="10279380">
                <a:moveTo>
                  <a:pt x="0" y="0"/>
                </a:moveTo>
                <a:lnTo>
                  <a:pt x="18288000" y="0"/>
                </a:lnTo>
                <a:lnTo>
                  <a:pt x="18288000" y="10279380"/>
                </a:lnTo>
                <a:lnTo>
                  <a:pt x="0" y="10279380"/>
                </a:lnTo>
                <a:lnTo>
                  <a:pt x="0" y="0"/>
                </a:lnTo>
                <a:close/>
              </a:path>
            </a:pathLst>
          </a:custGeom>
          <a:blipFill>
            <a:blip r:embed="rId2"/>
            <a:stretch>
              <a:fillRect/>
            </a:stretch>
          </a:blipFill>
        </p:spPr>
      </p:sp>
      <p:sp>
        <p:nvSpPr>
          <p:cNvPr id="3" name="TextBox 3"/>
          <p:cNvSpPr txBox="1"/>
          <p:nvPr/>
        </p:nvSpPr>
        <p:spPr>
          <a:xfrm>
            <a:off x="4938236" y="1181100"/>
            <a:ext cx="8411528" cy="912686"/>
          </a:xfrm>
          <a:prstGeom prst="rect">
            <a:avLst/>
          </a:prstGeom>
        </p:spPr>
        <p:txBody>
          <a:bodyPr wrap="square" lIns="0" tIns="0" rIns="0" bIns="0" rtlCol="0" anchor="t">
            <a:spAutoFit/>
          </a:bodyPr>
          <a:lstStyle/>
          <a:p>
            <a:pPr algn="ctr">
              <a:lnSpc>
                <a:spcPts val="7794"/>
              </a:lnSpc>
            </a:pPr>
            <a:r>
              <a:rPr lang="en-US" sz="5567" b="1" dirty="0">
                <a:solidFill>
                  <a:srgbClr val="000000"/>
                </a:solidFill>
                <a:latin typeface="Arimo Bold"/>
                <a:ea typeface="Arimo Bold"/>
                <a:cs typeface="Arimo Bold"/>
                <a:sym typeface="Arimo Bold"/>
              </a:rPr>
              <a:t>TECHNICAL APPROACH</a:t>
            </a:r>
          </a:p>
        </p:txBody>
      </p:sp>
      <p:sp>
        <p:nvSpPr>
          <p:cNvPr id="4" name="TextBox 3"/>
          <p:cNvSpPr txBox="1"/>
          <p:nvPr/>
        </p:nvSpPr>
        <p:spPr>
          <a:xfrm>
            <a:off x="914400" y="2395728"/>
            <a:ext cx="16459200" cy="960120"/>
          </a:xfrm>
          <a:prstGeom prst="rect">
            <a:avLst/>
          </a:prstGeom>
          <a:noFill/>
        </p:spPr>
        <p:txBody>
          <a:bodyPr wrap="square" lIns="0" rIns="0" tIns="0" bIns="0" anchor="t">
            <a:spAutoFit/>
          </a:bodyPr>
          <a:lstStyle/>
          <a:p>
            <a:pPr algn="l">
              <a:spcBef>
                <a:spcPts val="0"/>
              </a:spcBef>
            </a:pPr>
            <a:r>
              <a:rPr sz="2550" b="0">
                <a:solidFill>
                  <a:srgbClr val="33506B"/>
                </a:solidFill>
                <a:latin typeface="Arial"/>
              </a:rPr>
              <a:t>Python and FastAPI · SQLite in WAL mode · React and TypeScript · Ed25519 with RFC 8785 JCS · Docker · GitHub Actions</a:t>
            </a:r>
          </a:p>
        </p:txBody>
      </p:sp>
      <p:sp>
        <p:nvSpPr>
          <p:cNvPr id="5" name="Rounded Rectangle 4"/>
          <p:cNvSpPr/>
          <p:nvPr/>
        </p:nvSpPr>
        <p:spPr>
          <a:xfrm>
            <a:off x="914400" y="3593592"/>
            <a:ext cx="8046720" cy="1874519"/>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88720" y="3867912"/>
            <a:ext cx="960120" cy="77724"/>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087368"/>
            <a:ext cx="7498080" cy="1197863"/>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Ceilings are reserved, not counted</a:t>
            </a:r>
          </a:p>
          <a:p>
            <a:pPr algn="l">
              <a:spcBef>
                <a:spcPts val="1350"/>
              </a:spcBef>
            </a:pPr>
            <a:r>
              <a:rPr sz="2025" b="0">
                <a:solidFill>
                  <a:srgbClr val="33506B"/>
                </a:solidFill>
                <a:latin typeface="Arial"/>
              </a:rPr>
              <a:t>The budget SUM runs inside the same BEGIN IMMEDIATE that inserts the reservation. Twenty racers, exactly five win.</a:t>
            </a:r>
          </a:p>
        </p:txBody>
      </p:sp>
      <p:sp>
        <p:nvSpPr>
          <p:cNvPr id="8" name="Rounded Rectangle 7"/>
          <p:cNvSpPr/>
          <p:nvPr/>
        </p:nvSpPr>
        <p:spPr>
          <a:xfrm>
            <a:off x="9326880" y="3593592"/>
            <a:ext cx="8046720" cy="1874519"/>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9601200" y="3867912"/>
            <a:ext cx="960120" cy="77724"/>
          </a:xfrm>
          <a:prstGeom prst="roundRect">
            <a:avLst>
              <a:gd name="adj" fmla="val 50000"/>
            </a:avLst>
          </a:prstGeom>
          <a:solidFill>
            <a:srgbClr val="1D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4087368"/>
            <a:ext cx="7498080" cy="1197863"/>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Replay is a PRIMARY KEY, not a SELECT</a:t>
            </a:r>
          </a:p>
          <a:p>
            <a:pPr algn="l">
              <a:spcBef>
                <a:spcPts val="1350"/>
              </a:spcBef>
            </a:pPr>
            <a:r>
              <a:rPr sz="2025" b="0">
                <a:solidFill>
                  <a:srgbClr val="33506B"/>
                </a:solidFill>
                <a:latin typeface="Arial"/>
              </a:rPr>
              <a:t>The IntegrityError is the replay. A select-then-insert would be a second race and a second round trip.</a:t>
            </a:r>
          </a:p>
        </p:txBody>
      </p:sp>
      <p:sp>
        <p:nvSpPr>
          <p:cNvPr id="11" name="Rounded Rectangle 10"/>
          <p:cNvSpPr/>
          <p:nvPr/>
        </p:nvSpPr>
        <p:spPr>
          <a:xfrm>
            <a:off x="914400" y="5779007"/>
            <a:ext cx="8046720" cy="1874519"/>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188720" y="6053327"/>
            <a:ext cx="960120" cy="7772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6272783"/>
            <a:ext cx="7498080" cy="1197863"/>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The core cannot see the rail</a:t>
            </a:r>
          </a:p>
          <a:p>
            <a:pPr algn="l">
              <a:spcBef>
                <a:spcPts val="1350"/>
              </a:spcBef>
            </a:pPr>
            <a:r>
              <a:rPr sz="2025" b="0">
                <a:solidFill>
                  <a:srgbClr val="33506B"/>
                </a:solidFill>
                <a:latin typeface="Arial"/>
              </a:rPr>
              <a:t>Nothing in core/ imports rails/, and no executable line there may name a vendor. Enforced by an AST test, not by review.</a:t>
            </a:r>
          </a:p>
        </p:txBody>
      </p:sp>
      <p:sp>
        <p:nvSpPr>
          <p:cNvPr id="14" name="Rounded Rectangle 13"/>
          <p:cNvSpPr/>
          <p:nvPr/>
        </p:nvSpPr>
        <p:spPr>
          <a:xfrm>
            <a:off x="9326880" y="5779007"/>
            <a:ext cx="8046720" cy="1874519"/>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9601200" y="6053327"/>
            <a:ext cx="960120" cy="77724"/>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6272783"/>
            <a:ext cx="7498080" cy="1197863"/>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Fail closed, always</a:t>
            </a:r>
          </a:p>
          <a:p>
            <a:pPr algn="l">
              <a:spcBef>
                <a:spcPts val="1350"/>
              </a:spcBef>
            </a:pPr>
            <a:r>
              <a:rPr sz="2025" b="0">
                <a:solidFill>
                  <a:srgbClr val="33506B"/>
                </a:solidFill>
                <a:latin typeface="Arial"/>
              </a:rPr>
              <a:t>Any error, timeout or unparseable input becomes BLOCK or STEP_UP. A gate that crashes open is worse than no gate.</a:t>
            </a:r>
          </a:p>
        </p:txBody>
      </p:sp>
      <p:sp>
        <p:nvSpPr>
          <p:cNvPr id="17" name="Rounded Rectangle 16"/>
          <p:cNvSpPr/>
          <p:nvPr/>
        </p:nvSpPr>
        <p:spPr>
          <a:xfrm>
            <a:off x="914400" y="8110728"/>
            <a:ext cx="16459200" cy="960120"/>
          </a:xfrm>
          <a:prstGeom prst="roundRect">
            <a:avLst>
              <a:gd name="adj" fmla="val 3500"/>
            </a:avLst>
          </a:prstGeom>
          <a:solidFill>
            <a:srgbClr val="001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25880" y="8110728"/>
            <a:ext cx="15636240" cy="960120"/>
          </a:xfrm>
          <a:prstGeom prst="rect">
            <a:avLst/>
          </a:prstGeom>
          <a:noFill/>
        </p:spPr>
        <p:txBody>
          <a:bodyPr wrap="square" lIns="0" rIns="0" tIns="0" bIns="0" anchor="ctr">
            <a:spAutoFit/>
          </a:bodyPr>
          <a:lstStyle/>
          <a:p>
            <a:pPr algn="l">
              <a:spcBef>
                <a:spcPts val="0"/>
              </a:spcBef>
            </a:pPr>
            <a:r>
              <a:rPr sz="2325" b="1">
                <a:solidFill>
                  <a:srgbClr val="FFFFFF"/>
                </a:solidFill>
                <a:latin typeface="Arial"/>
              </a:rPr>
              <a:t>200 Python tests, 55 console tests, and the six demo beats run against the image itself on every push.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
            <a:ext cx="18288000" cy="10279380"/>
          </a:xfrm>
          <a:custGeom>
            <a:avLst/>
            <a:gdLst/>
            <a:ahLst/>
            <a:cxnLst/>
            <a:rect l="l" t="t" r="r" b="b"/>
            <a:pathLst>
              <a:path w="18288000" h="10279380">
                <a:moveTo>
                  <a:pt x="0" y="0"/>
                </a:moveTo>
                <a:lnTo>
                  <a:pt x="18288000" y="0"/>
                </a:lnTo>
                <a:lnTo>
                  <a:pt x="18288000" y="10279380"/>
                </a:lnTo>
                <a:lnTo>
                  <a:pt x="0" y="10279380"/>
                </a:lnTo>
                <a:lnTo>
                  <a:pt x="0" y="0"/>
                </a:lnTo>
                <a:close/>
              </a:path>
            </a:pathLst>
          </a:custGeom>
          <a:blipFill>
            <a:blip r:embed="rId2"/>
            <a:stretch>
              <a:fillRect/>
            </a:stretch>
          </a:blipFill>
        </p:spPr>
      </p:sp>
      <p:sp>
        <p:nvSpPr>
          <p:cNvPr id="3" name="TextBox 3"/>
          <p:cNvSpPr txBox="1"/>
          <p:nvPr/>
        </p:nvSpPr>
        <p:spPr>
          <a:xfrm>
            <a:off x="4531876" y="1181100"/>
            <a:ext cx="9224248" cy="912686"/>
          </a:xfrm>
          <a:prstGeom prst="rect">
            <a:avLst/>
          </a:prstGeom>
        </p:spPr>
        <p:txBody>
          <a:bodyPr wrap="square" lIns="0" tIns="0" rIns="0" bIns="0" rtlCol="0" anchor="t">
            <a:spAutoFit/>
          </a:bodyPr>
          <a:lstStyle/>
          <a:p>
            <a:pPr algn="ctr">
              <a:lnSpc>
                <a:spcPts val="7794"/>
              </a:lnSpc>
            </a:pPr>
            <a:r>
              <a:rPr lang="en-US" sz="5567" b="1" dirty="0">
                <a:solidFill>
                  <a:srgbClr val="000000"/>
                </a:solidFill>
                <a:latin typeface="Arimo Bold"/>
                <a:ea typeface="Arimo Bold"/>
                <a:cs typeface="Arimo Bold"/>
                <a:sym typeface="Arimo Bold"/>
              </a:rPr>
              <a:t>ARCHITECTURE DIAGRAM</a:t>
            </a:r>
          </a:p>
        </p:txBody>
      </p:sp>
      <p:sp>
        <p:nvSpPr>
          <p:cNvPr id="4" name="TextBox 3"/>
          <p:cNvSpPr txBox="1"/>
          <p:nvPr/>
        </p:nvSpPr>
        <p:spPr>
          <a:xfrm>
            <a:off x="914400" y="2395728"/>
            <a:ext cx="16459200" cy="658368"/>
          </a:xfrm>
          <a:prstGeom prst="rect">
            <a:avLst/>
          </a:prstGeom>
          <a:noFill/>
        </p:spPr>
        <p:txBody>
          <a:bodyPr wrap="square" lIns="0" rIns="0" tIns="0" bIns="0" anchor="t">
            <a:spAutoFit/>
          </a:bodyPr>
          <a:lstStyle/>
          <a:p>
            <a:pPr algn="l">
              <a:spcBef>
                <a:spcPts val="0"/>
              </a:spcBef>
            </a:pPr>
            <a:r>
              <a:rPr sz="2550" b="0">
                <a:solidFill>
                  <a:srgbClr val="33506B"/>
                </a:solidFill>
                <a:latin typeface="Arial"/>
              </a:rPr>
              <a:t>One purchase, left to right. The human signs; the agent carries; the merchant asks before it offers; the gate decides on authority alone.</a:t>
            </a:r>
          </a:p>
        </p:txBody>
      </p:sp>
      <p:sp>
        <p:nvSpPr>
          <p:cNvPr id="5" name="Rounded Rectangle 4"/>
          <p:cNvSpPr/>
          <p:nvPr/>
        </p:nvSpPr>
        <p:spPr>
          <a:xfrm>
            <a:off x="914400" y="3273552"/>
            <a:ext cx="3881628" cy="278892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14400" y="3273552"/>
            <a:ext cx="3881628" cy="91440"/>
          </a:xfrm>
          <a:prstGeom prst="roundRect">
            <a:avLst>
              <a:gd name="adj" fmla="val 50000"/>
            </a:avLst>
          </a:prstGeom>
          <a:solidFill>
            <a:srgbClr val="001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2144" y="3584448"/>
            <a:ext cx="3406140" cy="2331720"/>
          </a:xfrm>
          <a:prstGeom prst="rect">
            <a:avLst/>
          </a:prstGeom>
          <a:noFill/>
        </p:spPr>
        <p:txBody>
          <a:bodyPr wrap="square" lIns="0" rIns="0" tIns="0" bIns="0" anchor="t">
            <a:spAutoFit/>
          </a:bodyPr>
          <a:lstStyle/>
          <a:p>
            <a:pPr algn="l">
              <a:spcBef>
                <a:spcPts val="0"/>
              </a:spcBef>
            </a:pPr>
            <a:r>
              <a:rPr sz="2700" b="1">
                <a:solidFill>
                  <a:srgbClr val="001B35"/>
                </a:solidFill>
                <a:latin typeface="Arial"/>
              </a:rPr>
              <a:t>PRINCIPAL</a:t>
            </a:r>
          </a:p>
          <a:p>
            <a:pPr algn="l">
              <a:spcBef>
                <a:spcPts val="450"/>
              </a:spcBef>
            </a:pPr>
            <a:r>
              <a:rPr sz="1875" b="0">
                <a:solidFill>
                  <a:srgbClr val="001B35"/>
                </a:solidFill>
                <a:latin typeface="Arial"/>
              </a:rPr>
              <a:t>the human</a:t>
            </a:r>
          </a:p>
          <a:p>
            <a:pPr algn="l">
              <a:spcBef>
                <a:spcPts val="1350"/>
              </a:spcBef>
            </a:pPr>
            <a:r>
              <a:rPr sz="1950" b="0">
                <a:solidFill>
                  <a:srgbClr val="33506B"/>
                </a:solidFill>
                <a:latin typeface="Arial"/>
              </a:rPr>
              <a:t>·  Signs on device</a:t>
            </a:r>
          </a:p>
          <a:p>
            <a:pPr algn="l">
              <a:spcBef>
                <a:spcPts val="1350"/>
              </a:spcBef>
            </a:pPr>
            <a:r>
              <a:rPr sz="1950" b="0">
                <a:solidFill>
                  <a:srgbClr val="33506B"/>
                </a:solidFill>
                <a:latin typeface="Arial"/>
              </a:rPr>
              <a:t>·  Holds the only key</a:t>
            </a:r>
          </a:p>
          <a:p>
            <a:pPr algn="l">
              <a:spcBef>
                <a:spcPts val="1350"/>
              </a:spcBef>
            </a:pPr>
            <a:r>
              <a:rPr sz="1950" b="0">
                <a:solidFill>
                  <a:srgbClr val="33506B"/>
                </a:solidFill>
                <a:latin typeface="Arial"/>
              </a:rPr>
              <a:t>·  Kill switch revokes</a:t>
            </a:r>
          </a:p>
        </p:txBody>
      </p:sp>
      <p:sp>
        <p:nvSpPr>
          <p:cNvPr id="8" name="Right Arrow 7"/>
          <p:cNvSpPr/>
          <p:nvPr/>
        </p:nvSpPr>
        <p:spPr>
          <a:xfrm>
            <a:off x="4837176" y="4521708"/>
            <a:ext cx="228600" cy="292608"/>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6924" y="3273552"/>
            <a:ext cx="3881628" cy="278892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106924" y="3273552"/>
            <a:ext cx="3881628" cy="91440"/>
          </a:xfrm>
          <a:prstGeom prst="roundRect">
            <a:avLst>
              <a:gd name="adj" fmla="val 50000"/>
            </a:avLst>
          </a:prstGeom>
          <a:solidFill>
            <a:srgbClr val="1D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4668" y="3584448"/>
            <a:ext cx="3406140" cy="2331720"/>
          </a:xfrm>
          <a:prstGeom prst="rect">
            <a:avLst/>
          </a:prstGeom>
          <a:noFill/>
        </p:spPr>
        <p:txBody>
          <a:bodyPr wrap="square" lIns="0" rIns="0" tIns="0" bIns="0" anchor="t">
            <a:spAutoFit/>
          </a:bodyPr>
          <a:lstStyle/>
          <a:p>
            <a:pPr algn="l">
              <a:spcBef>
                <a:spcPts val="0"/>
              </a:spcBef>
            </a:pPr>
            <a:r>
              <a:rPr sz="2700" b="1">
                <a:solidFill>
                  <a:srgbClr val="001B35"/>
                </a:solidFill>
                <a:latin typeface="Arial"/>
              </a:rPr>
              <a:t>BUYER AGENT</a:t>
            </a:r>
          </a:p>
          <a:p>
            <a:pPr algn="l">
              <a:spcBef>
                <a:spcPts val="450"/>
              </a:spcBef>
            </a:pPr>
            <a:r>
              <a:rPr sz="1875" b="0">
                <a:solidFill>
                  <a:srgbClr val="1D6FC4"/>
                </a:solidFill>
                <a:latin typeface="Arial"/>
              </a:rPr>
              <a:t>carries, cannot mint</a:t>
            </a:r>
          </a:p>
          <a:p>
            <a:pPr algn="l">
              <a:spcBef>
                <a:spcPts val="1350"/>
              </a:spcBef>
            </a:pPr>
            <a:r>
              <a:rPr sz="1950" b="0">
                <a:solidFill>
                  <a:srgbClr val="33506B"/>
                </a:solidFill>
                <a:latin typeface="Arial"/>
              </a:rPr>
              <a:t>·  Carries the mandate</a:t>
            </a:r>
          </a:p>
          <a:p>
            <a:pPr algn="l">
              <a:spcBef>
                <a:spcPts val="1350"/>
              </a:spcBef>
            </a:pPr>
            <a:r>
              <a:rPr sz="1950" b="0">
                <a:solidFill>
                  <a:srgbClr val="33506B"/>
                </a:solidFill>
                <a:latin typeface="Arial"/>
              </a:rPr>
              <a:t>·  Never holds the key</a:t>
            </a:r>
          </a:p>
          <a:p>
            <a:pPr algn="l">
              <a:spcBef>
                <a:spcPts val="1350"/>
              </a:spcBef>
            </a:pPr>
            <a:r>
              <a:rPr sz="1950" b="0">
                <a:solidFill>
                  <a:srgbClr val="33506B"/>
                </a:solidFill>
                <a:latin typeface="Arial"/>
              </a:rPr>
              <a:t>·  Cannot widen it</a:t>
            </a:r>
          </a:p>
        </p:txBody>
      </p:sp>
      <p:sp>
        <p:nvSpPr>
          <p:cNvPr id="12" name="Right Arrow 11"/>
          <p:cNvSpPr/>
          <p:nvPr/>
        </p:nvSpPr>
        <p:spPr>
          <a:xfrm>
            <a:off x="9029700" y="4521708"/>
            <a:ext cx="228600" cy="292608"/>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299448" y="3273552"/>
            <a:ext cx="3881628" cy="278892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299448" y="3273552"/>
            <a:ext cx="3881628" cy="91440"/>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37192" y="3584448"/>
            <a:ext cx="3406140" cy="2331720"/>
          </a:xfrm>
          <a:prstGeom prst="rect">
            <a:avLst/>
          </a:prstGeom>
          <a:noFill/>
        </p:spPr>
        <p:txBody>
          <a:bodyPr wrap="square" lIns="0" rIns="0" tIns="0" bIns="0" anchor="t">
            <a:spAutoFit/>
          </a:bodyPr>
          <a:lstStyle/>
          <a:p>
            <a:pPr algn="l">
              <a:spcBef>
                <a:spcPts val="0"/>
              </a:spcBef>
            </a:pPr>
            <a:r>
              <a:rPr sz="2700" b="1">
                <a:solidFill>
                  <a:srgbClr val="001B35"/>
                </a:solidFill>
                <a:latin typeface="Arial"/>
              </a:rPr>
              <a:t>MERCHANT</a:t>
            </a:r>
          </a:p>
          <a:p>
            <a:pPr algn="l">
              <a:spcBef>
                <a:spcPts val="450"/>
              </a:spcBef>
            </a:pPr>
            <a:r>
              <a:rPr sz="1875" b="0">
                <a:solidFill>
                  <a:srgbClr val="109881"/>
                </a:solidFill>
                <a:latin typeface="Arial"/>
              </a:rPr>
              <a:t>offers what will pass</a:t>
            </a:r>
          </a:p>
          <a:p>
            <a:pPr algn="l">
              <a:spcBef>
                <a:spcPts val="1350"/>
              </a:spcBef>
            </a:pPr>
            <a:r>
              <a:rPr sz="1950" b="0">
                <a:solidFill>
                  <a:srgbClr val="33506B"/>
                </a:solidFill>
                <a:latin typeface="Arial"/>
              </a:rPr>
              <a:t>·  Reads the envelope</a:t>
            </a:r>
          </a:p>
          <a:p>
            <a:pPr algn="l">
              <a:spcBef>
                <a:spcPts val="1350"/>
              </a:spcBef>
            </a:pPr>
            <a:r>
              <a:rPr sz="1950" b="0">
                <a:solidFill>
                  <a:srgbClr val="33506B"/>
                </a:solidFill>
                <a:latin typeface="Arial"/>
              </a:rPr>
              <a:t>·  Quotes server-side</a:t>
            </a:r>
          </a:p>
          <a:p>
            <a:pPr algn="l">
              <a:spcBef>
                <a:spcPts val="1350"/>
              </a:spcBef>
            </a:pPr>
            <a:r>
              <a:rPr sz="1950" b="0">
                <a:solidFill>
                  <a:srgbClr val="33506B"/>
                </a:solidFill>
                <a:latin typeface="Arial"/>
              </a:rPr>
              <a:t>·  Upsells within it</a:t>
            </a:r>
          </a:p>
        </p:txBody>
      </p:sp>
      <p:sp>
        <p:nvSpPr>
          <p:cNvPr id="16" name="Right Arrow 15"/>
          <p:cNvSpPr/>
          <p:nvPr/>
        </p:nvSpPr>
        <p:spPr>
          <a:xfrm>
            <a:off x="13222224" y="4521708"/>
            <a:ext cx="228600" cy="292608"/>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3491972" y="3273552"/>
            <a:ext cx="3881628" cy="278892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13491972" y="3273552"/>
            <a:ext cx="3881628" cy="9144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29716" y="3584448"/>
            <a:ext cx="3406140" cy="2331720"/>
          </a:xfrm>
          <a:prstGeom prst="rect">
            <a:avLst/>
          </a:prstGeom>
          <a:noFill/>
        </p:spPr>
        <p:txBody>
          <a:bodyPr wrap="square" lIns="0" rIns="0" tIns="0" bIns="0" anchor="t">
            <a:spAutoFit/>
          </a:bodyPr>
          <a:lstStyle/>
          <a:p>
            <a:pPr algn="l">
              <a:spcBef>
                <a:spcPts val="0"/>
              </a:spcBef>
            </a:pPr>
            <a:r>
              <a:rPr sz="2700" b="1">
                <a:solidFill>
                  <a:srgbClr val="001B35"/>
                </a:solidFill>
                <a:latin typeface="Arial"/>
              </a:rPr>
              <a:t>GATE</a:t>
            </a:r>
          </a:p>
          <a:p>
            <a:pPr algn="l">
              <a:spcBef>
                <a:spcPts val="450"/>
              </a:spcBef>
            </a:pPr>
            <a:r>
              <a:rPr sz="1875" b="0">
                <a:solidFill>
                  <a:srgbClr val="F59E0B"/>
                </a:solidFill>
                <a:latin typeface="Arial"/>
              </a:rPr>
              <a:t>decides on authority</a:t>
            </a:r>
          </a:p>
          <a:p>
            <a:pPr algn="l">
              <a:spcBef>
                <a:spcPts val="1350"/>
              </a:spcBef>
            </a:pPr>
            <a:r>
              <a:rPr sz="1950" b="0">
                <a:solidFill>
                  <a:srgbClr val="33506B"/>
                </a:solidFill>
                <a:latin typeface="Arial"/>
              </a:rPr>
              <a:t>·  Nine checks, ~4 ms</a:t>
            </a:r>
          </a:p>
          <a:p>
            <a:pPr algn="l">
              <a:spcBef>
                <a:spcPts val="1350"/>
              </a:spcBef>
            </a:pPr>
            <a:r>
              <a:rPr sz="1950" b="0">
                <a:solidFill>
                  <a:srgbClr val="33506B"/>
                </a:solidFill>
                <a:latin typeface="Arial"/>
              </a:rPr>
              <a:t>·  Reserves atomically</a:t>
            </a:r>
          </a:p>
          <a:p>
            <a:pPr algn="l">
              <a:spcBef>
                <a:spcPts val="1350"/>
              </a:spcBef>
            </a:pPr>
            <a:r>
              <a:rPr sz="1950" b="0">
                <a:solidFill>
                  <a:srgbClr val="33506B"/>
                </a:solidFill>
                <a:latin typeface="Arial"/>
              </a:rPr>
              <a:t>·  Writes a reason code</a:t>
            </a:r>
          </a:p>
        </p:txBody>
      </p:sp>
      <p:sp>
        <p:nvSpPr>
          <p:cNvPr id="20" name="TextBox 19"/>
          <p:cNvSpPr txBox="1"/>
          <p:nvPr/>
        </p:nvSpPr>
        <p:spPr>
          <a:xfrm>
            <a:off x="2855214" y="6153912"/>
            <a:ext cx="4192524" cy="365760"/>
          </a:xfrm>
          <a:prstGeom prst="rect">
            <a:avLst/>
          </a:prstGeom>
          <a:noFill/>
        </p:spPr>
        <p:txBody>
          <a:bodyPr wrap="square" lIns="0" rIns="0" tIns="0" bIns="0" anchor="t">
            <a:spAutoFit/>
          </a:bodyPr>
          <a:lstStyle/>
          <a:p>
            <a:pPr algn="ctr">
              <a:spcBef>
                <a:spcPts val="0"/>
              </a:spcBef>
            </a:pPr>
            <a:r>
              <a:rPr sz="1950" b="1">
                <a:solidFill>
                  <a:srgbClr val="64748B"/>
                </a:solidFill>
                <a:latin typeface="Arial"/>
              </a:rPr>
              <a:t>signed mandate</a:t>
            </a:r>
          </a:p>
        </p:txBody>
      </p:sp>
      <p:sp>
        <p:nvSpPr>
          <p:cNvPr id="21" name="TextBox 20"/>
          <p:cNvSpPr txBox="1"/>
          <p:nvPr/>
        </p:nvSpPr>
        <p:spPr>
          <a:xfrm>
            <a:off x="7047738" y="6153912"/>
            <a:ext cx="4192524" cy="365760"/>
          </a:xfrm>
          <a:prstGeom prst="rect">
            <a:avLst/>
          </a:prstGeom>
          <a:noFill/>
        </p:spPr>
        <p:txBody>
          <a:bodyPr wrap="square" lIns="0" rIns="0" tIns="0" bIns="0" anchor="t">
            <a:spAutoFit/>
          </a:bodyPr>
          <a:lstStyle/>
          <a:p>
            <a:pPr algn="ctr">
              <a:spcBef>
                <a:spcPts val="0"/>
              </a:spcBef>
            </a:pPr>
            <a:r>
              <a:rPr sz="1950" b="1">
                <a:solidFill>
                  <a:srgbClr val="64748B"/>
                </a:solidFill>
                <a:latin typeface="Arial"/>
              </a:rPr>
              <a:t>GET /headroom → envelope</a:t>
            </a:r>
          </a:p>
        </p:txBody>
      </p:sp>
      <p:sp>
        <p:nvSpPr>
          <p:cNvPr id="22" name="TextBox 21"/>
          <p:cNvSpPr txBox="1"/>
          <p:nvPr/>
        </p:nvSpPr>
        <p:spPr>
          <a:xfrm>
            <a:off x="11240262" y="6153912"/>
            <a:ext cx="4192524" cy="365760"/>
          </a:xfrm>
          <a:prstGeom prst="rect">
            <a:avLst/>
          </a:prstGeom>
          <a:noFill/>
        </p:spPr>
        <p:txBody>
          <a:bodyPr wrap="square" lIns="0" rIns="0" tIns="0" bIns="0" anchor="t">
            <a:spAutoFit/>
          </a:bodyPr>
          <a:lstStyle/>
          <a:p>
            <a:pPr algn="ctr">
              <a:spcBef>
                <a:spcPts val="0"/>
              </a:spcBef>
            </a:pPr>
            <a:r>
              <a:rPr sz="1950" b="1">
                <a:solidFill>
                  <a:srgbClr val="64748B"/>
                </a:solidFill>
                <a:latin typeface="Arial"/>
              </a:rPr>
              <a:t>settlement token</a:t>
            </a:r>
          </a:p>
        </p:txBody>
      </p:sp>
      <p:sp>
        <p:nvSpPr>
          <p:cNvPr id="23" name="Rounded Rectangle 22"/>
          <p:cNvSpPr/>
          <p:nvPr/>
        </p:nvSpPr>
        <p:spPr>
          <a:xfrm>
            <a:off x="914400" y="6693408"/>
            <a:ext cx="8074152" cy="1481328"/>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88720" y="6912864"/>
            <a:ext cx="7525512" cy="1115568"/>
          </a:xfrm>
          <a:prstGeom prst="rect">
            <a:avLst/>
          </a:prstGeom>
          <a:noFill/>
        </p:spPr>
        <p:txBody>
          <a:bodyPr wrap="square" lIns="0" rIns="0" tIns="0" bIns="0" anchor="t">
            <a:spAutoFit/>
          </a:bodyPr>
          <a:lstStyle/>
          <a:p>
            <a:pPr algn="l">
              <a:spcBef>
                <a:spcPts val="0"/>
              </a:spcBef>
            </a:pPr>
            <a:r>
              <a:rPr sz="2250" b="1">
                <a:solidFill>
                  <a:srgbClr val="001B35"/>
                </a:solidFill>
                <a:latin typeface="Arial"/>
              </a:rPr>
              <a:t>SETTLEMENT RAIL   mock_upi · Razorpay</a:t>
            </a:r>
          </a:p>
          <a:p>
            <a:pPr algn="l">
              <a:spcBef>
                <a:spcPts val="900"/>
              </a:spcBef>
            </a:pPr>
            <a:r>
              <a:rPr sz="2025" b="0">
                <a:solidFill>
                  <a:srgbClr val="33506B"/>
                </a:solidFill>
                <a:latin typeface="Arial"/>
              </a:rPr>
              <a:t>Swapped by one flag. The gate has never heard of either — nothing in core/ imports a rail.</a:t>
            </a:r>
          </a:p>
        </p:txBody>
      </p:sp>
      <p:sp>
        <p:nvSpPr>
          <p:cNvPr id="25" name="Rounded Rectangle 24"/>
          <p:cNvSpPr/>
          <p:nvPr/>
        </p:nvSpPr>
        <p:spPr>
          <a:xfrm>
            <a:off x="9299448" y="6693408"/>
            <a:ext cx="8074152" cy="1481328"/>
          </a:xfrm>
          <a:prstGeom prst="roundRect">
            <a:avLst>
              <a:gd name="adj" fmla="val 3500"/>
            </a:avLst>
          </a:prstGeom>
          <a:solidFill>
            <a:srgbClr val="F4F7FA"/>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573768" y="6912864"/>
            <a:ext cx="7525512" cy="1115568"/>
          </a:xfrm>
          <a:prstGeom prst="rect">
            <a:avLst/>
          </a:prstGeom>
          <a:noFill/>
        </p:spPr>
        <p:txBody>
          <a:bodyPr wrap="square" lIns="0" rIns="0" tIns="0" bIns="0" anchor="t">
            <a:spAutoFit/>
          </a:bodyPr>
          <a:lstStyle/>
          <a:p>
            <a:pPr algn="l">
              <a:spcBef>
                <a:spcPts val="0"/>
              </a:spcBef>
            </a:pPr>
            <a:r>
              <a:rPr sz="2250" b="1">
                <a:solidFill>
                  <a:srgbClr val="001B35"/>
                </a:solidFill>
                <a:latin typeface="Arial"/>
              </a:rPr>
              <a:t>CONSOLE   five surfaces, one of them the principal's</a:t>
            </a:r>
          </a:p>
          <a:p>
            <a:pPr algn="l">
              <a:spcBef>
                <a:spcPts val="900"/>
              </a:spcBef>
            </a:pPr>
            <a:r>
              <a:rPr sz="2025" b="0">
                <a:solidFill>
                  <a:srgbClr val="33506B"/>
                </a:solidFill>
                <a:latin typeface="Arial"/>
              </a:rPr>
              <a:t>Merchant, grant, checkout, pitch — and a firewall the person whose money it is can watch, with its own kill switch.</a:t>
            </a:r>
          </a:p>
        </p:txBody>
      </p:sp>
      <p:sp>
        <p:nvSpPr>
          <p:cNvPr id="27" name="TextBox 26"/>
          <p:cNvSpPr txBox="1"/>
          <p:nvPr/>
        </p:nvSpPr>
        <p:spPr>
          <a:xfrm>
            <a:off x="914400" y="8357616"/>
            <a:ext cx="16459200" cy="713232"/>
          </a:xfrm>
          <a:prstGeom prst="rect">
            <a:avLst/>
          </a:prstGeom>
          <a:noFill/>
        </p:spPr>
        <p:txBody>
          <a:bodyPr wrap="square" lIns="0" rIns="0" tIns="0" bIns="0" anchor="b">
            <a:spAutoFit/>
          </a:bodyPr>
          <a:lstStyle/>
          <a:p>
            <a:pPr algn="l">
              <a:spcBef>
                <a:spcPts val="0"/>
              </a:spcBef>
            </a:pPr>
            <a:r>
              <a:rPr sz="1875" b="0">
                <a:solidFill>
                  <a:srgbClr val="33506B"/>
                </a:solidFill>
                <a:latin typeface="Arial"/>
              </a:rPr>
              <a:t>Failure path, same diagram: capture succeeds → fulfilment fails → refund issued → budget released → alternative offered → the buyer signs it → RECOVERED. Compensations run in reverse, each idempotent; a refund that fails three times parks the order rather than swallowing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
            <a:ext cx="18288000" cy="10279380"/>
          </a:xfrm>
          <a:custGeom>
            <a:avLst/>
            <a:gdLst/>
            <a:ahLst/>
            <a:cxnLst/>
            <a:rect l="l" t="t" r="r" b="b"/>
            <a:pathLst>
              <a:path w="18288000" h="10279380">
                <a:moveTo>
                  <a:pt x="0" y="0"/>
                </a:moveTo>
                <a:lnTo>
                  <a:pt x="18288000" y="0"/>
                </a:lnTo>
                <a:lnTo>
                  <a:pt x="18288000" y="10279380"/>
                </a:lnTo>
                <a:lnTo>
                  <a:pt x="0" y="10279380"/>
                </a:lnTo>
                <a:lnTo>
                  <a:pt x="0" y="0"/>
                </a:lnTo>
                <a:close/>
              </a:path>
            </a:pathLst>
          </a:custGeom>
          <a:blipFill>
            <a:blip r:embed="rId2"/>
            <a:stretch>
              <a:fillRect/>
            </a:stretch>
          </a:blipFill>
        </p:spPr>
      </p:sp>
      <p:sp>
        <p:nvSpPr>
          <p:cNvPr id="3" name="TextBox 3"/>
          <p:cNvSpPr txBox="1"/>
          <p:nvPr/>
        </p:nvSpPr>
        <p:spPr>
          <a:xfrm>
            <a:off x="3680519" y="1181100"/>
            <a:ext cx="10926961" cy="912686"/>
          </a:xfrm>
          <a:prstGeom prst="rect">
            <a:avLst/>
          </a:prstGeom>
        </p:spPr>
        <p:txBody>
          <a:bodyPr wrap="square" lIns="0" tIns="0" rIns="0" bIns="0" rtlCol="0" anchor="t">
            <a:spAutoFit/>
          </a:bodyPr>
          <a:lstStyle/>
          <a:p>
            <a:pPr algn="ctr">
              <a:lnSpc>
                <a:spcPts val="7794"/>
              </a:lnSpc>
            </a:pPr>
            <a:r>
              <a:rPr lang="en-US" sz="5567" b="1" dirty="0">
                <a:solidFill>
                  <a:srgbClr val="000000"/>
                </a:solidFill>
                <a:latin typeface="Arimo Bold"/>
                <a:ea typeface="Arimo Bold"/>
                <a:cs typeface="Arimo Bold"/>
                <a:sym typeface="Arimo Bold"/>
              </a:rPr>
              <a:t>FEASIBILITY AND SCALABILITY</a:t>
            </a:r>
          </a:p>
        </p:txBody>
      </p:sp>
      <p:sp>
        <p:nvSpPr>
          <p:cNvPr id="4" name="TextBox 3"/>
          <p:cNvSpPr txBox="1"/>
          <p:nvPr/>
        </p:nvSpPr>
        <p:spPr>
          <a:xfrm>
            <a:off x="914400" y="2395728"/>
            <a:ext cx="16459200" cy="658368"/>
          </a:xfrm>
          <a:prstGeom prst="rect">
            <a:avLst/>
          </a:prstGeom>
          <a:noFill/>
        </p:spPr>
        <p:txBody>
          <a:bodyPr wrap="square" lIns="0" rIns="0" tIns="0" bIns="0" anchor="t">
            <a:spAutoFit/>
          </a:bodyPr>
          <a:lstStyle/>
          <a:p>
            <a:pPr algn="l">
              <a:spcBef>
                <a:spcPts val="0"/>
              </a:spcBef>
            </a:pPr>
            <a:r>
              <a:rPr sz="2700" b="0">
                <a:solidFill>
                  <a:srgbClr val="33506B"/>
                </a:solidFill>
                <a:latin typeface="Arial"/>
              </a:rPr>
              <a:t>It is built and running, and every number below was produced by running it rather than by estimating it.</a:t>
            </a:r>
          </a:p>
        </p:txBody>
      </p:sp>
      <p:sp>
        <p:nvSpPr>
          <p:cNvPr id="5" name="Rounded Rectangle 4"/>
          <p:cNvSpPr/>
          <p:nvPr/>
        </p:nvSpPr>
        <p:spPr>
          <a:xfrm>
            <a:off x="914400" y="3200400"/>
            <a:ext cx="3867912" cy="196596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70432" y="3474720"/>
            <a:ext cx="822960" cy="77724"/>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3703320"/>
            <a:ext cx="3355848" cy="1325880"/>
          </a:xfrm>
          <a:prstGeom prst="rect">
            <a:avLst/>
          </a:prstGeom>
          <a:noFill/>
        </p:spPr>
        <p:txBody>
          <a:bodyPr wrap="square" lIns="0" rIns="0" tIns="0" bIns="0" anchor="t">
            <a:spAutoFit/>
          </a:bodyPr>
          <a:lstStyle/>
          <a:p>
            <a:pPr algn="l">
              <a:spcBef>
                <a:spcPts val="0"/>
              </a:spcBef>
            </a:pPr>
            <a:r>
              <a:rPr sz="4500" b="1">
                <a:solidFill>
                  <a:srgbClr val="001B35"/>
                </a:solidFill>
                <a:latin typeface="Arial"/>
              </a:rPr>
              <a:t>49,501</a:t>
            </a:r>
          </a:p>
          <a:p>
            <a:pPr algn="l">
              <a:spcBef>
                <a:spcPts val="750"/>
              </a:spcBef>
            </a:pPr>
            <a:r>
              <a:rPr sz="1950" b="0">
                <a:solidFill>
                  <a:srgbClr val="64748B"/>
                </a:solidFill>
                <a:latin typeface="Arial"/>
              </a:rPr>
              <a:t>purchases in a two-hour soak,
zero transport or server errors</a:t>
            </a:r>
          </a:p>
        </p:txBody>
      </p:sp>
      <p:sp>
        <p:nvSpPr>
          <p:cNvPr id="8" name="Rounded Rectangle 7"/>
          <p:cNvSpPr/>
          <p:nvPr/>
        </p:nvSpPr>
        <p:spPr>
          <a:xfrm>
            <a:off x="5111496" y="3200400"/>
            <a:ext cx="3867912" cy="196596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367528" y="3474720"/>
            <a:ext cx="822960" cy="77724"/>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67528" y="3703320"/>
            <a:ext cx="3355848" cy="1325880"/>
          </a:xfrm>
          <a:prstGeom prst="rect">
            <a:avLst/>
          </a:prstGeom>
          <a:noFill/>
        </p:spPr>
        <p:txBody>
          <a:bodyPr wrap="square" lIns="0" rIns="0" tIns="0" bIns="0" anchor="t">
            <a:spAutoFit/>
          </a:bodyPr>
          <a:lstStyle/>
          <a:p>
            <a:pPr algn="l">
              <a:spcBef>
                <a:spcPts val="0"/>
              </a:spcBef>
            </a:pPr>
            <a:r>
              <a:rPr sz="4500" b="1">
                <a:solidFill>
                  <a:srgbClr val="001B35"/>
                </a:solidFill>
                <a:latin typeface="Arial"/>
              </a:rPr>
              <a:t>₹4.86 cr</a:t>
            </a:r>
          </a:p>
          <a:p>
            <a:pPr algn="l">
              <a:spcBef>
                <a:spcPts val="750"/>
              </a:spcBef>
            </a:pPr>
            <a:r>
              <a:rPr sz="1950" b="0">
                <a:solidFill>
                  <a:srgbClr val="64748B"/>
                </a:solidFill>
                <a:latin typeface="Arial"/>
              </a:rPr>
              <a:t>settled, and the ledger agreed
with the harness to the paise</a:t>
            </a:r>
          </a:p>
        </p:txBody>
      </p:sp>
      <p:sp>
        <p:nvSpPr>
          <p:cNvPr id="11" name="Rounded Rectangle 10"/>
          <p:cNvSpPr/>
          <p:nvPr/>
        </p:nvSpPr>
        <p:spPr>
          <a:xfrm>
            <a:off x="9308592" y="3200400"/>
            <a:ext cx="3867912" cy="196596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9564624" y="3474720"/>
            <a:ext cx="822960" cy="77724"/>
          </a:xfrm>
          <a:prstGeom prst="roundRect">
            <a:avLst>
              <a:gd name="adj" fmla="val 50000"/>
            </a:avLst>
          </a:prstGeom>
          <a:solidFill>
            <a:srgbClr val="1D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64624" y="3703320"/>
            <a:ext cx="3355848" cy="1325880"/>
          </a:xfrm>
          <a:prstGeom prst="rect">
            <a:avLst/>
          </a:prstGeom>
          <a:noFill/>
        </p:spPr>
        <p:txBody>
          <a:bodyPr wrap="square" lIns="0" rIns="0" tIns="0" bIns="0" anchor="t">
            <a:spAutoFit/>
          </a:bodyPr>
          <a:lstStyle/>
          <a:p>
            <a:pPr algn="l">
              <a:spcBef>
                <a:spcPts val="0"/>
              </a:spcBef>
            </a:pPr>
            <a:r>
              <a:rPr sz="4500" b="1">
                <a:solidFill>
                  <a:srgbClr val="001B35"/>
                </a:solidFill>
                <a:latin typeface="Arial"/>
              </a:rPr>
              <a:t>53 / s</a:t>
            </a:r>
          </a:p>
          <a:p>
            <a:pPr algn="l">
              <a:spcBef>
                <a:spcPts val="750"/>
              </a:spcBef>
            </a:pPr>
            <a:r>
              <a:rPr sz="1950" b="0">
                <a:solidFill>
                  <a:srgbClr val="64748B"/>
                </a:solidFill>
                <a:latin typeface="Arial"/>
              </a:rPr>
              <a:t>measured ceiling, 32 buyers,
200/200 completed</a:t>
            </a:r>
          </a:p>
        </p:txBody>
      </p:sp>
      <p:sp>
        <p:nvSpPr>
          <p:cNvPr id="14" name="Rounded Rectangle 13"/>
          <p:cNvSpPr/>
          <p:nvPr/>
        </p:nvSpPr>
        <p:spPr>
          <a:xfrm>
            <a:off x="13505688" y="3200400"/>
            <a:ext cx="3867912" cy="196596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13761720" y="3474720"/>
            <a:ext cx="822960" cy="77724"/>
          </a:xfrm>
          <a:prstGeom prst="roundRect">
            <a:avLst>
              <a:gd name="adj" fmla="val 50000"/>
            </a:avLst>
          </a:prstGeom>
          <a:solidFill>
            <a:srgbClr val="1D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61720" y="3703320"/>
            <a:ext cx="3355848" cy="1325880"/>
          </a:xfrm>
          <a:prstGeom prst="rect">
            <a:avLst/>
          </a:prstGeom>
          <a:noFill/>
        </p:spPr>
        <p:txBody>
          <a:bodyPr wrap="square" lIns="0" rIns="0" tIns="0" bIns="0" anchor="t">
            <a:spAutoFit/>
          </a:bodyPr>
          <a:lstStyle/>
          <a:p>
            <a:pPr algn="l">
              <a:spcBef>
                <a:spcPts val="0"/>
              </a:spcBef>
            </a:pPr>
            <a:r>
              <a:rPr sz="4500" b="1">
                <a:solidFill>
                  <a:srgbClr val="001B35"/>
                </a:solidFill>
                <a:latin typeface="Arial"/>
              </a:rPr>
              <a:t>~4 ms</a:t>
            </a:r>
          </a:p>
          <a:p>
            <a:pPr algn="l">
              <a:spcBef>
                <a:spcPts val="750"/>
              </a:spcBef>
            </a:pPr>
            <a:r>
              <a:rPr sz="1950" b="0">
                <a:solidFill>
                  <a:srgbClr val="64748B"/>
                </a:solidFill>
                <a:latin typeface="Arial"/>
              </a:rPr>
              <a:t>for the gate to reach ALLOW
across its ten checks</a:t>
            </a:r>
          </a:p>
        </p:txBody>
      </p:sp>
      <p:sp>
        <p:nvSpPr>
          <p:cNvPr id="17" name="Rounded Rectangle 16"/>
          <p:cNvSpPr/>
          <p:nvPr/>
        </p:nvSpPr>
        <p:spPr>
          <a:xfrm>
            <a:off x="914400" y="5440680"/>
            <a:ext cx="8065008" cy="278892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1188720" y="5733288"/>
            <a:ext cx="960120" cy="77724"/>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5971032"/>
            <a:ext cx="7516368" cy="2011680"/>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FEASIBLE — because it already runs</a:t>
            </a:r>
          </a:p>
          <a:p>
            <a:pPr algn="l">
              <a:spcBef>
                <a:spcPts val="1350"/>
              </a:spcBef>
            </a:pPr>
            <a:r>
              <a:rPr sz="2025" b="0">
                <a:solidFill>
                  <a:srgbClr val="33506B"/>
                </a:solidFill>
                <a:latin typeface="Arial"/>
              </a:rPr>
              <a:t>·  CI publishes the image only after the six beats pass on it</a:t>
            </a:r>
          </a:p>
          <a:p>
            <a:pPr algn="l">
              <a:spcBef>
                <a:spcPts val="1050"/>
              </a:spcBef>
            </a:pPr>
            <a:r>
              <a:rPr sz="2025" b="0">
                <a:solidFill>
                  <a:srgbClr val="33506B"/>
                </a:solidFill>
                <a:latin typeface="Arial"/>
              </a:rPr>
              <a:t>·  Rollback proven end to end, through to RECOVERED</a:t>
            </a:r>
          </a:p>
          <a:p>
            <a:pPr algn="l">
              <a:spcBef>
                <a:spcPts val="1050"/>
              </a:spcBef>
            </a:pPr>
            <a:r>
              <a:rPr sz="2025" b="0">
                <a:solidFill>
                  <a:srgbClr val="33506B"/>
                </a:solidFill>
                <a:latin typeface="Arial"/>
              </a:rPr>
              <a:t>·  593,961 SSE frames to one subscriber, zero reconnects</a:t>
            </a:r>
          </a:p>
          <a:p>
            <a:pPr algn="l">
              <a:spcBef>
                <a:spcPts val="1050"/>
              </a:spcBef>
            </a:pPr>
            <a:r>
              <a:rPr sz="2025" b="0">
                <a:solidFill>
                  <a:srgbClr val="33506B"/>
                </a:solidFill>
                <a:latin typeface="Arial"/>
              </a:rPr>
              <a:t>·  A recorded backup take, re-recorded by CI on every push</a:t>
            </a:r>
          </a:p>
        </p:txBody>
      </p:sp>
      <p:sp>
        <p:nvSpPr>
          <p:cNvPr id="20" name="Rounded Rectangle 19"/>
          <p:cNvSpPr/>
          <p:nvPr/>
        </p:nvSpPr>
        <p:spPr>
          <a:xfrm>
            <a:off x="9308592" y="5440680"/>
            <a:ext cx="8065008" cy="278892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9582912" y="5733288"/>
            <a:ext cx="960120" cy="7772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82912" y="5971032"/>
            <a:ext cx="7516368" cy="2011680"/>
          </a:xfrm>
          <a:prstGeom prst="rect">
            <a:avLst/>
          </a:prstGeom>
          <a:noFill/>
        </p:spPr>
        <p:txBody>
          <a:bodyPr wrap="square" lIns="0" rIns="0" tIns="0" bIns="0" anchor="t">
            <a:spAutoFit/>
          </a:bodyPr>
          <a:lstStyle/>
          <a:p>
            <a:pPr algn="l">
              <a:spcBef>
                <a:spcPts val="0"/>
              </a:spcBef>
            </a:pPr>
            <a:r>
              <a:rPr sz="2625" b="1">
                <a:solidFill>
                  <a:srgbClr val="001B35"/>
                </a:solidFill>
                <a:latin typeface="Arial"/>
              </a:rPr>
              <a:t>SCALABLE — and the limits are named</a:t>
            </a:r>
          </a:p>
          <a:p>
            <a:pPr algn="l">
              <a:spcBef>
                <a:spcPts val="1350"/>
              </a:spcBef>
            </a:pPr>
            <a:r>
              <a:rPr sz="2025" b="0">
                <a:solidFill>
                  <a:srgbClr val="33506B"/>
                </a:solidFill>
                <a:latin typeface="Arial"/>
              </a:rPr>
              <a:t>·  It degrades by refusing, never by settling unauthorised</a:t>
            </a:r>
          </a:p>
          <a:p>
            <a:pPr algn="l">
              <a:spcBef>
                <a:spcPts val="1050"/>
              </a:spcBef>
            </a:pPr>
            <a:r>
              <a:rPr sz="2025" b="0">
                <a:solidFill>
                  <a:srgbClr val="33506B"/>
                </a:solidFill>
                <a:latin typeface="Arial"/>
              </a:rPr>
              <a:t>·  A leak found under load and closed: 620 bytes a purchase → 7</a:t>
            </a:r>
          </a:p>
          <a:p>
            <a:pPr algn="l">
              <a:spcBef>
                <a:spcPts val="1050"/>
              </a:spcBef>
            </a:pPr>
            <a:r>
              <a:rPr sz="2025" b="0">
                <a:solidFill>
                  <a:srgbClr val="33506B"/>
                </a:solidFill>
                <a:latin typeface="Arial"/>
              </a:rPr>
              <a:t>·  One worker on SQLite; Postgres and a queue is the next step</a:t>
            </a:r>
          </a:p>
        </p:txBody>
      </p:sp>
      <p:sp>
        <p:nvSpPr>
          <p:cNvPr id="23" name="TextBox 22"/>
          <p:cNvSpPr txBox="1"/>
          <p:nvPr/>
        </p:nvSpPr>
        <p:spPr>
          <a:xfrm>
            <a:off x="914400" y="8357616"/>
            <a:ext cx="16459200" cy="713232"/>
          </a:xfrm>
          <a:prstGeom prst="rect">
            <a:avLst/>
          </a:prstGeom>
          <a:noFill/>
        </p:spPr>
        <p:txBody>
          <a:bodyPr wrap="square" lIns="0" rIns="0" tIns="0" bIns="0" anchor="b">
            <a:spAutoFit/>
          </a:bodyPr>
          <a:lstStyle/>
          <a:p>
            <a:pPr algn="l">
              <a:spcBef>
                <a:spcPts val="0"/>
              </a:spcBef>
            </a:pPr>
            <a:r>
              <a:rPr sz="1875" b="0">
                <a:solidFill>
                  <a:srgbClr val="33506B"/>
                </a:solidFill>
                <a:latin typeface="Arial"/>
              </a:rPr>
              <a:t>Stated rather than glossed: the Razorpay client is driven against a fake built from the API notes, not the live API, and the intent auditor's model has not been called — so that one attack is reported N/A rather than as a pass.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
            <a:ext cx="18288000" cy="10279380"/>
          </a:xfrm>
          <a:custGeom>
            <a:avLst/>
            <a:gdLst/>
            <a:ahLst/>
            <a:cxnLst/>
            <a:rect l="l" t="t" r="r" b="b"/>
            <a:pathLst>
              <a:path w="18288000" h="10279380">
                <a:moveTo>
                  <a:pt x="0" y="0"/>
                </a:moveTo>
                <a:lnTo>
                  <a:pt x="18288000" y="0"/>
                </a:lnTo>
                <a:lnTo>
                  <a:pt x="18288000" y="10279380"/>
                </a:lnTo>
                <a:lnTo>
                  <a:pt x="0" y="10279380"/>
                </a:lnTo>
                <a:lnTo>
                  <a:pt x="0" y="0"/>
                </a:lnTo>
                <a:close/>
              </a:path>
            </a:pathLst>
          </a:custGeom>
          <a:blipFill>
            <a:blip r:embed="rId2"/>
            <a:stretch>
              <a:fillRect/>
            </a:stretch>
          </a:blipFill>
        </p:spPr>
      </p:sp>
      <p:sp>
        <p:nvSpPr>
          <p:cNvPr id="3" name="TextBox 3"/>
          <p:cNvSpPr txBox="1"/>
          <p:nvPr/>
        </p:nvSpPr>
        <p:spPr>
          <a:xfrm>
            <a:off x="6166604" y="1181100"/>
            <a:ext cx="5954792" cy="912686"/>
          </a:xfrm>
          <a:prstGeom prst="rect">
            <a:avLst/>
          </a:prstGeom>
        </p:spPr>
        <p:txBody>
          <a:bodyPr wrap="square" lIns="0" tIns="0" rIns="0" bIns="0" rtlCol="0" anchor="t">
            <a:spAutoFit/>
          </a:bodyPr>
          <a:lstStyle/>
          <a:p>
            <a:pPr algn="ctr">
              <a:lnSpc>
                <a:spcPts val="7794"/>
              </a:lnSpc>
            </a:pPr>
            <a:r>
              <a:rPr lang="en-US" sz="5567" b="1" dirty="0">
                <a:solidFill>
                  <a:srgbClr val="000000"/>
                </a:solidFill>
                <a:latin typeface="Arimo Bold"/>
                <a:ea typeface="Arimo Bold"/>
                <a:cs typeface="Arimo Bold"/>
                <a:sym typeface="Arimo Bold"/>
              </a:rPr>
              <a:t>TEAM MEMBERS</a:t>
            </a:r>
          </a:p>
        </p:txBody>
      </p:sp>
      <p:sp>
        <p:nvSpPr>
          <p:cNvPr id="4" name="TextBox 3"/>
          <p:cNvSpPr txBox="1"/>
          <p:nvPr/>
        </p:nvSpPr>
        <p:spPr>
          <a:xfrm>
            <a:off x="914400" y="2395728"/>
            <a:ext cx="16459200" cy="713232"/>
          </a:xfrm>
          <a:prstGeom prst="rect">
            <a:avLst/>
          </a:prstGeom>
          <a:noFill/>
        </p:spPr>
        <p:txBody>
          <a:bodyPr wrap="square" lIns="0" rIns="0" tIns="0" bIns="0" anchor="t">
            <a:spAutoFit/>
          </a:bodyPr>
          <a:lstStyle/>
          <a:p>
            <a:pPr algn="l">
              <a:spcBef>
                <a:spcPts val="0"/>
              </a:spcBef>
            </a:pPr>
            <a:r>
              <a:rPr sz="2700" b="0">
                <a:solidFill>
                  <a:srgbClr val="33506B"/>
                </a:solidFill>
                <a:latin typeface="Arial"/>
              </a:rPr>
              <a:t>Three lanes, one repository, 105 commits on main — backend, evidence and interfaces, each with its own directory and its own tests.</a:t>
            </a:r>
          </a:p>
        </p:txBody>
      </p:sp>
      <p:sp>
        <p:nvSpPr>
          <p:cNvPr id="5" name="Rounded Rectangle 4"/>
          <p:cNvSpPr/>
          <p:nvPr/>
        </p:nvSpPr>
        <p:spPr>
          <a:xfrm>
            <a:off x="914400" y="3218688"/>
            <a:ext cx="5230368" cy="420624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88720" y="3529584"/>
            <a:ext cx="960120" cy="77724"/>
          </a:xfrm>
          <a:prstGeom prst="roundRect">
            <a:avLst>
              <a:gd name="adj" fmla="val 50000"/>
            </a:avLst>
          </a:prstGeom>
          <a:solidFill>
            <a:srgbClr val="1D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4681728" cy="3291840"/>
          </a:xfrm>
          <a:prstGeom prst="rect">
            <a:avLst/>
          </a:prstGeom>
          <a:noFill/>
        </p:spPr>
        <p:txBody>
          <a:bodyPr wrap="square" lIns="0" rIns="0" tIns="0" bIns="0" anchor="t">
            <a:spAutoFit/>
          </a:bodyPr>
          <a:lstStyle/>
          <a:p>
            <a:pPr algn="l">
              <a:spcBef>
                <a:spcPts val="0"/>
              </a:spcBef>
            </a:pPr>
            <a:r>
              <a:rPr sz="2550" b="1">
                <a:solidFill>
                  <a:srgbClr val="001B35"/>
                </a:solidFill>
                <a:latin typeface="Arial"/>
              </a:rPr>
              <a:t>LANE A — BACKEND</a:t>
            </a:r>
          </a:p>
          <a:p>
            <a:pPr algn="l">
              <a:spcBef>
                <a:spcPts val="900"/>
              </a:spcBef>
            </a:pPr>
            <a:r>
              <a:rPr sz="1950" b="1">
                <a:solidFill>
                  <a:srgbClr val="1D6FC4"/>
                </a:solidFill>
                <a:latin typeface="Arial"/>
              </a:rPr>
              <a:t>contracts/  core/  rails/  merchant/</a:t>
            </a:r>
          </a:p>
          <a:p>
            <a:pPr algn="l">
              <a:spcBef>
                <a:spcPts val="1500"/>
              </a:spcBef>
            </a:pPr>
            <a:r>
              <a:rPr sz="2100" b="0">
                <a:solidFill>
                  <a:srgbClr val="33506B"/>
                </a:solidFill>
                <a:latin typeface="Arial"/>
              </a:rPr>
              <a:t>The gate and its ten checks, the reservation ledger, the quote engine, the rollback saga and the settlement rails.</a:t>
            </a:r>
          </a:p>
        </p:txBody>
      </p:sp>
      <p:sp>
        <p:nvSpPr>
          <p:cNvPr id="8" name="TextBox 7"/>
          <p:cNvSpPr txBox="1"/>
          <p:nvPr/>
        </p:nvSpPr>
        <p:spPr>
          <a:xfrm>
            <a:off x="1188720" y="6373368"/>
            <a:ext cx="4681728" cy="384048"/>
          </a:xfrm>
          <a:prstGeom prst="rect">
            <a:avLst/>
          </a:prstGeom>
          <a:noFill/>
        </p:spPr>
        <p:txBody>
          <a:bodyPr wrap="square" lIns="0" rIns="0" tIns="0" bIns="0" anchor="t">
            <a:spAutoFit/>
          </a:bodyPr>
          <a:lstStyle/>
          <a:p>
            <a:pPr algn="l">
              <a:spcBef>
                <a:spcPts val="0"/>
              </a:spcBef>
            </a:pPr>
            <a:r>
              <a:rPr sz="1875" b="1">
                <a:solidFill>
                  <a:srgbClr val="64748B"/>
                </a:solidFill>
                <a:latin typeface="Arial"/>
              </a:rPr>
              <a:t>SWETANK</a:t>
            </a:r>
          </a:p>
        </p:txBody>
      </p:sp>
      <p:sp>
        <p:nvSpPr>
          <p:cNvPr id="9" name="Rectangle 8"/>
          <p:cNvSpPr/>
          <p:nvPr/>
        </p:nvSpPr>
        <p:spPr>
          <a:xfrm>
            <a:off x="1188720" y="6858000"/>
            <a:ext cx="4681728" cy="16459"/>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28816" y="3218688"/>
            <a:ext cx="5230368" cy="420624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803136" y="3529584"/>
            <a:ext cx="960120" cy="77724"/>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03136" y="3767328"/>
            <a:ext cx="4681728" cy="3291840"/>
          </a:xfrm>
          <a:prstGeom prst="rect">
            <a:avLst/>
          </a:prstGeom>
          <a:noFill/>
        </p:spPr>
        <p:txBody>
          <a:bodyPr wrap="square" lIns="0" rIns="0" tIns="0" bIns="0" anchor="t">
            <a:spAutoFit/>
          </a:bodyPr>
          <a:lstStyle/>
          <a:p>
            <a:pPr algn="l">
              <a:spcBef>
                <a:spcPts val="0"/>
              </a:spcBef>
            </a:pPr>
            <a:r>
              <a:rPr sz="2550" b="1">
                <a:solidFill>
                  <a:srgbClr val="001B35"/>
                </a:solidFill>
                <a:latin typeface="Arial"/>
              </a:rPr>
              <a:t>LANE B — EVIDENCE</a:t>
            </a:r>
          </a:p>
          <a:p>
            <a:pPr algn="l">
              <a:spcBef>
                <a:spcPts val="900"/>
              </a:spcBef>
            </a:pPr>
            <a:r>
              <a:rPr sz="1950" b="1">
                <a:solidFill>
                  <a:srgbClr val="109881"/>
                </a:solidFill>
                <a:latin typeface="Arial"/>
              </a:rPr>
              <a:t>buyer/  sim/  eval/</a:t>
            </a:r>
          </a:p>
          <a:p>
            <a:pPr algn="l">
              <a:spcBef>
                <a:spcPts val="1500"/>
              </a:spcBef>
            </a:pPr>
            <a:r>
              <a:rPr sz="2100" b="0">
                <a:solidFill>
                  <a:srgbClr val="33506B"/>
                </a:solidFill>
                <a:latin typeface="Arial"/>
              </a:rPr>
              <a:t>The buyer agent, the four-arm experiment, the attack suite and every generated number in the results.</a:t>
            </a:r>
          </a:p>
        </p:txBody>
      </p:sp>
      <p:sp>
        <p:nvSpPr>
          <p:cNvPr id="13" name="TextBox 12"/>
          <p:cNvSpPr txBox="1"/>
          <p:nvPr/>
        </p:nvSpPr>
        <p:spPr>
          <a:xfrm>
            <a:off x="6803136" y="6373368"/>
            <a:ext cx="4681728" cy="384048"/>
          </a:xfrm>
          <a:prstGeom prst="rect">
            <a:avLst/>
          </a:prstGeom>
          <a:noFill/>
        </p:spPr>
        <p:txBody>
          <a:bodyPr wrap="square" lIns="0" rIns="0" tIns="0" bIns="0" anchor="t">
            <a:spAutoFit/>
          </a:bodyPr>
          <a:lstStyle/>
          <a:p>
            <a:pPr algn="l">
              <a:spcBef>
                <a:spcPts val="0"/>
              </a:spcBef>
            </a:pPr>
            <a:r>
              <a:rPr sz="1875" b="1">
                <a:solidFill>
                  <a:srgbClr val="64748B"/>
                </a:solidFill>
                <a:latin typeface="Arial"/>
              </a:rPr>
              <a:t>UTKARSH</a:t>
            </a:r>
          </a:p>
        </p:txBody>
      </p:sp>
      <p:sp>
        <p:nvSpPr>
          <p:cNvPr id="14" name="Rectangle 13"/>
          <p:cNvSpPr/>
          <p:nvPr/>
        </p:nvSpPr>
        <p:spPr>
          <a:xfrm>
            <a:off x="6803136" y="6858000"/>
            <a:ext cx="4681728" cy="16459"/>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143232" y="3218688"/>
            <a:ext cx="5230368" cy="4206240"/>
          </a:xfrm>
          <a:prstGeom prst="roundRect">
            <a:avLst>
              <a:gd name="adj" fmla="val 3500"/>
            </a:avLst>
          </a:prstGeom>
          <a:solidFill>
            <a:srgbClr val="FFFFFF"/>
          </a:solidFill>
          <a:ln w="1905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12417552" y="3529584"/>
            <a:ext cx="960120" cy="7772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17552" y="3767328"/>
            <a:ext cx="4681728" cy="3291840"/>
          </a:xfrm>
          <a:prstGeom prst="rect">
            <a:avLst/>
          </a:prstGeom>
          <a:noFill/>
        </p:spPr>
        <p:txBody>
          <a:bodyPr wrap="square" lIns="0" rIns="0" tIns="0" bIns="0" anchor="t">
            <a:spAutoFit/>
          </a:bodyPr>
          <a:lstStyle/>
          <a:p>
            <a:pPr algn="l">
              <a:spcBef>
                <a:spcPts val="0"/>
              </a:spcBef>
            </a:pPr>
            <a:r>
              <a:rPr sz="2550" b="1">
                <a:solidFill>
                  <a:srgbClr val="001B35"/>
                </a:solidFill>
                <a:latin typeface="Arial"/>
              </a:rPr>
              <a:t>LANE C — INTERFACES</a:t>
            </a:r>
          </a:p>
          <a:p>
            <a:pPr algn="l">
              <a:spcBef>
                <a:spcPts val="900"/>
              </a:spcBef>
            </a:pPr>
            <a:r>
              <a:rPr sz="1950" b="1">
                <a:solidFill>
                  <a:srgbClr val="F59E0B"/>
                </a:solidFill>
                <a:latin typeface="Arial"/>
              </a:rPr>
              <a:t>console/</a:t>
            </a:r>
          </a:p>
          <a:p>
            <a:pPr algn="l">
              <a:spcBef>
                <a:spcPts val="1500"/>
              </a:spcBef>
            </a:pPr>
            <a:r>
              <a:rPr sz="2100" b="0">
                <a:solidFill>
                  <a:srgbClr val="33506B"/>
                </a:solidFill>
                <a:latin typeface="Arial"/>
              </a:rPr>
              <a:t>Five surfaces including the principal's firewall, the signature parity check that runs in the browser, and the demo.</a:t>
            </a:r>
          </a:p>
        </p:txBody>
      </p:sp>
      <p:sp>
        <p:nvSpPr>
          <p:cNvPr id="18" name="TextBox 17"/>
          <p:cNvSpPr txBox="1"/>
          <p:nvPr/>
        </p:nvSpPr>
        <p:spPr>
          <a:xfrm>
            <a:off x="12417552" y="6373368"/>
            <a:ext cx="4681728" cy="384048"/>
          </a:xfrm>
          <a:prstGeom prst="rect">
            <a:avLst/>
          </a:prstGeom>
          <a:noFill/>
        </p:spPr>
        <p:txBody>
          <a:bodyPr wrap="square" lIns="0" rIns="0" tIns="0" bIns="0" anchor="t">
            <a:spAutoFit/>
          </a:bodyPr>
          <a:lstStyle/>
          <a:p>
            <a:pPr algn="l">
              <a:spcBef>
                <a:spcPts val="0"/>
              </a:spcBef>
            </a:pPr>
            <a:r>
              <a:rPr sz="1875" b="1">
                <a:solidFill>
                  <a:srgbClr val="64748B"/>
                </a:solidFill>
                <a:latin typeface="Arial"/>
              </a:rPr>
              <a:t>DEVANSH</a:t>
            </a:r>
          </a:p>
        </p:txBody>
      </p:sp>
      <p:sp>
        <p:nvSpPr>
          <p:cNvPr id="19" name="Rectangle 18"/>
          <p:cNvSpPr/>
          <p:nvPr/>
        </p:nvSpPr>
        <p:spPr>
          <a:xfrm>
            <a:off x="12417552" y="6858000"/>
            <a:ext cx="4681728" cy="16459"/>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8357616"/>
            <a:ext cx="16459200" cy="713232"/>
          </a:xfrm>
          <a:prstGeom prst="rect">
            <a:avLst/>
          </a:prstGeom>
          <a:noFill/>
        </p:spPr>
        <p:txBody>
          <a:bodyPr wrap="square" lIns="0" rIns="0" tIns="0" bIns="0" anchor="b">
            <a:spAutoFit/>
          </a:bodyPr>
          <a:lstStyle/>
          <a:p>
            <a:pPr algn="l">
              <a:spcBef>
                <a:spcPts val="0"/>
              </a:spcBef>
            </a:pPr>
            <a:r>
              <a:rPr sz="2025" b="0">
                <a:solidFill>
                  <a:srgbClr val="64748B"/>
                </a:solidFill>
                <a:latin typeface="Arial"/>
              </a:rPr>
              <a:t>Every member presents in the Q&amp;A, as the rulebook requires.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118</Words>
  <Application>Microsoft Office PowerPoint</Application>
  <PresentationFormat>Custom</PresentationFormat>
  <Paragraphs>16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Calibri</vt:lpstr>
      <vt:lpstr>Arimo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 Summit 7.0</dc:title>
  <cp:lastModifiedBy>Pranjal Garg</cp:lastModifiedBy>
  <cp:revision>3</cp:revision>
  <dcterms:created xsi:type="dcterms:W3CDTF">2006-08-16T00:00:00Z</dcterms:created>
  <dcterms:modified xsi:type="dcterms:W3CDTF">2026-09-01T14:09:16Z</dcterms:modified>
  <dc:identifier>DAHT9LSGs_E</dc:identifier>
</cp:coreProperties>
</file>