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1024128"/>
            <a:ext cx="108722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1">
                <a:solidFill>
                  <a:srgbClr val="64748B"/>
                </a:solidFill>
                <a:latin typeface="Arial"/>
              </a:rPr>
              <a:t>RAZORPAY  ·  AI GROWTH &amp; AGENTIC COMMERCE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481328"/>
            <a:ext cx="10872216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6200" b="1">
                <a:solidFill>
                  <a:srgbClr val="001B35"/>
                </a:solidFill>
                <a:latin typeface="Arial"/>
              </a:rPr>
              <a:t>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615184"/>
            <a:ext cx="8778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100" b="1">
                <a:solidFill>
                  <a:srgbClr val="001B35"/>
                </a:solidFill>
                <a:latin typeface="Arial"/>
              </a:rPr>
              <a:t>The merchant reads what the buyer is allowed to spend — before it quotes.</a:t>
            </a:r>
          </a:p>
          <a:p>
            <a:pPr algn="l">
              <a:spcBef>
                <a:spcPts val="900"/>
              </a:spcBef>
            </a:pPr>
            <a:r>
              <a:rPr sz="1350" b="0">
                <a:solidFill>
                  <a:srgbClr val="33506B"/>
                </a:solidFill>
                <a:latin typeface="Arial"/>
              </a:rPr>
              <a:t>A signed delegation the buyer's agent carries, a gate that decides on authority alone, and a merchant that only ever offers what will be approved.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4224528"/>
            <a:ext cx="2553462" cy="117043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877824" y="4462272"/>
            <a:ext cx="566928" cy="54864"/>
          </a:xfrm>
          <a:prstGeom prst="roundRect">
            <a:avLst>
              <a:gd name="adj" fmla="val 50000"/>
            </a:avLst>
          </a:prstGeom>
          <a:solidFill>
            <a:srgbClr val="109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4645152"/>
            <a:ext cx="211455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300" b="1">
                <a:solidFill>
                  <a:srgbClr val="001B35"/>
                </a:solidFill>
                <a:latin typeface="Arial"/>
              </a:rPr>
              <a:t>0.0%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64748B"/>
                </a:solidFill>
                <a:latin typeface="Arial"/>
              </a:rPr>
              <a:t>false block rate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31286" y="4224528"/>
            <a:ext cx="2553462" cy="117043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3650742" y="4462272"/>
            <a:ext cx="566928" cy="54864"/>
          </a:xfrm>
          <a:prstGeom prst="roundRect">
            <a:avLst>
              <a:gd name="adj" fmla="val 50000"/>
            </a:avLst>
          </a:prstGeom>
          <a:solidFill>
            <a:srgbClr val="109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0742" y="4645152"/>
            <a:ext cx="211455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300" b="1">
                <a:solidFill>
                  <a:srgbClr val="001B35"/>
                </a:solidFill>
                <a:latin typeface="Arial"/>
              </a:rPr>
              <a:t>13 / 13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64748B"/>
                </a:solidFill>
                <a:latin typeface="Arial"/>
              </a:rPr>
              <a:t>attack variants blocked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4204" y="4224528"/>
            <a:ext cx="2553462" cy="117043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6423660" y="4462272"/>
            <a:ext cx="566928" cy="54864"/>
          </a:xfrm>
          <a:prstGeom prst="roundRect">
            <a:avLst>
              <a:gd name="adj" fmla="val 50000"/>
            </a:avLst>
          </a:prstGeom>
          <a:solidFill>
            <a:srgbClr val="109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3660" y="4645152"/>
            <a:ext cx="211455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300" b="1">
                <a:solidFill>
                  <a:srgbClr val="001B35"/>
                </a:solidFill>
                <a:latin typeface="Arial"/>
              </a:rPr>
              <a:t>₹0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64748B"/>
                </a:solidFill>
                <a:latin typeface="Arial"/>
              </a:rPr>
              <a:t>lost to adversarial traffic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77122" y="4224528"/>
            <a:ext cx="2553462" cy="117043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9196578" y="4462272"/>
            <a:ext cx="566928" cy="54864"/>
          </a:xfrm>
          <a:prstGeom prst="roundRect">
            <a:avLst>
              <a:gd name="adj" fmla="val 50000"/>
            </a:avLst>
          </a:prstGeom>
          <a:solidFill>
            <a:srgbClr val="1D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96578" y="4645152"/>
            <a:ext cx="211455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300" b="1">
                <a:solidFill>
                  <a:srgbClr val="001B35"/>
                </a:solidFill>
                <a:latin typeface="Arial"/>
              </a:rPr>
              <a:t>268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64748B"/>
                </a:solidFill>
                <a:latin typeface="Arial"/>
              </a:rPr>
              <a:t>tests, green on every push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797296"/>
            <a:ext cx="10872216" cy="47548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0">
                <a:solidFill>
                  <a:srgbClr val="64748B"/>
                </a:solidFill>
                <a:latin typeface="Arial"/>
              </a:rPr>
              <a:t>Every figure in this deck is generated. Revenue and block rates from eval/results/results.md · load and memory from docs/soak.md · the checks from contracts/reason_codes.py.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722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1">
                <a:solidFill>
                  <a:srgbClr val="64748B"/>
                </a:solidFill>
                <a:latin typeface="Arial"/>
              </a:rPr>
              <a:t>THE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221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800" b="1">
                <a:solidFill>
                  <a:srgbClr val="001B35"/>
                </a:solidFill>
                <a:latin typeface="Arial"/>
              </a:rPr>
              <a:t>Agentic commerce standardised the payment. Not the authority.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71600"/>
            <a:ext cx="10872216" cy="12700"/>
          </a:xfrm>
          <a:prstGeom prst="roundRect">
            <a:avLst>
              <a:gd name="adj" fmla="val 0"/>
            </a:avLst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391656"/>
            <a:ext cx="108722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50" b="0">
                <a:solidFill>
                  <a:srgbClr val="64748B"/>
                </a:solidFill>
                <a:latin typeface="Arial"/>
              </a:rPr>
              <a:t>PACT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72768"/>
            <a:ext cx="1087221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0">
                <a:solidFill>
                  <a:srgbClr val="33506B"/>
                </a:solidFill>
                <a:latin typeface="Arial"/>
              </a:rPr>
              <a:t>Every protocol in this space answers "how does an agent pay?". None of them lets the merchant read the buyer's authority envelope before it makes an offer.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94560"/>
            <a:ext cx="2580894" cy="1024128"/>
          </a:xfrm>
          <a:prstGeom prst="roundRect">
            <a:avLst>
              <a:gd name="adj" fmla="val 4500"/>
            </a:avLst>
          </a:prstGeom>
          <a:solidFill>
            <a:srgbClr val="F4F7FA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59536" y="2395728"/>
            <a:ext cx="217855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>
                <a:solidFill>
                  <a:srgbClr val="001B35"/>
                </a:solidFill>
                <a:latin typeface="Arial"/>
              </a:rPr>
              <a:t>Buyer's agent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64748B"/>
                </a:solidFill>
                <a:latin typeface="Arial"/>
              </a:rPr>
              <a:t>carries a mandate the merchant cannot read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2142" y="2194560"/>
            <a:ext cx="2580894" cy="1024128"/>
          </a:xfrm>
          <a:prstGeom prst="roundRect">
            <a:avLst>
              <a:gd name="adj" fmla="val 4500"/>
            </a:avLst>
          </a:prstGeom>
          <a:solidFill>
            <a:srgbClr val="F4F7FA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623310" y="2395728"/>
            <a:ext cx="217855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>
                <a:solidFill>
                  <a:srgbClr val="001B35"/>
                </a:solidFill>
                <a:latin typeface="Arial"/>
              </a:rPr>
              <a:t>Merchant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64748B"/>
                </a:solidFill>
                <a:latin typeface="Arial"/>
              </a:rPr>
              <a:t>quotes and upsells against no information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5916" y="2194560"/>
            <a:ext cx="2580894" cy="1024128"/>
          </a:xfrm>
          <a:prstGeom prst="roundRect">
            <a:avLst>
              <a:gd name="adj" fmla="val 4500"/>
            </a:avLst>
          </a:prstGeom>
          <a:solidFill>
            <a:srgbClr val="F4F7FA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387084" y="2395728"/>
            <a:ext cx="217855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>
                <a:solidFill>
                  <a:srgbClr val="001B35"/>
                </a:solidFill>
                <a:latin typeface="Arial"/>
              </a:rPr>
              <a:t>Authority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64748B"/>
                </a:solidFill>
                <a:latin typeface="Arial"/>
              </a:rPr>
              <a:t>opaque until the payment is attempted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49690" y="2194560"/>
            <a:ext cx="2580894" cy="1024128"/>
          </a:xfrm>
          <a:prstGeom prst="roundRect">
            <a:avLst>
              <a:gd name="adj" fmla="val 4500"/>
            </a:avLst>
          </a:prstGeom>
          <a:solidFill>
            <a:srgbClr val="F4F7FA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50858" y="2395728"/>
            <a:ext cx="217855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>
                <a:solidFill>
                  <a:srgbClr val="001B35"/>
                </a:solidFill>
                <a:latin typeface="Arial"/>
              </a:rPr>
              <a:t>Decline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64748B"/>
                </a:solidFill>
                <a:latin typeface="Arial"/>
              </a:rPr>
              <a:t>found out at the end, after the offer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383280"/>
            <a:ext cx="1087221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>
                <a:solidFill>
                  <a:srgbClr val="33506B"/>
                </a:solidFill>
                <a:latin typeface="Arial"/>
              </a:rPr>
              <a:t>The offer is a guess. The merchant learns the answer only when the payment fails.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822192"/>
            <a:ext cx="3477768" cy="1700784"/>
          </a:xfrm>
          <a:prstGeom prst="roundRect">
            <a:avLst>
              <a:gd name="adj" fmla="val 4500"/>
            </a:avLst>
          </a:prstGeom>
          <a:solidFill>
            <a:srgbClr val="F4F7FA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96112" y="4078224"/>
            <a:ext cx="566928" cy="54864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4261104"/>
            <a:ext cx="3002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1B35"/>
                </a:solidFill>
                <a:latin typeface="Arial"/>
              </a:rPr>
              <a:t>Legitimate sales refused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33506B"/>
                </a:solidFill>
                <a:latin typeface="Arial"/>
              </a:rPr>
              <a:t>A hard cap has no way to ask a human.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33506B"/>
                </a:solidFill>
                <a:latin typeface="Arial"/>
              </a:rPr>
              <a:t>It just says no — 27.8% of the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33506B"/>
                </a:solidFill>
                <a:latin typeface="Arial"/>
              </a:rPr>
              <a:t>time, in arm C of the simulation.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55592" y="3822192"/>
            <a:ext cx="3477768" cy="1700784"/>
          </a:xfrm>
          <a:prstGeom prst="roundRect">
            <a:avLst>
              <a:gd name="adj" fmla="val 4500"/>
            </a:avLst>
          </a:prstGeom>
          <a:solidFill>
            <a:srgbClr val="F4F7FA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4593336" y="4078224"/>
            <a:ext cx="566928" cy="54864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3336" y="4261104"/>
            <a:ext cx="3002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1B35"/>
                </a:solidFill>
                <a:latin typeface="Arial"/>
              </a:rPr>
              <a:t>Unauthorised agent spend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33506B"/>
                </a:solidFill>
                <a:latin typeface="Arial"/>
              </a:rPr>
              <a:t>A cap that lives in the agent is not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33506B"/>
                </a:solidFill>
                <a:latin typeface="Arial"/>
              </a:rPr>
              <a:t>run by a compromised agent.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33506B"/>
                </a:solidFill>
                <a:latin typeface="Arial"/>
              </a:rPr>
              <a:t>Arm C still lost ₹5,786 per 100.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52816" y="3822192"/>
            <a:ext cx="3477768" cy="1700784"/>
          </a:xfrm>
          <a:prstGeom prst="roundRect">
            <a:avLst>
              <a:gd name="adj" fmla="val 4500"/>
            </a:avLst>
          </a:prstGeom>
          <a:solidFill>
            <a:srgbClr val="F4F7FA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8290560" y="4078224"/>
            <a:ext cx="566928" cy="54864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90560" y="4261104"/>
            <a:ext cx="3002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1B35"/>
                </a:solidFill>
                <a:latin typeface="Arial"/>
              </a:rPr>
              <a:t>Every cross-sell is a guess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33506B"/>
                </a:solidFill>
                <a:latin typeface="Arial"/>
              </a:rPr>
              <a:t>So merchants do not make one.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33506B"/>
                </a:solidFill>
                <a:latin typeface="Arial"/>
              </a:rPr>
              <a:t>The safest upsell against an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33506B"/>
                </a:solidFill>
                <a:latin typeface="Arial"/>
              </a:rPr>
              <a:t>unreadable limit is none at all.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5797296"/>
            <a:ext cx="10872216" cy="47548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0">
                <a:solidFill>
                  <a:srgbClr val="64748B"/>
                </a:solidFill>
                <a:latin typeface="Arial"/>
              </a:rPr>
              <a:t>Arm C is a naive client-side cap with a naive upsell — the obvious build. eval/results/results.md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722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1">
                <a:solidFill>
                  <a:srgbClr val="64748B"/>
                </a:solidFill>
                <a:latin typeface="Arial"/>
              </a:rPr>
              <a:t>WHY THE OBVIOUS FIXES FAIL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221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800" b="1">
                <a:solidFill>
                  <a:srgbClr val="001B35"/>
                </a:solidFill>
                <a:latin typeface="Arial"/>
              </a:rPr>
              <a:t>Both halves of the usual answer are broken.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71600"/>
            <a:ext cx="10872216" cy="12700"/>
          </a:xfrm>
          <a:prstGeom prst="roundRect">
            <a:avLst>
              <a:gd name="adj" fmla="val 0"/>
            </a:avLst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391656"/>
            <a:ext cx="108722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50" b="0">
                <a:solidFill>
                  <a:srgbClr val="64748B"/>
                </a:solidFill>
                <a:latin typeface="Arial"/>
              </a:rPr>
              <a:t>PACT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72768"/>
            <a:ext cx="1087221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0">
                <a:solidFill>
                  <a:srgbClr val="33506B"/>
                </a:solidFill>
                <a:latin typeface="Arial"/>
              </a:rPr>
              <a:t>The two things a team reaches for first — a limit inside the agent, and authority checks bolted onto a merchant that still cannot see — fail in opposite directions.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94560"/>
            <a:ext cx="5289804" cy="2212848"/>
          </a:xfrm>
          <a:prstGeom prst="roundRect">
            <a:avLst>
              <a:gd name="adj" fmla="val 4500"/>
            </a:avLst>
          </a:prstGeom>
          <a:solidFill>
            <a:srgbClr val="F4F7FA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96112" y="2450592"/>
            <a:ext cx="566928" cy="54864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633472"/>
            <a:ext cx="4814316" cy="1609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1B35"/>
                </a:solidFill>
                <a:latin typeface="Arial"/>
              </a:rPr>
              <a:t>A cap inside the agent</a:t>
            </a: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33506B"/>
                </a:solidFill>
                <a:latin typeface="Arial"/>
              </a:rPr>
              <a:t>It holds against the agent's own mistakes, and nothing else.</a:t>
            </a: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33506B"/>
                </a:solidFill>
                <a:latin typeface="Arial"/>
              </a:rPr>
              <a:t>A compromised agent simply does not run it — the control and the thing being controlled are the same process.</a:t>
            </a: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EF4444"/>
                </a:solidFill>
                <a:latin typeface="Arial"/>
              </a:rPr>
              <a:t>Arm C: ₹5,786.16 lost per 100 sessions, to attacks its cap was written to stop.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0780" y="2194560"/>
            <a:ext cx="5289804" cy="2212848"/>
          </a:xfrm>
          <a:prstGeom prst="roundRect">
            <a:avLst>
              <a:gd name="adj" fmla="val 4500"/>
            </a:avLst>
          </a:prstGeom>
          <a:solidFill>
            <a:srgbClr val="F4F7FA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6478524" y="2450592"/>
            <a:ext cx="566928" cy="54864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8524" y="2633472"/>
            <a:ext cx="4814316" cy="1609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1B35"/>
                </a:solidFill>
                <a:latin typeface="Arial"/>
              </a:rPr>
              <a:t>Checks bolted onto a blind merchant</a:t>
            </a: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33506B"/>
                </a:solidFill>
                <a:latin typeface="Arial"/>
              </a:rPr>
              <a:t>If the merchant cannot read authority before it offers, every check added afterwards can only subtract.</a:t>
            </a: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33506B"/>
                </a:solidFill>
                <a:latin typeface="Arial"/>
              </a:rPr>
              <a:t>It refuses sales it already made the customer want, and it never makes the one it could have.</a:t>
            </a: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EF4444"/>
                </a:solidFill>
                <a:latin typeface="Arial"/>
              </a:rPr>
              <a:t>Arm C: 27.8% false block rate — more than one refusal in four was a legitimate buyer.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626864"/>
            <a:ext cx="10872216" cy="1188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098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932688" y="4882896"/>
            <a:ext cx="566928" cy="54864"/>
          </a:xfrm>
          <a:prstGeom prst="roundRect">
            <a:avLst>
              <a:gd name="adj" fmla="val 50000"/>
            </a:avLst>
          </a:prstGeom>
          <a:solidFill>
            <a:srgbClr val="109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5065776"/>
            <a:ext cx="10323576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>
                <a:solidFill>
                  <a:srgbClr val="001B35"/>
                </a:solidFill>
                <a:latin typeface="Arial"/>
              </a:rPr>
              <a:t>What is left is the third option: move the control to the server, and read it forward.</a:t>
            </a: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33506B"/>
                </a:solidFill>
                <a:latin typeface="Arial"/>
              </a:rPr>
              <a:t>Authority is checked where the agent cannot reach it, and it is read before the offer is built rather than enforced after it is made. Arm D: 0.0% false block, ₹0 lost.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722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1">
                <a:solidFill>
                  <a:srgbClr val="64748B"/>
                </a:solidFill>
                <a:latin typeface="Arial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221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800" b="1">
                <a:solidFill>
                  <a:srgbClr val="001B35"/>
                </a:solidFill>
                <a:latin typeface="Arial"/>
              </a:rPr>
              <a:t>Read the envelope first. Then make an offer that cannot fail.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71600"/>
            <a:ext cx="10872216" cy="12700"/>
          </a:xfrm>
          <a:prstGeom prst="roundRect">
            <a:avLst>
              <a:gd name="adj" fmla="val 0"/>
            </a:avLst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391656"/>
            <a:ext cx="108722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50" b="0">
                <a:solidFill>
                  <a:srgbClr val="64748B"/>
                </a:solidFill>
                <a:latin typeface="Arial"/>
              </a:rPr>
              <a:t>PACT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72768"/>
            <a:ext cx="1087221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0">
                <a:solidFill>
                  <a:srgbClr val="33506B"/>
                </a:solidFill>
                <a:latin typeface="Arial"/>
              </a:rPr>
              <a:t>Five steps. The human signs once, on their own device, and the key never leaves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94560"/>
            <a:ext cx="2042769" cy="1975104"/>
          </a:xfrm>
          <a:prstGeom prst="roundRect">
            <a:avLst>
              <a:gd name="adj" fmla="val 4500"/>
            </a:avLst>
          </a:prstGeom>
          <a:solidFill>
            <a:srgbClr val="F4F7FA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41248" y="2395728"/>
            <a:ext cx="1677009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200" b="1">
                <a:solidFill>
                  <a:srgbClr val="1D6FC4"/>
                </a:solidFill>
                <a:latin typeface="Arial"/>
              </a:rPr>
              <a:t>1</a:t>
            </a:r>
          </a:p>
          <a:p>
            <a:pPr algn="l">
              <a:spcBef>
                <a:spcPts val="400"/>
              </a:spcBef>
            </a:pPr>
            <a:r>
              <a:rPr sz="1250" b="1">
                <a:solidFill>
                  <a:srgbClr val="001B35"/>
                </a:solidFill>
                <a:latin typeface="Arial"/>
              </a:rPr>
              <a:t>Human signs</a:t>
            </a:r>
          </a:p>
          <a:p>
            <a:pPr algn="l">
              <a:spcBef>
                <a:spcPts val="600"/>
              </a:spcBef>
            </a:pPr>
            <a:r>
              <a:rPr sz="1000" b="0">
                <a:solidFill>
                  <a:srgbClr val="33506B"/>
                </a:solidFill>
                <a:latin typeface="Arial"/>
              </a:rPr>
              <a:t>A mandate signed in the browser. Ed25519, on the buyer's own device.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65729" y="2194560"/>
            <a:ext cx="2042769" cy="1975104"/>
          </a:xfrm>
          <a:prstGeom prst="roundRect">
            <a:avLst>
              <a:gd name="adj" fmla="val 4500"/>
            </a:avLst>
          </a:prstGeom>
          <a:solidFill>
            <a:srgbClr val="F4F7FA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048609" y="2395728"/>
            <a:ext cx="1677009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200" b="1">
                <a:solidFill>
                  <a:srgbClr val="1D6FC4"/>
                </a:solidFill>
                <a:latin typeface="Arial"/>
              </a:rPr>
              <a:t>2</a:t>
            </a:r>
          </a:p>
          <a:p>
            <a:pPr algn="l">
              <a:spcBef>
                <a:spcPts val="400"/>
              </a:spcBef>
            </a:pPr>
            <a:r>
              <a:rPr sz="1250" b="1">
                <a:solidFill>
                  <a:srgbClr val="001B35"/>
                </a:solidFill>
                <a:latin typeface="Arial"/>
              </a:rPr>
              <a:t>Agent carries</a:t>
            </a:r>
          </a:p>
          <a:p>
            <a:pPr algn="l">
              <a:spcBef>
                <a:spcPts val="600"/>
              </a:spcBef>
            </a:pPr>
            <a:r>
              <a:rPr sz="1000" b="0">
                <a:solidFill>
                  <a:srgbClr val="33506B"/>
                </a:solidFill>
                <a:latin typeface="Arial"/>
              </a:rPr>
              <a:t>The agent receives the signed mandate, and never the key.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73090" y="2194560"/>
            <a:ext cx="2042769" cy="1975104"/>
          </a:xfrm>
          <a:prstGeom prst="roundRect">
            <a:avLst>
              <a:gd name="adj" fmla="val 4500"/>
            </a:avLst>
          </a:prstGeom>
          <a:solidFill>
            <a:srgbClr val="F4F7FA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255970" y="2395728"/>
            <a:ext cx="1677009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200" b="1">
                <a:solidFill>
                  <a:srgbClr val="1D6FC4"/>
                </a:solidFill>
                <a:latin typeface="Arial"/>
              </a:rPr>
              <a:t>3</a:t>
            </a:r>
          </a:p>
          <a:p>
            <a:pPr algn="l">
              <a:spcBef>
                <a:spcPts val="400"/>
              </a:spcBef>
            </a:pPr>
            <a:r>
              <a:rPr sz="1250" b="1">
                <a:solidFill>
                  <a:srgbClr val="001B35"/>
                </a:solidFill>
                <a:latin typeface="Arial"/>
              </a:rPr>
              <a:t>Merchant reads</a:t>
            </a:r>
          </a:p>
          <a:p>
            <a:pPr algn="l">
              <a:spcBef>
                <a:spcPts val="600"/>
              </a:spcBef>
            </a:pPr>
            <a:r>
              <a:rPr sz="1000" b="0">
                <a:solidFill>
                  <a:srgbClr val="33506B"/>
                </a:solidFill>
                <a:latin typeface="Arial"/>
              </a:rPr>
              <a:t>Headroom before the quote: what is LEFT to spend, not what was granted.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80451" y="2194560"/>
            <a:ext cx="2042769" cy="1975104"/>
          </a:xfrm>
          <a:prstGeom prst="roundRect">
            <a:avLst>
              <a:gd name="adj" fmla="val 4500"/>
            </a:avLst>
          </a:prstGeom>
          <a:solidFill>
            <a:srgbClr val="F4F7FA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463331" y="2395728"/>
            <a:ext cx="1677009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200" b="1">
                <a:solidFill>
                  <a:srgbClr val="1D6FC4"/>
                </a:solidFill>
                <a:latin typeface="Arial"/>
              </a:rPr>
              <a:t>4</a:t>
            </a:r>
          </a:p>
          <a:p>
            <a:pPr algn="l">
              <a:spcBef>
                <a:spcPts val="400"/>
              </a:spcBef>
            </a:pPr>
            <a:r>
              <a:rPr sz="1250" b="1">
                <a:solidFill>
                  <a:srgbClr val="001B35"/>
                </a:solidFill>
                <a:latin typeface="Arial"/>
              </a:rPr>
              <a:t>Gate decides</a:t>
            </a:r>
          </a:p>
          <a:p>
            <a:pPr algn="l">
              <a:spcBef>
                <a:spcPts val="600"/>
              </a:spcBef>
            </a:pPr>
            <a:r>
              <a:rPr sz="1000" b="0">
                <a:solidFill>
                  <a:srgbClr val="33506B"/>
                </a:solidFill>
                <a:latin typeface="Arial"/>
              </a:rPr>
              <a:t>Ten checks on authority alone. ALLOW · STEP-UP · BLOCK.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87812" y="2194560"/>
            <a:ext cx="2042769" cy="1975104"/>
          </a:xfrm>
          <a:prstGeom prst="roundRect">
            <a:avLst>
              <a:gd name="adj" fmla="val 4500"/>
            </a:avLst>
          </a:prstGeom>
          <a:solidFill>
            <a:srgbClr val="F4F7FA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670692" y="2395728"/>
            <a:ext cx="1677009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200" b="1">
                <a:solidFill>
                  <a:srgbClr val="1D6FC4"/>
                </a:solidFill>
                <a:latin typeface="Arial"/>
              </a:rPr>
              <a:t>5</a:t>
            </a:r>
          </a:p>
          <a:p>
            <a:pPr algn="l">
              <a:spcBef>
                <a:spcPts val="400"/>
              </a:spcBef>
            </a:pPr>
            <a:r>
              <a:rPr sz="1250" b="1">
                <a:solidFill>
                  <a:srgbClr val="001B35"/>
                </a:solidFill>
                <a:latin typeface="Arial"/>
              </a:rPr>
              <a:t>Token settles</a:t>
            </a:r>
          </a:p>
          <a:p>
            <a:pPr algn="l">
              <a:spcBef>
                <a:spcPts val="600"/>
              </a:spcBef>
            </a:pPr>
            <a:r>
              <a:rPr sz="1000" b="0">
                <a:solidFill>
                  <a:srgbClr val="33506B"/>
                </a:solidFill>
                <a:latin typeface="Arial"/>
              </a:rPr>
              <a:t>A settlement token, redeemable exactly once, amount-bound to its quote.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389120"/>
            <a:ext cx="10872216" cy="129844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608576"/>
            <a:ext cx="1032357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1B35"/>
                </a:solidFill>
                <a:latin typeface="Arial"/>
              </a:rPr>
              <a:t>The consequence, and the whole commercial argument</a:t>
            </a: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33506B"/>
                </a:solidFill>
                <a:latin typeface="Arial"/>
              </a:rPr>
              <a:t>Because the merchant can see what is left, every offer it makes is one the gate will approve. The upsell is filtered against remaining authority before it is ever shown — which turns a spending limit from friction into a conversion instrument, instead of a thing that refuses customers at the end of a checkout.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722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1">
                <a:solidFill>
                  <a:srgbClr val="64748B"/>
                </a:solidFill>
                <a:latin typeface="Arial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221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800" b="1">
                <a:solidFill>
                  <a:srgbClr val="001B35"/>
                </a:solidFill>
                <a:latin typeface="Arial"/>
              </a:rPr>
              <a:t>Three planes, and one rule that keeps them honest.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71600"/>
            <a:ext cx="10872216" cy="12700"/>
          </a:xfrm>
          <a:prstGeom prst="roundRect">
            <a:avLst>
              <a:gd name="adj" fmla="val 0"/>
            </a:avLst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391656"/>
            <a:ext cx="108722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50" b="0">
                <a:solidFill>
                  <a:srgbClr val="64748B"/>
                </a:solidFill>
                <a:latin typeface="Arial"/>
              </a:rPr>
              <a:t>PACT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72768"/>
            <a:ext cx="1087221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0">
                <a:solidFill>
                  <a:srgbClr val="33506B"/>
                </a:solidFill>
                <a:latin typeface="Arial"/>
              </a:rPr>
              <a:t>The gate decides authority. A rail moves money. Neither knows the other exists.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94560"/>
            <a:ext cx="3477768" cy="2395728"/>
          </a:xfrm>
          <a:prstGeom prst="roundRect">
            <a:avLst>
              <a:gd name="adj" fmla="val 4500"/>
            </a:avLst>
          </a:prstGeom>
          <a:solidFill>
            <a:srgbClr val="F4F7FA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96112" y="2450592"/>
            <a:ext cx="566928" cy="54864"/>
          </a:xfrm>
          <a:prstGeom prst="roundRect">
            <a:avLst>
              <a:gd name="adj" fmla="val 50000"/>
            </a:avLst>
          </a:prstGeom>
          <a:solidFill>
            <a:srgbClr val="1D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633472"/>
            <a:ext cx="30022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>
                <a:solidFill>
                  <a:srgbClr val="001B35"/>
                </a:solidFill>
                <a:latin typeface="Arial"/>
              </a:rPr>
              <a:t>TRUST PLANE</a:t>
            </a:r>
          </a:p>
          <a:p>
            <a:pPr algn="l">
              <a:spcBef>
                <a:spcPts val="200"/>
              </a:spcBef>
            </a:pPr>
            <a:r>
              <a:rPr sz="1050" b="0">
                <a:solidFill>
                  <a:srgbClr val="64748B"/>
                </a:solidFill>
                <a:latin typeface="Courier New"/>
              </a:rPr>
              <a:t>core/</a:t>
            </a:r>
          </a:p>
          <a:p>
            <a:pPr algn="l">
              <a:spcBef>
                <a:spcPts val="700"/>
              </a:spcBef>
            </a:pPr>
            <a:r>
              <a:rPr sz="1050" b="0">
                <a:solidFill>
                  <a:srgbClr val="33506B"/>
                </a:solidFill>
                <a:latin typeface="Arial"/>
              </a:rPr>
              <a:t>Signed mandate (Ed25519 + JCS)</a:t>
            </a:r>
          </a:p>
          <a:p>
            <a:pPr algn="l">
              <a:spcBef>
                <a:spcPts val="700"/>
              </a:spcBef>
            </a:pPr>
            <a:r>
              <a:rPr sz="1050" b="0">
                <a:solidFill>
                  <a:srgbClr val="33506B"/>
                </a:solidFill>
                <a:latin typeface="Arial"/>
              </a:rPr>
              <a:t>Ten checks, short-circuiting</a:t>
            </a:r>
          </a:p>
          <a:p>
            <a:pPr algn="l">
              <a:spcBef>
                <a:spcPts val="700"/>
              </a:spcBef>
            </a:pPr>
            <a:r>
              <a:rPr sz="1050" b="0">
                <a:solidFill>
                  <a:srgbClr val="33506B"/>
                </a:solidFill>
                <a:latin typeface="Arial"/>
              </a:rPr>
              <a:t>Ledger and atomic reservations</a:t>
            </a:r>
          </a:p>
          <a:p>
            <a:pPr algn="l">
              <a:spcBef>
                <a:spcPts val="700"/>
              </a:spcBef>
            </a:pPr>
            <a:r>
              <a:rPr sz="1050" b="0">
                <a:solidFill>
                  <a:srgbClr val="33506B"/>
                </a:solidFill>
                <a:latin typeface="Arial"/>
              </a:rPr>
              <a:t>Append-only audit trail</a:t>
            </a:r>
          </a:p>
          <a:p>
            <a:pPr algn="l">
              <a:spcBef>
                <a:spcPts val="700"/>
              </a:spcBef>
            </a:pPr>
            <a:r>
              <a:rPr sz="1050" b="0">
                <a:solidFill>
                  <a:srgbClr val="33506B"/>
                </a:solidFill>
                <a:latin typeface="Arial"/>
              </a:rPr>
              <a:t>Compensating rollback saga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5592" y="2194560"/>
            <a:ext cx="3477768" cy="2395728"/>
          </a:xfrm>
          <a:prstGeom prst="roundRect">
            <a:avLst>
              <a:gd name="adj" fmla="val 4500"/>
            </a:avLst>
          </a:prstGeom>
          <a:solidFill>
            <a:srgbClr val="F4F7FA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4593336" y="2450592"/>
            <a:ext cx="566928" cy="54864"/>
          </a:xfrm>
          <a:prstGeom prst="roundRect">
            <a:avLst>
              <a:gd name="adj" fmla="val 50000"/>
            </a:avLst>
          </a:prstGeom>
          <a:solidFill>
            <a:srgbClr val="109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3336" y="2633472"/>
            <a:ext cx="30022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>
                <a:solidFill>
                  <a:srgbClr val="001B35"/>
                </a:solidFill>
                <a:latin typeface="Arial"/>
              </a:rPr>
              <a:t>GROWTH PLANE</a:t>
            </a:r>
          </a:p>
          <a:p>
            <a:pPr algn="l">
              <a:spcBef>
                <a:spcPts val="200"/>
              </a:spcBef>
            </a:pPr>
            <a:r>
              <a:rPr sz="1050" b="0">
                <a:solidFill>
                  <a:srgbClr val="64748B"/>
                </a:solidFill>
                <a:latin typeface="Courier New"/>
              </a:rPr>
              <a:t>merchant/</a:t>
            </a:r>
          </a:p>
          <a:p>
            <a:pPr algn="l">
              <a:spcBef>
                <a:spcPts val="700"/>
              </a:spcBef>
            </a:pPr>
            <a:r>
              <a:rPr sz="1050" b="0">
                <a:solidFill>
                  <a:srgbClr val="33506B"/>
                </a:solidFill>
                <a:latin typeface="Arial"/>
              </a:rPr>
              <a:t>Headroom-aware upsell</a:t>
            </a:r>
          </a:p>
          <a:p>
            <a:pPr algn="l">
              <a:spcBef>
                <a:spcPts val="700"/>
              </a:spcBef>
            </a:pPr>
            <a:r>
              <a:rPr sz="1050" b="0">
                <a:solidFill>
                  <a:srgbClr val="33506B"/>
                </a:solidFill>
                <a:latin typeface="Arial"/>
              </a:rPr>
              <a:t>Provably approvable offers</a:t>
            </a:r>
          </a:p>
          <a:p>
            <a:pPr algn="l">
              <a:spcBef>
                <a:spcPts val="700"/>
              </a:spcBef>
            </a:pPr>
            <a:r>
              <a:rPr sz="1050" b="0">
                <a:solidFill>
                  <a:srgbClr val="33506B"/>
                </a:solidFill>
                <a:latin typeface="Arial"/>
              </a:rPr>
              <a:t>Step-up recovery</a:t>
            </a:r>
          </a:p>
          <a:p>
            <a:pPr algn="l">
              <a:spcBef>
                <a:spcPts val="700"/>
              </a:spcBef>
            </a:pPr>
            <a:r>
              <a:rPr sz="1050" b="0">
                <a:solidFill>
                  <a:srgbClr val="33506B"/>
                </a:solidFill>
                <a:latin typeface="Arial"/>
              </a:rPr>
              <a:t>Alternative on stockout</a:t>
            </a:r>
          </a:p>
          <a:p>
            <a:pPr algn="l">
              <a:spcBef>
                <a:spcPts val="700"/>
              </a:spcBef>
            </a:pPr>
            <a:r>
              <a:rPr sz="1050" b="0">
                <a:solidFill>
                  <a:srgbClr val="33506B"/>
                </a:solidFill>
                <a:latin typeface="Arial"/>
              </a:rPr>
              <a:t>Attach measured, not assumed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2816" y="2194560"/>
            <a:ext cx="3477768" cy="2395728"/>
          </a:xfrm>
          <a:prstGeom prst="roundRect">
            <a:avLst>
              <a:gd name="adj" fmla="val 4500"/>
            </a:avLst>
          </a:prstGeom>
          <a:solidFill>
            <a:srgbClr val="F4F7FA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8290560" y="2450592"/>
            <a:ext cx="566928" cy="54864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0560" y="2633472"/>
            <a:ext cx="30022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>
                <a:solidFill>
                  <a:srgbClr val="001B35"/>
                </a:solidFill>
                <a:latin typeface="Arial"/>
              </a:rPr>
              <a:t>MERCHANT PLANE</a:t>
            </a:r>
          </a:p>
          <a:p>
            <a:pPr algn="l">
              <a:spcBef>
                <a:spcPts val="200"/>
              </a:spcBef>
            </a:pPr>
            <a:r>
              <a:rPr sz="1050" b="0">
                <a:solidFill>
                  <a:srgbClr val="64748B"/>
                </a:solidFill>
                <a:latin typeface="Courier New"/>
              </a:rPr>
              <a:t>merchant/ + console/</a:t>
            </a:r>
          </a:p>
          <a:p>
            <a:pPr algn="l">
              <a:spcBef>
                <a:spcPts val="700"/>
              </a:spcBef>
            </a:pPr>
            <a:r>
              <a:rPr sz="1050" b="0">
                <a:solidFill>
                  <a:srgbClr val="33506B"/>
                </a:solidFill>
                <a:latin typeface="Arial"/>
              </a:rPr>
              <a:t>Catalog and deterministic quotes</a:t>
            </a:r>
          </a:p>
          <a:p>
            <a:pPr algn="l">
              <a:spcBef>
                <a:spcPts val="700"/>
              </a:spcBef>
            </a:pPr>
            <a:r>
              <a:rPr sz="1050" b="0">
                <a:solidFill>
                  <a:srgbClr val="33506B"/>
                </a:solidFill>
                <a:latin typeface="Arial"/>
              </a:rPr>
              <a:t>Checkout and settlement</a:t>
            </a:r>
          </a:p>
          <a:p>
            <a:pPr algn="l">
              <a:spcBef>
                <a:spcPts val="700"/>
              </a:spcBef>
            </a:pPr>
            <a:r>
              <a:rPr sz="1050" b="0">
                <a:solidFill>
                  <a:srgbClr val="33506B"/>
                </a:solidFill>
                <a:latin typeface="Arial"/>
              </a:rPr>
              <a:t>MCP tools for agents</a:t>
            </a:r>
          </a:p>
          <a:p>
            <a:pPr algn="l">
              <a:spcBef>
                <a:spcPts val="700"/>
              </a:spcBef>
            </a:pPr>
            <a:r>
              <a:rPr sz="1050" b="0">
                <a:solidFill>
                  <a:srgbClr val="33506B"/>
                </a:solidFill>
                <a:latin typeface="Arial"/>
              </a:rPr>
              <a:t>Three console surfaces</a:t>
            </a:r>
          </a:p>
          <a:p>
            <a:pPr algn="l">
              <a:spcBef>
                <a:spcPts val="700"/>
              </a:spcBef>
            </a:pPr>
            <a:r>
              <a:rPr sz="1050" b="0">
                <a:solidFill>
                  <a:srgbClr val="33506B"/>
                </a:solidFill>
                <a:latin typeface="Arial"/>
              </a:rPr>
              <a:t>SSE live decision stream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809744"/>
            <a:ext cx="10872216" cy="113385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010912"/>
            <a:ext cx="1032357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>
                <a:solidFill>
                  <a:srgbClr val="001B35"/>
                </a:solidFill>
                <a:latin typeface="Arial"/>
              </a:rPr>
              <a:t>RAIL ADAPTER BOUNDARY   —   Razorpay (test keys only)  ·  mock UPI Circle (no keys needed)</a:t>
            </a: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33506B"/>
                </a:solidFill>
                <a:latin typeface="Arial"/>
              </a:rPr>
              <a:t>Nothing in core/ imports a rail. tests/test_invariants.py enforces it with an AST walk, and a second test closes the loophole: no executable line in core/ may even name a vendor. Swapping the rail is a config change, not a refactor.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722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1">
                <a:solidFill>
                  <a:srgbClr val="64748B"/>
                </a:solidFill>
                <a:latin typeface="Arial"/>
              </a:rPr>
              <a:t>THE MANDATE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221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800" b="1">
                <a:solidFill>
                  <a:srgbClr val="001B35"/>
                </a:solidFill>
                <a:latin typeface="Arial"/>
              </a:rPr>
              <a:t>A delegation the buyer signs, and the agent cannot forge.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71600"/>
            <a:ext cx="10872216" cy="12700"/>
          </a:xfrm>
          <a:prstGeom prst="roundRect">
            <a:avLst>
              <a:gd name="adj" fmla="val 0"/>
            </a:avLst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391656"/>
            <a:ext cx="108722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50" b="0">
                <a:solidFill>
                  <a:srgbClr val="64748B"/>
                </a:solidFill>
                <a:latin typeface="Arial"/>
              </a:rPr>
              <a:t>PACT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72768"/>
            <a:ext cx="1087221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0">
                <a:solidFill>
                  <a:srgbClr val="33506B"/>
                </a:solidFill>
                <a:latin typeface="Arial"/>
              </a:rPr>
              <a:t>The mandate is the root of every decision downstream. It is signed in the buyer's browser and verified on the server, byte for byte.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94560"/>
            <a:ext cx="5289804" cy="2340864"/>
          </a:xfrm>
          <a:prstGeom prst="roundRect">
            <a:avLst>
              <a:gd name="adj" fmla="val 4500"/>
            </a:avLst>
          </a:prstGeom>
          <a:solidFill>
            <a:srgbClr val="F4F7FA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96112" y="2450592"/>
            <a:ext cx="566928" cy="54864"/>
          </a:xfrm>
          <a:prstGeom prst="roundRect">
            <a:avLst>
              <a:gd name="adj" fmla="val 50000"/>
            </a:avLst>
          </a:prstGeom>
          <a:solidFill>
            <a:srgbClr val="1D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633472"/>
            <a:ext cx="4814316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1B35"/>
                </a:solidFill>
                <a:latin typeface="Arial"/>
              </a:rPr>
              <a:t>How it is signed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33506B"/>
                </a:solidFill>
                <a:latin typeface="Arial"/>
              </a:rPr>
              <a:t>Ed25519, generated and held in the buyer's own browser.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33506B"/>
                </a:solidFill>
                <a:latin typeface="Arial"/>
              </a:rPr>
              <a:t>RFC 8785 JCS canonicalisation, so the bytes the browser signs and the bytes the server verifies are identical — no field ordering or whitespace ambiguity.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33506B"/>
                </a:solidFill>
                <a:latin typeface="Arial"/>
              </a:rPr>
              <a:t>The console verifies browser/server signature parity at boot and shows it in the header, so a mismatch is visible before a demo, not during one.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109881"/>
                </a:solidFill>
                <a:latin typeface="Arial"/>
              </a:rPr>
              <a:t>The agent receives the signed mandate. It never receives the key.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0780" y="2194560"/>
            <a:ext cx="5289804" cy="2340864"/>
          </a:xfrm>
          <a:prstGeom prst="roundRect">
            <a:avLst>
              <a:gd name="adj" fmla="val 4500"/>
            </a:avLst>
          </a:prstGeom>
          <a:solidFill>
            <a:srgbClr val="F4F7FA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6478524" y="2450592"/>
            <a:ext cx="566928" cy="54864"/>
          </a:xfrm>
          <a:prstGeom prst="roundRect">
            <a:avLst>
              <a:gd name="adj" fmla="val 50000"/>
            </a:avLst>
          </a:prstGeom>
          <a:solidFill>
            <a:srgbClr val="109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8524" y="2633472"/>
            <a:ext cx="4814316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1B35"/>
                </a:solidFill>
                <a:latin typeface="Arial"/>
              </a:rPr>
              <a:t>What it grants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33506B"/>
                </a:solidFill>
                <a:latin typeface="Arial"/>
              </a:rPr>
              <a:t>A total budget, in paise.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33506B"/>
                </a:solidFill>
                <a:latin typeface="Arial"/>
              </a:rPr>
              <a:t>A per-transaction ceiling.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33506B"/>
                </a:solidFill>
                <a:latin typeface="Arial"/>
              </a:rPr>
              <a:t>A count of purchases allowed.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33506B"/>
                </a:solidFill>
                <a:latin typeface="Arial"/>
              </a:rPr>
              <a:t>A merchant allowlist and a category allowlist.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33506B"/>
                </a:solidFill>
                <a:latin typeface="Arial"/>
              </a:rPr>
              <a:t>A validity window, and a revocation state the buyer controls.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001B35"/>
                </a:solidFill>
                <a:latin typeface="Arial"/>
              </a:rPr>
              <a:t>Everything the gate later decides is derived from these fields and the ledger — never from anything the agent asserts.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797296"/>
            <a:ext cx="10872216" cy="47548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0">
                <a:solidFill>
                  <a:srgbClr val="64748B"/>
                </a:solidFill>
                <a:latin typeface="Arial"/>
              </a:rPr>
              <a:t>contracts/crypto.py · console signs with @noble/ed25519 · the demo's grant screen is step 1 of the walkthrough.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722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1">
                <a:solidFill>
                  <a:srgbClr val="64748B"/>
                </a:solidFill>
                <a:latin typeface="Arial"/>
              </a:rPr>
              <a:t>THE HEADROOM ENVELOPE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221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800" b="1">
                <a:solidFill>
                  <a:srgbClr val="001B35"/>
                </a:solidFill>
                <a:latin typeface="Arial"/>
              </a:rPr>
              <a:t>What the merchant is told, and what it is never told.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71600"/>
            <a:ext cx="10872216" cy="12700"/>
          </a:xfrm>
          <a:prstGeom prst="roundRect">
            <a:avLst>
              <a:gd name="adj" fmla="val 0"/>
            </a:avLst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391656"/>
            <a:ext cx="108722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50" b="0">
                <a:solidFill>
                  <a:srgbClr val="64748B"/>
                </a:solidFill>
                <a:latin typeface="Arial"/>
              </a:rPr>
              <a:t>PACT ·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72768"/>
            <a:ext cx="1087221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0">
                <a:solidFill>
                  <a:srgbClr val="33506B"/>
                </a:solidFill>
                <a:latin typeface="Arial"/>
              </a:rPr>
              <a:t>The envelope is deliberately thin. It answers one question — how much authority is left — and it is structurally incapable of answering any other.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94560"/>
            <a:ext cx="5289804" cy="2487168"/>
          </a:xfrm>
          <a:prstGeom prst="roundRect">
            <a:avLst>
              <a:gd name="adj" fmla="val 4500"/>
            </a:avLst>
          </a:prstGeom>
          <a:solidFill>
            <a:srgbClr val="F4F7FA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96112" y="2450592"/>
            <a:ext cx="566928" cy="54864"/>
          </a:xfrm>
          <a:prstGeom prst="roundRect">
            <a:avLst>
              <a:gd name="adj" fmla="val 50000"/>
            </a:avLst>
          </a:prstGeom>
          <a:solidFill>
            <a:srgbClr val="109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633472"/>
            <a:ext cx="4814316" cy="18836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1B35"/>
                </a:solidFill>
                <a:latin typeface="Arial"/>
              </a:rPr>
              <a:t>Disclosed</a:t>
            </a: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33506B"/>
                </a:solidFill>
                <a:latin typeface="Arial"/>
              </a:rPr>
              <a:t>headroom_paise — what is LEFT</a:t>
            </a: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33506B"/>
                </a:solidFill>
                <a:latin typeface="Arial"/>
              </a:rPr>
              <a:t>max_per_txn_paise</a:t>
            </a: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33506B"/>
                </a:solidFill>
                <a:latin typeface="Arial"/>
              </a:rPr>
              <a:t>payments_remaining</a:t>
            </a: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33506B"/>
                </a:solidFill>
                <a:latin typeface="Arial"/>
              </a:rPr>
              <a:t>categories_allowed</a:t>
            </a: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33506B"/>
                </a:solidFill>
                <a:latin typeface="Arial"/>
              </a:rPr>
              <a:t>merchant_in_scope</a:t>
            </a: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33506B"/>
                </a:solidFill>
                <a:latin typeface="Arial"/>
              </a:rPr>
              <a:t>valid_until · as_of · mandate_id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0780" y="2194560"/>
            <a:ext cx="5289804" cy="2487168"/>
          </a:xfrm>
          <a:prstGeom prst="roundRect">
            <a:avLst>
              <a:gd name="adj" fmla="val 4500"/>
            </a:avLst>
          </a:prstGeom>
          <a:solidFill>
            <a:srgbClr val="F4F7FA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6478524" y="2450592"/>
            <a:ext cx="566928" cy="54864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8524" y="2633472"/>
            <a:ext cx="4814316" cy="18836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1B35"/>
                </a:solidFill>
                <a:latin typeface="Arial"/>
              </a:rPr>
              <a:t>Absent, and must stay absent</a:t>
            </a: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33506B"/>
                </a:solidFill>
                <a:latin typeface="Arial"/>
              </a:rPr>
              <a:t>the delegator's identity</a:t>
            </a: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33506B"/>
                </a:solidFill>
                <a:latin typeface="Arial"/>
              </a:rPr>
              <a:t>the intent text</a:t>
            </a: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33506B"/>
                </a:solidFill>
                <a:latin typeface="Arial"/>
              </a:rPr>
              <a:t>the total budget</a:t>
            </a: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33506B"/>
                </a:solidFill>
                <a:latin typeface="Arial"/>
              </a:rPr>
              <a:t>the spend history</a:t>
            </a: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33506B"/>
                </a:solidFill>
                <a:latin typeface="Arial"/>
              </a:rPr>
              <a:t/>
            </a: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33506B"/>
                </a:solidFill>
                <a:latin typeface="Arial"/>
              </a:rPr>
              <a:t>test_headroom.py asserts the field set itself — not one instance's values — so a field added by accident fails the build.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901184"/>
            <a:ext cx="10872216" cy="10058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5102352"/>
            <a:ext cx="1032357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>
                <a:solidFill>
                  <a:srgbClr val="001B35"/>
                </a:solidFill>
                <a:latin typeface="Arial"/>
              </a:rPr>
              <a:t>Why "what is left" and not "what was granted"</a:t>
            </a: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33506B"/>
                </a:solidFill>
                <a:latin typeface="Arial"/>
              </a:rPr>
              <a:t>A merchant told "₹8,900 remaining" learns what it can sell. A merchant told "₹8,900 of ₹15,000" learns how rich the buyer is. The first is commercially useful; the second is a privacy leak with no upside, so the schema cannot express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722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1">
                <a:solidFill>
                  <a:srgbClr val="64748B"/>
                </a:solidFill>
                <a:latin typeface="Arial"/>
              </a:rPr>
              <a:t>THE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221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800" b="1">
                <a:solidFill>
                  <a:srgbClr val="001B35"/>
                </a:solidFill>
                <a:latin typeface="Arial"/>
              </a:rPr>
              <a:t>Ten checks, cheapest and most certain first.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71600"/>
            <a:ext cx="10872216" cy="12700"/>
          </a:xfrm>
          <a:prstGeom prst="roundRect">
            <a:avLst>
              <a:gd name="adj" fmla="val 0"/>
            </a:avLst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391656"/>
            <a:ext cx="108722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50" b="0">
                <a:solidFill>
                  <a:srgbClr val="64748B"/>
                </a:solidFill>
                <a:latin typeface="Arial"/>
              </a:rPr>
              <a:t>PACT ·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72768"/>
            <a:ext cx="1087221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0">
                <a:solidFill>
                  <a:srgbClr val="33506B"/>
                </a:solidFill>
                <a:latin typeface="Arial"/>
              </a:rPr>
              <a:t>Short-circuiting, each one timed, each a plain function of a context. The order is frozen in contracts/reason_codes.py and it is the design, not an implementation detail.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94560"/>
            <a:ext cx="5289804" cy="585216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41248" y="2331720"/>
            <a:ext cx="3840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1">
                <a:solidFill>
                  <a:srgbClr val="1D6FC4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2304288"/>
            <a:ext cx="45034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>
                <a:solidFill>
                  <a:srgbClr val="001B35"/>
                </a:solidFill>
                <a:latin typeface="Courier New"/>
              </a:rPr>
              <a:t>request_signature</a:t>
            </a:r>
          </a:p>
          <a:p>
            <a:pPr algn="l">
              <a:spcBef>
                <a:spcPts val="100"/>
              </a:spcBef>
            </a:pPr>
            <a:r>
              <a:rPr sz="950" b="0">
                <a:solidFill>
                  <a:srgbClr val="64748B"/>
                </a:solidFill>
                <a:latin typeface="Arial"/>
              </a:rPr>
              <a:t>Ed25519 by the delegate pubkey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871216"/>
            <a:ext cx="5289804" cy="5852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41248" y="3008376"/>
            <a:ext cx="3840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1">
                <a:solidFill>
                  <a:srgbClr val="1D6FC4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2980944"/>
            <a:ext cx="45034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>
                <a:solidFill>
                  <a:srgbClr val="001B35"/>
                </a:solidFill>
                <a:latin typeface="Courier New"/>
              </a:rPr>
              <a:t>mandate_signature</a:t>
            </a:r>
          </a:p>
          <a:p>
            <a:pPr algn="l">
              <a:spcBef>
                <a:spcPts val="100"/>
              </a:spcBef>
            </a:pPr>
            <a:r>
              <a:rPr sz="950" b="0">
                <a:solidFill>
                  <a:srgbClr val="64748B"/>
                </a:solidFill>
                <a:latin typeface="Arial"/>
              </a:rPr>
              <a:t>verified at registration, re-asserted here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547872"/>
            <a:ext cx="5289804" cy="585216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8" y="3685032"/>
            <a:ext cx="3840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1">
                <a:solidFill>
                  <a:srgbClr val="1D6FC4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3657600"/>
            <a:ext cx="45034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>
                <a:solidFill>
                  <a:srgbClr val="001B35"/>
                </a:solidFill>
                <a:latin typeface="Courier New"/>
              </a:rPr>
              <a:t>mandate_state</a:t>
            </a:r>
          </a:p>
          <a:p>
            <a:pPr algn="l">
              <a:spcBef>
                <a:spcPts val="100"/>
              </a:spcBef>
            </a:pPr>
            <a:r>
              <a:rPr sz="950" b="0">
                <a:solidFill>
                  <a:srgbClr val="64748B"/>
                </a:solidFill>
                <a:latin typeface="Arial"/>
              </a:rPr>
              <a:t>exists, and not revoked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224528"/>
            <a:ext cx="5289804" cy="5852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41248" y="4361688"/>
            <a:ext cx="3840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1">
                <a:solidFill>
                  <a:srgbClr val="1D6FC4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4334256"/>
            <a:ext cx="45034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>
                <a:solidFill>
                  <a:srgbClr val="001B35"/>
                </a:solidFill>
                <a:latin typeface="Courier New"/>
              </a:rPr>
              <a:t>validity_window</a:t>
            </a:r>
          </a:p>
          <a:p>
            <a:pPr algn="l">
              <a:spcBef>
                <a:spcPts val="100"/>
              </a:spcBef>
            </a:pPr>
            <a:r>
              <a:rPr sz="950" b="0">
                <a:solidFill>
                  <a:srgbClr val="64748B"/>
                </a:solidFill>
                <a:latin typeface="Arial"/>
              </a:rPr>
              <a:t>inside the window the buyer granted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901184"/>
            <a:ext cx="5289804" cy="585216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1248" y="5038344"/>
            <a:ext cx="3840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1">
                <a:solidFill>
                  <a:srgbClr val="1D6FC4"/>
                </a:solidFill>
                <a:latin typeface="Arial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1872" y="5010912"/>
            <a:ext cx="45034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>
                <a:solidFill>
                  <a:srgbClr val="001B35"/>
                </a:solidFill>
                <a:latin typeface="Courier New"/>
              </a:rPr>
              <a:t>freshness</a:t>
            </a:r>
          </a:p>
          <a:p>
            <a:pPr algn="l">
              <a:spcBef>
                <a:spcPts val="100"/>
              </a:spcBef>
            </a:pPr>
            <a:r>
              <a:rPr sz="950" b="0">
                <a:solidFill>
                  <a:srgbClr val="64748B"/>
                </a:solidFill>
                <a:latin typeface="Arial"/>
              </a:rPr>
              <a:t>within 60s of clock skew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2194560"/>
            <a:ext cx="5289804" cy="585216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23660" y="2331720"/>
            <a:ext cx="3840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1">
                <a:solidFill>
                  <a:srgbClr val="1D6FC4"/>
                </a:solidFill>
                <a:latin typeface="Arial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44284" y="2304288"/>
            <a:ext cx="45034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>
                <a:solidFill>
                  <a:srgbClr val="001B35"/>
                </a:solidFill>
                <a:latin typeface="Courier New"/>
              </a:rPr>
              <a:t>replay</a:t>
            </a:r>
          </a:p>
          <a:p>
            <a:pPr algn="l">
              <a:spcBef>
                <a:spcPts val="100"/>
              </a:spcBef>
            </a:pPr>
            <a:r>
              <a:rPr sz="950" b="0">
                <a:solidFill>
                  <a:srgbClr val="64748B"/>
                </a:solidFill>
                <a:latin typeface="Arial"/>
              </a:rPr>
              <a:t>nonce INSERT — the uniqueness violation IS the replay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40780" y="2871216"/>
            <a:ext cx="5289804" cy="5852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423660" y="3008376"/>
            <a:ext cx="3840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1">
                <a:solidFill>
                  <a:srgbClr val="1D6FC4"/>
                </a:solidFill>
                <a:latin typeface="Arial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44284" y="2980944"/>
            <a:ext cx="45034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>
                <a:solidFill>
                  <a:srgbClr val="001B35"/>
                </a:solidFill>
                <a:latin typeface="Courier New"/>
              </a:rPr>
              <a:t>scope</a:t>
            </a:r>
          </a:p>
          <a:p>
            <a:pPr algn="l">
              <a:spcBef>
                <a:spcPts val="100"/>
              </a:spcBef>
            </a:pPr>
            <a:r>
              <a:rPr sz="950" b="0">
                <a:solidFill>
                  <a:srgbClr val="64748B"/>
                </a:solidFill>
                <a:latin typeface="Arial"/>
              </a:rPr>
              <a:t>merchant allowlist and category allowlist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40780" y="3547872"/>
            <a:ext cx="5289804" cy="585216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423660" y="3685032"/>
            <a:ext cx="3840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1">
                <a:solidFill>
                  <a:srgbClr val="1D6FC4"/>
                </a:solidFill>
                <a:latin typeface="Arial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44284" y="3657600"/>
            <a:ext cx="45034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>
                <a:solidFill>
                  <a:srgbClr val="001B35"/>
                </a:solidFill>
                <a:latin typeface="Courier New"/>
              </a:rPr>
              <a:t>ceiling</a:t>
            </a:r>
          </a:p>
          <a:p>
            <a:pPr algn="l">
              <a:spcBef>
                <a:spcPts val="100"/>
              </a:spcBef>
            </a:pPr>
            <a:r>
              <a:rPr sz="950" b="0">
                <a:solidFill>
                  <a:srgbClr val="64748B"/>
                </a:solidFill>
                <a:latin typeface="Arial"/>
              </a:rPr>
              <a:t>atomic reservation, not a count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40780" y="4224528"/>
            <a:ext cx="5289804" cy="5852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23660" y="4361688"/>
            <a:ext cx="3840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1">
                <a:solidFill>
                  <a:srgbClr val="1D6FC4"/>
                </a:solidFill>
                <a:latin typeface="Arial"/>
              </a:rPr>
              <a:t>8b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44284" y="4334256"/>
            <a:ext cx="45034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>
                <a:solidFill>
                  <a:srgbClr val="001B35"/>
                </a:solidFill>
                <a:latin typeface="Courier New"/>
              </a:rPr>
              <a:t>quote_binding</a:t>
            </a:r>
          </a:p>
          <a:p>
            <a:pPr algn="l">
              <a:spcBef>
                <a:spcPts val="100"/>
              </a:spcBef>
            </a:pPr>
            <a:r>
              <a:rPr sz="950" b="0">
                <a:solidFill>
                  <a:srgbClr val="64748B"/>
                </a:solidFill>
                <a:latin typeface="Arial"/>
              </a:rPr>
              <a:t>the amount must equal the quote it references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40780" y="4901184"/>
            <a:ext cx="5289804" cy="585216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423660" y="5038344"/>
            <a:ext cx="3840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1">
                <a:solidFill>
                  <a:srgbClr val="1D6FC4"/>
                </a:solidFill>
                <a:latin typeface="Arial"/>
              </a:rPr>
              <a:t>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44284" y="5010912"/>
            <a:ext cx="45034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>
                <a:solidFill>
                  <a:srgbClr val="001B35"/>
                </a:solidFill>
                <a:latin typeface="Courier New"/>
              </a:rPr>
              <a:t>intent</a:t>
            </a:r>
          </a:p>
          <a:p>
            <a:pPr algn="l">
              <a:spcBef>
                <a:spcPts val="100"/>
              </a:spcBef>
            </a:pPr>
            <a:r>
              <a:rPr sz="950" b="0">
                <a:solidFill>
                  <a:srgbClr val="64748B"/>
                </a:solidFill>
                <a:latin typeface="Arial"/>
              </a:rPr>
              <a:t>the model auditor — last, because it is the only network call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5797296"/>
            <a:ext cx="10872216" cy="47548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0">
                <a:solidFill>
                  <a:srgbClr val="64748B"/>
                </a:solidFill>
                <a:latin typeface="Arial"/>
              </a:rPr>
              <a:t>Ten, in CHECK_ORDER, and the firewall drawer counts the same ten on screen. checks.py used to number quote_binding 8b and call them nine; the convention lost. Cheapest first means a forged signature costs one verify, not a network round trip.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722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1">
                <a:solidFill>
                  <a:srgbClr val="64748B"/>
                </a:solidFill>
                <a:latin typeface="Arial"/>
              </a:rPr>
              <a:t>VERDICTS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221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800" b="1">
                <a:solidFill>
                  <a:srgbClr val="001B35"/>
                </a:solidFill>
                <a:latin typeface="Arial"/>
              </a:rPr>
              <a:t>Fail closed, and refuse with a code.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71600"/>
            <a:ext cx="10872216" cy="12700"/>
          </a:xfrm>
          <a:prstGeom prst="roundRect">
            <a:avLst>
              <a:gd name="adj" fmla="val 0"/>
            </a:avLst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391656"/>
            <a:ext cx="108722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50" b="0">
                <a:solidFill>
                  <a:srgbClr val="64748B"/>
                </a:solidFill>
                <a:latin typeface="Arial"/>
              </a:rPr>
              <a:t>PACT ·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72768"/>
            <a:ext cx="1087221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0">
                <a:solidFill>
                  <a:srgbClr val="33506B"/>
                </a:solidFill>
                <a:latin typeface="Arial"/>
              </a:rPr>
              <a:t>Three verdicts, and a default that is not a special case: anything not explicitly allowed to ask a human, blocks.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94560"/>
            <a:ext cx="3477768" cy="1901952"/>
          </a:xfrm>
          <a:prstGeom prst="roundRect">
            <a:avLst>
              <a:gd name="adj" fmla="val 4500"/>
            </a:avLst>
          </a:prstGeom>
          <a:solidFill>
            <a:srgbClr val="F4F7FA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96112" y="2450592"/>
            <a:ext cx="566928" cy="54864"/>
          </a:xfrm>
          <a:prstGeom prst="roundRect">
            <a:avLst>
              <a:gd name="adj" fmla="val 50000"/>
            </a:avLst>
          </a:prstGeom>
          <a:solidFill>
            <a:srgbClr val="109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633472"/>
            <a:ext cx="3002280" cy="1298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1B35"/>
                </a:solidFill>
                <a:latin typeface="Arial"/>
              </a:rPr>
              <a:t>ALLOW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33506B"/>
                </a:solidFill>
                <a:latin typeface="Arial"/>
              </a:rPr>
              <a:t>All ten checks passed.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33506B"/>
                </a:solidFill>
                <a:latin typeface="Arial"/>
              </a:rPr>
              <a:t>A settlement token is issued, bound to the quote's amount and redeemable exactly once.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5592" y="2194560"/>
            <a:ext cx="3477768" cy="1901952"/>
          </a:xfrm>
          <a:prstGeom prst="roundRect">
            <a:avLst>
              <a:gd name="adj" fmla="val 4500"/>
            </a:avLst>
          </a:prstGeom>
          <a:solidFill>
            <a:srgbClr val="F4F7FA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4593336" y="2450592"/>
            <a:ext cx="566928" cy="54864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3336" y="2633472"/>
            <a:ext cx="3002280" cy="1298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1B35"/>
                </a:solidFill>
                <a:latin typeface="Arial"/>
              </a:rPr>
              <a:t>STEP_UP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33506B"/>
                </a:solidFill>
                <a:latin typeface="Arial"/>
              </a:rPr>
              <a:t>Exactly two codes: INTENT_MISMATCH and AUDITOR_UNAVAILABLE.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33506B"/>
                </a:solidFill>
                <a:latin typeface="Arial"/>
              </a:rPr>
              <a:t>A probabilistic signal must never block a legitimate sale outright — it asks the human instead.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2816" y="2194560"/>
            <a:ext cx="3477768" cy="1901952"/>
          </a:xfrm>
          <a:prstGeom prst="roundRect">
            <a:avLst>
              <a:gd name="adj" fmla="val 4500"/>
            </a:avLst>
          </a:prstGeom>
          <a:solidFill>
            <a:srgbClr val="F4F7FA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8290560" y="2450592"/>
            <a:ext cx="566928" cy="54864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0560" y="2633472"/>
            <a:ext cx="3002280" cy="1298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1B35"/>
                </a:solidFill>
                <a:latin typeface="Arial"/>
              </a:rPr>
              <a:t>BLOCK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33506B"/>
                </a:solidFill>
                <a:latin typeface="Arial"/>
              </a:rPr>
              <a:t>Everything else, including anything unexpected.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33506B"/>
                </a:solidFill>
                <a:latin typeface="Arial"/>
              </a:rPr>
              <a:t>Fail closed is the default path, not an error handler bolted on the side.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315968"/>
            <a:ext cx="108722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>
                <a:solidFill>
                  <a:srgbClr val="001B35"/>
                </a:solidFill>
                <a:latin typeface="Arial"/>
              </a:rPr>
              <a:t>Refusals are typed, so an agent can act on them rather than parse prose: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736592"/>
            <a:ext cx="2608326" cy="3108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86384" y="4800600"/>
            <a:ext cx="235229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33506B"/>
                </a:solidFill>
                <a:latin typeface="Courier New"/>
              </a:rPr>
              <a:t>CEILING_PER_TXN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12998" y="4736592"/>
            <a:ext cx="2608326" cy="3108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541014" y="4800600"/>
            <a:ext cx="235229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33506B"/>
                </a:solidFill>
                <a:latin typeface="Courier New"/>
              </a:rPr>
              <a:t>CEILING_TOTAL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7628" y="4736592"/>
            <a:ext cx="2608326" cy="3108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295644" y="4800600"/>
            <a:ext cx="235229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33506B"/>
                </a:solidFill>
                <a:latin typeface="Courier New"/>
              </a:rPr>
              <a:t>CEILING_COUNT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22258" y="4736592"/>
            <a:ext cx="2608326" cy="3108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050274" y="4800600"/>
            <a:ext cx="235229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33506B"/>
                </a:solidFill>
                <a:latin typeface="Courier New"/>
              </a:rPr>
              <a:t>NONCE_REPLAY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120640"/>
            <a:ext cx="2608326" cy="3108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86384" y="5184648"/>
            <a:ext cx="235229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33506B"/>
                </a:solidFill>
                <a:latin typeface="Courier New"/>
              </a:rPr>
              <a:t>SCOPE_MERCHANT_NOT_ALLOWED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12998" y="5120640"/>
            <a:ext cx="2608326" cy="3108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3541014" y="5184648"/>
            <a:ext cx="235229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33506B"/>
                </a:solidFill>
                <a:latin typeface="Courier New"/>
              </a:rPr>
              <a:t>SCOPE_CATEGORY_MISMATCH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67628" y="5120640"/>
            <a:ext cx="2608326" cy="3108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295644" y="5184648"/>
            <a:ext cx="235229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33506B"/>
                </a:solidFill>
                <a:latin typeface="Courier New"/>
              </a:rPr>
              <a:t>QUOTE_AMOUNT_MISMATCH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22258" y="5120640"/>
            <a:ext cx="2608326" cy="3108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9050274" y="5184648"/>
            <a:ext cx="235229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33506B"/>
                </a:solidFill>
                <a:latin typeface="Courier New"/>
              </a:rPr>
              <a:t>REQUEST_SIG_INVALID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504688"/>
            <a:ext cx="2608326" cy="3108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86384" y="5568696"/>
            <a:ext cx="235229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33506B"/>
                </a:solidFill>
                <a:latin typeface="Courier New"/>
              </a:rPr>
              <a:t>MANDATE_EXPIRED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12998" y="5504688"/>
            <a:ext cx="2608326" cy="3108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3541014" y="5568696"/>
            <a:ext cx="235229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33506B"/>
                </a:solidFill>
                <a:latin typeface="Courier New"/>
              </a:rPr>
              <a:t>MANDATE_REVOKED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67628" y="5504688"/>
            <a:ext cx="2608326" cy="3108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295644" y="5568696"/>
            <a:ext cx="235229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33506B"/>
                </a:solidFill>
                <a:latin typeface="Courier New"/>
              </a:rPr>
              <a:t>INTENT_INJECTION_SUSPECTED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22258" y="5504688"/>
            <a:ext cx="2608326" cy="3108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050274" y="5568696"/>
            <a:ext cx="235229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900" b="0">
                <a:solidFill>
                  <a:srgbClr val="33506B"/>
                </a:solidFill>
                <a:latin typeface="Courier New"/>
              </a:rPr>
              <a:t>TOKEN_ALREADY_USED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722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1">
                <a:solidFill>
                  <a:srgbClr val="64748B"/>
                </a:solidFill>
                <a:latin typeface="Arial"/>
              </a:rPr>
              <a:t>THE LEDGER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221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800" b="1">
                <a:solidFill>
                  <a:srgbClr val="001B35"/>
                </a:solidFill>
                <a:latin typeface="Arial"/>
              </a:rPr>
              <a:t>A ceiling is reserved, not counted.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71600"/>
            <a:ext cx="10872216" cy="12700"/>
          </a:xfrm>
          <a:prstGeom prst="roundRect">
            <a:avLst>
              <a:gd name="adj" fmla="val 0"/>
            </a:avLst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391656"/>
            <a:ext cx="108722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50" b="0">
                <a:solidFill>
                  <a:srgbClr val="64748B"/>
                </a:solidFill>
                <a:latin typeface="Arial"/>
              </a:rPr>
              <a:t>PACT ·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72768"/>
            <a:ext cx="1087221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0">
                <a:solidFill>
                  <a:srgbClr val="33506B"/>
                </a:solidFill>
                <a:latin typeface="Arial"/>
              </a:rPr>
              <a:t>The difference sounds like a detail and is the whole correctness argument. Counting spend and then writing the row is a race; reserving inside the write is not.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94560"/>
            <a:ext cx="5289804" cy="2103120"/>
          </a:xfrm>
          <a:prstGeom prst="roundRect">
            <a:avLst>
              <a:gd name="adj" fmla="val 4500"/>
            </a:avLst>
          </a:prstGeom>
          <a:solidFill>
            <a:srgbClr val="F4F7FA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96112" y="2450592"/>
            <a:ext cx="566928" cy="54864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633472"/>
            <a:ext cx="4814316" cy="1499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1B35"/>
                </a:solidFill>
                <a:latin typeface="Arial"/>
              </a:rPr>
              <a:t>Naive — count, then write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33506B"/>
                </a:solidFill>
                <a:latin typeface="Arial"/>
              </a:rPr>
              <a:t>Read the spend so far.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33506B"/>
                </a:solidFill>
                <a:latin typeface="Arial"/>
              </a:rPr>
              <a:t>Compare it against the ceiling.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33506B"/>
                </a:solidFill>
                <a:latin typeface="Arial"/>
              </a:rPr>
              <a:t>Write the new row.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EF4444"/>
                </a:solidFill>
                <a:latin typeface="Arial"/>
              </a:rPr>
              <a:t>Two concurrent requests both read the old total, both pass, and both write. The cap is exceeded and nothing in the code is wrong on its own line.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0780" y="2194560"/>
            <a:ext cx="5289804" cy="2103120"/>
          </a:xfrm>
          <a:prstGeom prst="roundRect">
            <a:avLst>
              <a:gd name="adj" fmla="val 4500"/>
            </a:avLst>
          </a:prstGeom>
          <a:solidFill>
            <a:srgbClr val="F4F7FA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6478524" y="2450592"/>
            <a:ext cx="566928" cy="54864"/>
          </a:xfrm>
          <a:prstGeom prst="roundRect">
            <a:avLst>
              <a:gd name="adj" fmla="val 50000"/>
            </a:avLst>
          </a:prstGeom>
          <a:solidFill>
            <a:srgbClr val="109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8524" y="2633472"/>
            <a:ext cx="4814316" cy="1499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1B35"/>
                </a:solidFill>
                <a:latin typeface="Arial"/>
              </a:rPr>
              <a:t>PACT — reserve inside the write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33506B"/>
                </a:solidFill>
                <a:latin typeface="Arial"/>
              </a:rPr>
              <a:t>BEGIN IMMEDIATE takes the write lock up front.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33506B"/>
                </a:solidFill>
                <a:latin typeface="Arial"/>
              </a:rPr>
              <a:t>The reservation and the ceiling test are the same transaction.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33506B"/>
                </a:solidFill>
                <a:latin typeface="Arial"/>
              </a:rPr>
              <a:t>SQLite in WAL mode; a contended write is a 503 the caller can retry.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109881"/>
                </a:solidFill>
                <a:latin typeface="Arial"/>
              </a:rPr>
              <a:t>atk_03 concurrent slicing: BLOCK CEILING_TOTAL. The cap is never exceeded, under load, in the test suite.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517136"/>
            <a:ext cx="10872216" cy="1133856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718304"/>
            <a:ext cx="1032357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>
                <a:solidFill>
                  <a:srgbClr val="001B35"/>
                </a:solidFill>
                <a:latin typeface="Arial"/>
              </a:rPr>
              <a:t>The comparison is kept in the tree, not just described</a:t>
            </a: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33506B"/>
                </a:solidFill>
                <a:latin typeface="Arial"/>
              </a:rPr>
              <a:t>Both implementations ship, and a test drives them concurrently: the naive one exceeds the ceiling and the atomic one does not. It is cheaper to keep the wrong version and prove it wrong than to ask a reviewer to take the right one on trust. Two hours of soak settled 49,501 orders whose total agrees with the harness to the paise.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722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1">
                <a:solidFill>
                  <a:srgbClr val="64748B"/>
                </a:solidFill>
                <a:latin typeface="Arial"/>
              </a:rPr>
              <a:t>WHEN IT GOES WRONG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221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800" b="1">
                <a:solidFill>
                  <a:srgbClr val="001B35"/>
                </a:solidFill>
                <a:latin typeface="Arial"/>
              </a:rPr>
              <a:t>The failure path is the product, too.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71600"/>
            <a:ext cx="10872216" cy="12700"/>
          </a:xfrm>
          <a:prstGeom prst="roundRect">
            <a:avLst>
              <a:gd name="adj" fmla="val 0"/>
            </a:avLst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391656"/>
            <a:ext cx="108722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50" b="0">
                <a:solidFill>
                  <a:srgbClr val="64748B"/>
                </a:solidFill>
                <a:latin typeface="Arial"/>
              </a:rPr>
              <a:t>PACT ·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72768"/>
            <a:ext cx="1087221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0">
                <a:solidFill>
                  <a:srgbClr val="33506B"/>
                </a:solidFill>
                <a:latin typeface="Arial"/>
              </a:rPr>
              <a:t>Payment captured, then the warehouse says the item is gone. Every forward step has exactly one compensating action, and compensations run in reverse.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94560"/>
            <a:ext cx="1705356" cy="658368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2340864"/>
            <a:ext cx="310896" cy="45720"/>
          </a:xfrm>
          <a:prstGeom prst="roundRect">
            <a:avLst>
              <a:gd name="adj" fmla="val 50000"/>
            </a:avLst>
          </a:prstGeom>
          <a:solidFill>
            <a:srgbClr val="1D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487168"/>
            <a:ext cx="14127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850" b="1">
                <a:solidFill>
                  <a:srgbClr val="001B35"/>
                </a:solidFill>
                <a:latin typeface="Courier New"/>
              </a:rPr>
              <a:t>PAYMENT_CAPTURED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91740" y="2194560"/>
            <a:ext cx="1705356" cy="658368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2638044" y="2340864"/>
            <a:ext cx="310896" cy="4572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38044" y="2487168"/>
            <a:ext cx="14127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850" b="1">
                <a:solidFill>
                  <a:srgbClr val="001B35"/>
                </a:solidFill>
                <a:latin typeface="Courier New"/>
              </a:rPr>
              <a:t>ROLLING_BACK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5112" y="2194560"/>
            <a:ext cx="1705356" cy="658368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4471416" y="2340864"/>
            <a:ext cx="310896" cy="4572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71416" y="2487168"/>
            <a:ext cx="14127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850" b="1">
                <a:solidFill>
                  <a:srgbClr val="001B35"/>
                </a:solidFill>
                <a:latin typeface="Courier New"/>
              </a:rPr>
              <a:t>REFUND_ISSUED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58484" y="2194560"/>
            <a:ext cx="1705356" cy="658368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6304788" y="2340864"/>
            <a:ext cx="310896" cy="4572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4788" y="2487168"/>
            <a:ext cx="14127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850" b="1">
                <a:solidFill>
                  <a:srgbClr val="001B35"/>
                </a:solidFill>
                <a:latin typeface="Courier New"/>
              </a:rPr>
              <a:t>BUDGET_RELEASED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91856" y="2194560"/>
            <a:ext cx="1705356" cy="658368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138160" y="2340864"/>
            <a:ext cx="310896" cy="4572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2487168"/>
            <a:ext cx="14127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850" b="1">
                <a:solidFill>
                  <a:srgbClr val="001B35"/>
                </a:solidFill>
                <a:latin typeface="Courier New"/>
              </a:rPr>
              <a:t>ROLLED_BACK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25228" y="2194560"/>
            <a:ext cx="1705356" cy="658368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9971532" y="2340864"/>
            <a:ext cx="310896" cy="45720"/>
          </a:xfrm>
          <a:prstGeom prst="roundRect">
            <a:avLst>
              <a:gd name="adj" fmla="val 50000"/>
            </a:avLst>
          </a:prstGeom>
          <a:solidFill>
            <a:srgbClr val="109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71532" y="2487168"/>
            <a:ext cx="14127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850" b="1">
                <a:solidFill>
                  <a:srgbClr val="001B35"/>
                </a:solidFill>
                <a:latin typeface="Courier New"/>
              </a:rPr>
              <a:t>RECOVERED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072384"/>
            <a:ext cx="5289804" cy="2304288"/>
          </a:xfrm>
          <a:prstGeom prst="roundRect">
            <a:avLst>
              <a:gd name="adj" fmla="val 4500"/>
            </a:avLst>
          </a:prstGeom>
          <a:solidFill>
            <a:srgbClr val="F4F7FA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896112" y="3328416"/>
            <a:ext cx="566928" cy="54864"/>
          </a:xfrm>
          <a:prstGeom prst="roundRect">
            <a:avLst>
              <a:gd name="adj" fmla="val 50000"/>
            </a:avLst>
          </a:prstGeom>
          <a:solidFill>
            <a:srgbClr val="109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3511296"/>
            <a:ext cx="4814316" cy="1700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1B35"/>
                </a:solidFill>
                <a:latin typeface="Arial"/>
              </a:rPr>
              <a:t>The budget is released, not just refunded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33506B"/>
                </a:solidFill>
                <a:latin typeface="Arial"/>
              </a:rPr>
              <a:t>A refund that returns the money but leaves the reservation standing has quietly spent the buyer's authority on nothing.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33506B"/>
                </a:solidFill>
                <a:latin typeface="Arial"/>
              </a:rPr>
              <a:t>So the compensation releases the ledger reservation as its own persisted, idempotent step.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40780" y="3072384"/>
            <a:ext cx="5289804" cy="2304288"/>
          </a:xfrm>
          <a:prstGeom prst="roundRect">
            <a:avLst>
              <a:gd name="adj" fmla="val 4500"/>
            </a:avLst>
          </a:prstGeom>
          <a:solidFill>
            <a:srgbClr val="F4F7FA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78524" y="3328416"/>
            <a:ext cx="566928" cy="54864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78524" y="3511296"/>
            <a:ext cx="4814316" cy="1700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1B35"/>
                </a:solidFill>
                <a:latin typeface="Arial"/>
              </a:rPr>
              <a:t>And when the refund itself fails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33506B"/>
                </a:solidFill>
                <a:latin typeface="Arial"/>
              </a:rPr>
              <a:t>Three retries with backoff, and then the order parks in NEEDS_ATTENTION and is raised in the console.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001B35"/>
                </a:solidFill>
                <a:latin typeface="Arial"/>
              </a:rPr>
              <a:t>A failed refund is never silently swallowed. Answering "what if the compensation fails" is worth more than the happy path working.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5797296"/>
            <a:ext cx="10872216" cy="47548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0">
                <a:solidFill>
                  <a:srgbClr val="64748B"/>
                </a:solidFill>
                <a:latin typeface="Arial"/>
              </a:rPr>
              <a:t>RECOVERED is the growth claim: after a rollback the merchant offers the nearest in-stock alternative inside remaining headroom, and the buyer signs for it. A failure becomes revenue instead of a loss. merchant/saga.py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722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1">
                <a:solidFill>
                  <a:srgbClr val="64748B"/>
                </a:solidFill>
                <a:latin typeface="Arial"/>
              </a:rPr>
              <a:t>THE EXPERIMENT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221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800" b="1">
                <a:solidFill>
                  <a:srgbClr val="001B35"/>
                </a:solidFill>
                <a:latin typeface="Arial"/>
              </a:rPr>
              <a:t>Four arms, 200 sessions each, three seeds.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71600"/>
            <a:ext cx="10872216" cy="12700"/>
          </a:xfrm>
          <a:prstGeom prst="roundRect">
            <a:avLst>
              <a:gd name="adj" fmla="val 0"/>
            </a:avLst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391656"/>
            <a:ext cx="108722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50" b="0">
                <a:solidFill>
                  <a:srgbClr val="64748B"/>
                </a:solidFill>
                <a:latin typeface="Arial"/>
              </a:rPr>
              <a:t>PACT ·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72768"/>
            <a:ext cx="1087221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0">
                <a:solidFill>
                  <a:srgbClr val="33506B"/>
                </a:solidFill>
                <a:latin typeface="Arial"/>
              </a:rPr>
              <a:t>A single run of a stochastic agent is not a result. The comparison that matters is C against D — both fully simulated, 8% of sessions adversarial in every arm.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2194560"/>
          <a:ext cx="10872216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3383280"/>
                <a:gridCol w="1737360"/>
                <a:gridCol w="1371600"/>
                <a:gridCol w="1691640"/>
                <a:gridCol w="1865376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Arm</a:t>
                      </a:r>
                    </a:p>
                  </a:txBody>
                  <a:tcPr marL="109728" marR="109728" marT="36576" marB="36576" anchor="ctr">
                    <a:solidFill>
                      <a:srgbClr val="001B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Configuration</a:t>
                      </a:r>
                    </a:p>
                  </a:txBody>
                  <a:tcPr marL="109728" marR="109728" marT="36576" marB="36576" anchor="ctr">
                    <a:solidFill>
                      <a:srgbClr val="001B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GMV / 100</a:t>
                      </a:r>
                    </a:p>
                  </a:txBody>
                  <a:tcPr marL="109728" marR="109728" marT="36576" marB="36576" anchor="ctr">
                    <a:solidFill>
                      <a:srgbClr val="001B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False block</a:t>
                      </a:r>
                    </a:p>
                  </a:txBody>
                  <a:tcPr marL="109728" marR="109728" marT="36576" marB="36576" anchor="ctr">
                    <a:solidFill>
                      <a:srgbClr val="001B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Losses / 100</a:t>
                      </a:r>
                    </a:p>
                  </a:txBody>
                  <a:tcPr marL="109728" marR="109728" marT="36576" marB="36576" anchor="ctr">
                    <a:solidFill>
                      <a:srgbClr val="001B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Net / 100</a:t>
                      </a:r>
                    </a:p>
                  </a:txBody>
                  <a:tcPr marL="109728" marR="109728" marT="36576" marB="36576" anchor="ctr">
                    <a:solidFill>
                      <a:srgbClr val="001B35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1B35"/>
                          </a:solidFill>
                          <a:latin typeface="Arial"/>
                        </a:rPr>
                        <a:t>A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506B"/>
                          </a:solidFill>
                          <a:latin typeface="Arial"/>
                        </a:rPr>
                        <a:t>no agent channel (modelled)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506B"/>
                          </a:solidFill>
                          <a:latin typeface="Arial"/>
                        </a:rPr>
                        <a:t>₹99,511.96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506B"/>
                          </a:solidFill>
                          <a:latin typeface="Arial"/>
                        </a:rPr>
                        <a:t>0.0%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506B"/>
                          </a:solidFill>
                          <a:latin typeface="Arial"/>
                        </a:rPr>
                        <a:t>₹0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506B"/>
                          </a:solidFill>
                          <a:latin typeface="Arial"/>
                        </a:rPr>
                        <a:t>₹99,511.96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1B35"/>
                          </a:solidFill>
                          <a:latin typeface="Arial"/>
                        </a:rPr>
                        <a:t>B</a:t>
                      </a:r>
                    </a:p>
                  </a:txBody>
                  <a:tcPr marL="109728" marR="109728" marT="36576" marB="36576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506B"/>
                          </a:solidFill>
                          <a:latin typeface="Arial"/>
                        </a:rPr>
                        <a:t>agent transactable, no checks</a:t>
                      </a:r>
                    </a:p>
                  </a:txBody>
                  <a:tcPr marL="109728" marR="109728" marT="36576" marB="36576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506B"/>
                          </a:solidFill>
                          <a:latin typeface="Arial"/>
                        </a:rPr>
                        <a:t>₹1,91,614.30</a:t>
                      </a:r>
                    </a:p>
                  </a:txBody>
                  <a:tcPr marL="109728" marR="109728" marT="36576" marB="36576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506B"/>
                          </a:solidFill>
                          <a:latin typeface="Arial"/>
                        </a:rPr>
                        <a:t>0.0%</a:t>
                      </a:r>
                    </a:p>
                  </a:txBody>
                  <a:tcPr marL="109728" marR="109728" marT="36576" marB="36576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506B"/>
                          </a:solidFill>
                          <a:latin typeface="Arial"/>
                        </a:rPr>
                        <a:t>₹20,430.59</a:t>
                      </a:r>
                    </a:p>
                  </a:txBody>
                  <a:tcPr marL="109728" marR="109728" marT="36576" marB="36576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506B"/>
                          </a:solidFill>
                          <a:latin typeface="Arial"/>
                        </a:rPr>
                        <a:t>₹1,71,183.71</a:t>
                      </a:r>
                    </a:p>
                  </a:txBody>
                  <a:tcPr marL="109728" marR="109728" marT="36576" marB="36576" anchor="ctr">
                    <a:solidFill>
                      <a:srgbClr val="F4F7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1B35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506B"/>
                          </a:solidFill>
                          <a:latin typeface="Arial"/>
                        </a:rPr>
                        <a:t>naive client-side cap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506B"/>
                          </a:solidFill>
                          <a:latin typeface="Arial"/>
                        </a:rPr>
                        <a:t>₹1,37,303.21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EF4444"/>
                          </a:solidFill>
                          <a:latin typeface="Arial"/>
                        </a:rPr>
                        <a:t>27.8%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506B"/>
                          </a:solidFill>
                          <a:latin typeface="Arial"/>
                        </a:rPr>
                        <a:t>₹5,786.16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3506B"/>
                          </a:solidFill>
                          <a:latin typeface="Arial"/>
                        </a:rPr>
                        <a:t>₹1,31,517.05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1B35"/>
                          </a:solidFill>
                          <a:latin typeface="Arial"/>
                        </a:rPr>
                        <a:t>D</a:t>
                      </a:r>
                    </a:p>
                  </a:txBody>
                  <a:tcPr marL="109728" marR="109728" marT="36576" marB="36576" anchor="ctr">
                    <a:solidFill>
                      <a:srgbClr val="E9F7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506B"/>
                          </a:solidFill>
                          <a:latin typeface="Arial"/>
                        </a:rPr>
                        <a:t>PACT: gate, headroom upsell</a:t>
                      </a:r>
                    </a:p>
                  </a:txBody>
                  <a:tcPr marL="109728" marR="109728" marT="36576" marB="36576" anchor="ctr">
                    <a:solidFill>
                      <a:srgbClr val="E9F7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33506B"/>
                          </a:solidFill>
                          <a:latin typeface="Arial"/>
                        </a:rPr>
                        <a:t>₹1,64,688.24</a:t>
                      </a:r>
                    </a:p>
                  </a:txBody>
                  <a:tcPr marL="109728" marR="109728" marT="36576" marB="36576" anchor="ctr">
                    <a:solidFill>
                      <a:srgbClr val="E9F7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09881"/>
                          </a:solidFill>
                          <a:latin typeface="Arial"/>
                        </a:rPr>
                        <a:t>0.0%</a:t>
                      </a:r>
                    </a:p>
                  </a:txBody>
                  <a:tcPr marL="109728" marR="109728" marT="36576" marB="36576" anchor="ctr">
                    <a:solidFill>
                      <a:srgbClr val="E9F7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09881"/>
                          </a:solidFill>
                          <a:latin typeface="Arial"/>
                        </a:rPr>
                        <a:t>₹0</a:t>
                      </a:r>
                    </a:p>
                  </a:txBody>
                  <a:tcPr marL="109728" marR="109728" marT="36576" marB="36576" anchor="ctr">
                    <a:solidFill>
                      <a:srgbClr val="E9F7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33506B"/>
                          </a:solidFill>
                          <a:latin typeface="Arial"/>
                        </a:rPr>
                        <a:t>₹1,64,688.24</a:t>
                      </a:r>
                    </a:p>
                  </a:txBody>
                  <a:tcPr marL="109728" marR="109728" marT="36576" marB="36576" anchor="ctr">
                    <a:solidFill>
                      <a:srgbClr val="E9F7F2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58368" y="4535424"/>
            <a:ext cx="10872216" cy="11155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736592"/>
            <a:ext cx="10323576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>
                <a:solidFill>
                  <a:srgbClr val="001B35"/>
                </a:solidFill>
                <a:latin typeface="Arial"/>
              </a:rPr>
              <a:t>Arm C is the row worth pausing on</a:t>
            </a: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33506B"/>
                </a:solidFill>
                <a:latin typeface="Arial"/>
              </a:rPr>
              <a:t>Its cap is real and it works — against the agent's own mistakes. But it lives in the agent, so a compromised agent does not run it, and it still lost ₹5,786 per 100 sessions while refusing 27.8% of legitimate buyers. A client-side control is not a control, and that difference has nothing to do with revenue.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722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1">
                <a:solidFill>
                  <a:srgbClr val="64748B"/>
                </a:solidFill>
                <a:latin typeface="Arial"/>
              </a:rPr>
              <a:t>THE HONEST NUMBER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221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800" b="1">
                <a:solidFill>
                  <a:srgbClr val="001B35"/>
                </a:solidFill>
                <a:latin typeface="Arial"/>
              </a:rPr>
              <a:t>Where the gate starts paying for itself.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71600"/>
            <a:ext cx="10872216" cy="12700"/>
          </a:xfrm>
          <a:prstGeom prst="roundRect">
            <a:avLst>
              <a:gd name="adj" fmla="val 0"/>
            </a:avLst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391656"/>
            <a:ext cx="108722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50" b="0">
                <a:solidFill>
                  <a:srgbClr val="64748B"/>
                </a:solidFill>
                <a:latin typeface="Arial"/>
              </a:rPr>
              <a:t>PACT ·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72768"/>
            <a:ext cx="1087221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0">
                <a:solidFill>
                  <a:srgbClr val="33506B"/>
                </a:solidFill>
                <a:latin typeface="Arial"/>
              </a:rPr>
              <a:t>Arm B converts more than arm D, because nothing stops it — including the things that should. So sweep the assumption rather than pick one that flatters us.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2194560"/>
          <a:ext cx="5340096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463040"/>
                <a:gridCol w="1463040"/>
                <a:gridCol w="859536"/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Adversarial rate</a:t>
                      </a:r>
                    </a:p>
                  </a:txBody>
                  <a:tcPr marL="91440" marR="91440" marT="18288" marB="18288" anchor="ctr">
                    <a:solidFill>
                      <a:srgbClr val="001B3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 net / 100</a:t>
                      </a:r>
                    </a:p>
                  </a:txBody>
                  <a:tcPr marL="91440" marR="91440" marT="18288" marB="18288" anchor="ctr">
                    <a:solidFill>
                      <a:srgbClr val="001B3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 net / 100</a:t>
                      </a:r>
                    </a:p>
                  </a:txBody>
                  <a:tcPr marL="91440" marR="91440" marT="18288" marB="18288" anchor="ctr">
                    <a:solidFill>
                      <a:srgbClr val="001B3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Better</a:t>
                      </a:r>
                    </a:p>
                  </a:txBody>
                  <a:tcPr marL="91440" marR="91440" marT="18288" marB="18288" anchor="ctr">
                    <a:solidFill>
                      <a:srgbClr val="001B3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506B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33506B"/>
                          </a:solidFill>
                          <a:latin typeface="Arial"/>
                        </a:rPr>
                        <a:t>₹3,18,214.16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33506B"/>
                          </a:solidFill>
                          <a:latin typeface="Arial"/>
                        </a:rPr>
                        <a:t>₹2,86,403.92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64748B"/>
                          </a:solidFill>
                          <a:latin typeface="Arial"/>
                        </a:rPr>
                        <a:t>B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506B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 marL="91440" marR="91440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33506B"/>
                          </a:solidFill>
                          <a:latin typeface="Arial"/>
                        </a:rPr>
                        <a:t>₹3,03,574.88</a:t>
                      </a:r>
                    </a:p>
                  </a:txBody>
                  <a:tcPr marL="91440" marR="91440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33506B"/>
                          </a:solidFill>
                          <a:latin typeface="Arial"/>
                        </a:rPr>
                        <a:t>₹2,86,403.92</a:t>
                      </a:r>
                    </a:p>
                  </a:txBody>
                  <a:tcPr marL="91440" marR="91440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64748B"/>
                          </a:solidFill>
                          <a:latin typeface="Arial"/>
                        </a:rPr>
                        <a:t>B</a:t>
                      </a:r>
                    </a:p>
                  </a:txBody>
                  <a:tcPr marL="91440" marR="91440" marT="18288" marB="18288" anchor="ctr">
                    <a:solidFill>
                      <a:srgbClr val="F4F7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506B"/>
                          </a:solidFill>
                          <a:latin typeface="Arial"/>
                        </a:rPr>
                        <a:t>20%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33506B"/>
                          </a:solidFill>
                          <a:latin typeface="Arial"/>
                        </a:rPr>
                        <a:t>₹2,81,976.68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33506B"/>
                          </a:solidFill>
                          <a:latin typeface="Arial"/>
                        </a:rPr>
                        <a:t>₹2,86,403.92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109881"/>
                          </a:solidFill>
                          <a:latin typeface="Arial"/>
                        </a:rPr>
                        <a:t>D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506B"/>
                          </a:solidFill>
                          <a:latin typeface="Arial"/>
                        </a:rPr>
                        <a:t>35%</a:t>
                      </a:r>
                    </a:p>
                  </a:txBody>
                  <a:tcPr marL="91440" marR="91440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33506B"/>
                          </a:solidFill>
                          <a:latin typeface="Arial"/>
                        </a:rPr>
                        <a:t>₹2,58,058.84</a:t>
                      </a:r>
                    </a:p>
                  </a:txBody>
                  <a:tcPr marL="91440" marR="91440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33506B"/>
                          </a:solidFill>
                          <a:latin typeface="Arial"/>
                        </a:rPr>
                        <a:t>₹2,86,403.92</a:t>
                      </a:r>
                    </a:p>
                  </a:txBody>
                  <a:tcPr marL="91440" marR="91440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109881"/>
                          </a:solidFill>
                          <a:latin typeface="Arial"/>
                        </a:rPr>
                        <a:t>D</a:t>
                      </a:r>
                    </a:p>
                  </a:txBody>
                  <a:tcPr marL="91440" marR="91440" marT="18288" marB="18288" anchor="ctr">
                    <a:solidFill>
                      <a:srgbClr val="F4F7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506B"/>
                          </a:solidFill>
                          <a:latin typeface="Arial"/>
                        </a:rPr>
                        <a:t>50%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33506B"/>
                          </a:solidFill>
                          <a:latin typeface="Arial"/>
                        </a:rPr>
                        <a:t>₹2,36,099.92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33506B"/>
                          </a:solidFill>
                          <a:latin typeface="Arial"/>
                        </a:rPr>
                        <a:t>₹2,86,403.92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109881"/>
                          </a:solidFill>
                          <a:latin typeface="Arial"/>
                        </a:rPr>
                        <a:t>D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259068" y="2194560"/>
            <a:ext cx="5271516" cy="2852928"/>
          </a:xfrm>
          <a:prstGeom prst="roundRect">
            <a:avLst>
              <a:gd name="adj" fmla="val 4500"/>
            </a:avLst>
          </a:prstGeom>
          <a:solidFill>
            <a:srgbClr val="F4F7FA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6496812" y="2450592"/>
            <a:ext cx="566928" cy="54864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6812" y="2633472"/>
            <a:ext cx="4796028" cy="2249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1B35"/>
                </a:solidFill>
                <a:latin typeface="Arial"/>
              </a:rPr>
              <a:t>What we will not claim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33506B"/>
                </a:solidFill>
                <a:latin typeface="Arial"/>
              </a:rPr>
              <a:t>Above roughly 20% adversarial traffic, PACT nets more than an ungated agent channel.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33506B"/>
                </a:solidFill>
                <a:latin typeface="Arial"/>
              </a:rPr>
              <a:t>Below it, an ungated channel nets more, and we are not going to claim a revenue win the measurement does not support.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001B35"/>
                </a:solidFill>
                <a:latin typeface="Arial"/>
              </a:rPr>
              <a:t>Below that line the argument is the 0.0% false block rate against a cap's 27.8%, the cost of handling disputes, and whether a merchant wants to be known for accepting unauthorised agent payments.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797296"/>
            <a:ext cx="10872216" cy="47548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0">
                <a:solidFill>
                  <a:srgbClr val="64748B"/>
                </a:solidFill>
                <a:latin typeface="Arial"/>
              </a:rPr>
              <a:t>The 8% adversarial rate used in the main table is an assumption, stated rather than buried, and swept across six points here. --hostile-rate reruns the whole thing with another one.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722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1">
                <a:solidFill>
                  <a:srgbClr val="64748B"/>
                </a:solidFill>
                <a:latin typeface="Arial"/>
              </a:rPr>
              <a:t>ADVERSARIAL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221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800" b="1">
                <a:solidFill>
                  <a:srgbClr val="001B35"/>
                </a:solidFill>
                <a:latin typeface="Arial"/>
              </a:rPr>
              <a:t>Thirteen of thirteen applicable variants blocked.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71600"/>
            <a:ext cx="10872216" cy="12700"/>
          </a:xfrm>
          <a:prstGeom prst="roundRect">
            <a:avLst>
              <a:gd name="adj" fmla="val 0"/>
            </a:avLst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391656"/>
            <a:ext cx="108722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50" b="0">
                <a:solidFill>
                  <a:srgbClr val="64748B"/>
                </a:solidFill>
                <a:latin typeface="Arial"/>
              </a:rPr>
              <a:t>PACT ·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72768"/>
            <a:ext cx="1087221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0">
                <a:solidFill>
                  <a:srgbClr val="33506B"/>
                </a:solidFill>
                <a:latin typeface="Arial"/>
              </a:rPr>
              <a:t>Eight attack families, each run against the live gate and each asserting a specific reason code — not merely that something was refused.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94560"/>
            <a:ext cx="5289804" cy="603504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22960" y="2450592"/>
            <a:ext cx="91440" cy="9144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2313432"/>
            <a:ext cx="21031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1">
                <a:solidFill>
                  <a:srgbClr val="001B35"/>
                </a:solidFill>
                <a:latin typeface="Arial"/>
              </a:rPr>
              <a:t>Prompt injection</a:t>
            </a:r>
          </a:p>
          <a:p>
            <a:pPr algn="l">
              <a:spcBef>
                <a:spcPts val="100"/>
              </a:spcBef>
            </a:pPr>
            <a:r>
              <a:rPr sz="850" b="0">
                <a:solidFill>
                  <a:srgbClr val="64748B"/>
                </a:solidFill>
                <a:latin typeface="Arial"/>
              </a:rPr>
              <a:t>verification deposit · role reassignment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18688" y="2414016"/>
            <a:ext cx="25466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850" b="0">
                <a:solidFill>
                  <a:srgbClr val="33506B"/>
                </a:solidFill>
                <a:latin typeface="Courier New"/>
              </a:rPr>
              <a:t>INTENT_INJECTION_SUSPECTED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0780" y="2194560"/>
            <a:ext cx="5289804" cy="603504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6405372" y="2450592"/>
            <a:ext cx="91440" cy="9144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4828" y="2313432"/>
            <a:ext cx="21031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1">
                <a:solidFill>
                  <a:srgbClr val="001B35"/>
                </a:solidFill>
                <a:latin typeface="Arial"/>
              </a:rPr>
              <a:t>Replay</a:t>
            </a:r>
          </a:p>
          <a:p>
            <a:pPr algn="l">
              <a:spcBef>
                <a:spcPts val="100"/>
              </a:spcBef>
            </a:pPr>
            <a:r>
              <a:rPr sz="850" b="0">
                <a:solidFill>
                  <a:srgbClr val="64748B"/>
                </a:solidFill>
                <a:latin typeface="Arial"/>
              </a:rPr>
              <a:t>a valid captured request, resubmitted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01100" y="2414016"/>
            <a:ext cx="25466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850" b="0">
                <a:solidFill>
                  <a:srgbClr val="33506B"/>
                </a:solidFill>
                <a:latin typeface="Courier New"/>
              </a:rPr>
              <a:t>NONCE_REPLAY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2907792"/>
            <a:ext cx="5289804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22960" y="3163824"/>
            <a:ext cx="91440" cy="9144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2416" y="3026664"/>
            <a:ext cx="21031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1">
                <a:solidFill>
                  <a:srgbClr val="001B35"/>
                </a:solidFill>
                <a:latin typeface="Arial"/>
              </a:rPr>
              <a:t>Slicing</a:t>
            </a:r>
          </a:p>
          <a:p>
            <a:pPr algn="l">
              <a:spcBef>
                <a:spcPts val="100"/>
              </a:spcBef>
            </a:pPr>
            <a:r>
              <a:rPr sz="850" b="0">
                <a:solidFill>
                  <a:srgbClr val="64748B"/>
                </a:solidFill>
                <a:latin typeface="Arial"/>
              </a:rPr>
              <a:t>sequential and concurrent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18688" y="3127248"/>
            <a:ext cx="25466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850" b="0">
                <a:solidFill>
                  <a:srgbClr val="33506B"/>
                </a:solidFill>
                <a:latin typeface="Courier New"/>
              </a:rPr>
              <a:t>CEILING_COUNT · CEILING_TOTAL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80" y="2907792"/>
            <a:ext cx="5289804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6405372" y="3163824"/>
            <a:ext cx="91440" cy="9144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4828" y="3026664"/>
            <a:ext cx="21031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1">
                <a:solidFill>
                  <a:srgbClr val="001B35"/>
                </a:solidFill>
                <a:latin typeface="Arial"/>
              </a:rPr>
              <a:t>Lookalike payee</a:t>
            </a:r>
          </a:p>
          <a:p>
            <a:pPr algn="l">
              <a:spcBef>
                <a:spcPts val="100"/>
              </a:spcBef>
            </a:pPr>
            <a:r>
              <a:rPr sz="850" b="0">
                <a:solidFill>
                  <a:srgbClr val="64748B"/>
                </a:solidFill>
                <a:latin typeface="Arial"/>
              </a:rPr>
              <a:t>razorpayy · xrazorpay · razorpay.com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1100" y="3127248"/>
            <a:ext cx="25466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850" b="0">
                <a:solidFill>
                  <a:srgbClr val="33506B"/>
                </a:solidFill>
                <a:latin typeface="Courier New"/>
              </a:rPr>
              <a:t>SCOPE_MERCHANT_NOT_ALLOWED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621024"/>
            <a:ext cx="5289804" cy="603504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822960" y="3877056"/>
            <a:ext cx="91440" cy="9144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2416" y="3739896"/>
            <a:ext cx="21031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1">
                <a:solidFill>
                  <a:srgbClr val="001B35"/>
                </a:solidFill>
                <a:latin typeface="Arial"/>
              </a:rPr>
              <a:t>Price hallucination</a:t>
            </a:r>
          </a:p>
          <a:p>
            <a:pPr algn="l">
              <a:spcBef>
                <a:spcPts val="100"/>
              </a:spcBef>
            </a:pPr>
            <a:r>
              <a:rPr sz="850" b="0">
                <a:solidFill>
                  <a:srgbClr val="64748B"/>
                </a:solidFill>
                <a:latin typeface="Arial"/>
              </a:rPr>
              <a:t>inflated · deflated · one paisa off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18688" y="3840480"/>
            <a:ext cx="25466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850" b="0">
                <a:solidFill>
                  <a:srgbClr val="33506B"/>
                </a:solidFill>
                <a:latin typeface="Courier New"/>
              </a:rPr>
              <a:t>QUOTE_AMOUNT_MISMATCH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40780" y="3621024"/>
            <a:ext cx="5289804" cy="603504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6405372" y="3877056"/>
            <a:ext cx="91440" cy="9144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4828" y="3739896"/>
            <a:ext cx="21031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1">
                <a:solidFill>
                  <a:srgbClr val="001B35"/>
                </a:solidFill>
                <a:latin typeface="Arial"/>
              </a:rPr>
              <a:t>Forged signature</a:t>
            </a:r>
          </a:p>
          <a:p>
            <a:pPr algn="l">
              <a:spcBef>
                <a:spcPts val="100"/>
              </a:spcBef>
            </a:pPr>
            <a:r>
              <a:rPr sz="850" b="0">
                <a:solidFill>
                  <a:srgbClr val="64748B"/>
                </a:solidFill>
                <a:latin typeface="Arial"/>
              </a:rPr>
              <a:t>wrong delegate key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01100" y="3840480"/>
            <a:ext cx="25466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850" b="0">
                <a:solidFill>
                  <a:srgbClr val="33506B"/>
                </a:solidFill>
                <a:latin typeface="Courier New"/>
              </a:rPr>
              <a:t>REQUEST_SIG_INVALID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334256"/>
            <a:ext cx="5289804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822960" y="4590288"/>
            <a:ext cx="91440" cy="9144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2416" y="4453128"/>
            <a:ext cx="21031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1">
                <a:solidFill>
                  <a:srgbClr val="001B35"/>
                </a:solidFill>
                <a:latin typeface="Arial"/>
              </a:rPr>
              <a:t>Expired mandate</a:t>
            </a:r>
          </a:p>
          <a:p>
            <a:pPr algn="l">
              <a:spcBef>
                <a:spcPts val="100"/>
              </a:spcBef>
            </a:pPr>
            <a:r>
              <a:rPr sz="850" b="0">
                <a:solidFill>
                  <a:srgbClr val="64748B"/>
                </a:solidFill>
                <a:latin typeface="Arial"/>
              </a:rPr>
              <a:t>outside the validity window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18688" y="4553712"/>
            <a:ext cx="25466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850" b="0">
                <a:solidFill>
                  <a:srgbClr val="33506B"/>
                </a:solidFill>
                <a:latin typeface="Courier New"/>
              </a:rPr>
              <a:t>MANDATE_EXPIRED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40780" y="4334256"/>
            <a:ext cx="5289804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6405372" y="4590288"/>
            <a:ext cx="91440" cy="9144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24828" y="4453128"/>
            <a:ext cx="21031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1">
                <a:solidFill>
                  <a:srgbClr val="001B35"/>
                </a:solidFill>
                <a:latin typeface="Arial"/>
              </a:rPr>
              <a:t>Auditor self-injection</a:t>
            </a:r>
          </a:p>
          <a:p>
            <a:pPr algn="l">
              <a:spcBef>
                <a:spcPts val="100"/>
              </a:spcBef>
            </a:pPr>
            <a:r>
              <a:rPr sz="850" b="0">
                <a:solidFill>
                  <a:srgbClr val="64748B"/>
                </a:solidFill>
                <a:latin typeface="Arial"/>
              </a:rPr>
              <a:t>reported N/A — see below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01100" y="4553712"/>
            <a:ext cx="25466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850" b="0">
                <a:solidFill>
                  <a:srgbClr val="33506B"/>
                </a:solidFill>
                <a:latin typeface="Courier New"/>
              </a:rPr>
              <a:t>INTENT_INJECTION_SUSPECTED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5797296"/>
            <a:ext cx="10872216" cy="47548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0">
                <a:solidFill>
                  <a:srgbClr val="64748B"/>
                </a:solidFill>
                <a:latin typeface="Arial"/>
              </a:rPr>
              <a:t>Two auditor self-injection variants report N/A rather than as a pass: the deterministic scan caught the string, but the attack targets a model auditor that was not running in this configuration. Counting them as wins would overstate the result. eval/results/results.md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722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1">
                <a:solidFill>
                  <a:srgbClr val="64748B"/>
                </a:solidFill>
                <a:latin typeface="Arial"/>
              </a:rPr>
              <a:t>WHAT IS VERIFIED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221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800" b="1">
                <a:solidFill>
                  <a:srgbClr val="001B35"/>
                </a:solidFill>
                <a:latin typeface="Arial"/>
              </a:rPr>
              <a:t>Measured, not asserted.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71600"/>
            <a:ext cx="10872216" cy="12700"/>
          </a:xfrm>
          <a:prstGeom prst="roundRect">
            <a:avLst>
              <a:gd name="adj" fmla="val 0"/>
            </a:avLst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391656"/>
            <a:ext cx="108722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50" b="0">
                <a:solidFill>
                  <a:srgbClr val="64748B"/>
                </a:solidFill>
                <a:latin typeface="Arial"/>
              </a:rPr>
              <a:t>PACT ·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72768"/>
            <a:ext cx="1087221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0">
                <a:solidFill>
                  <a:srgbClr val="33506B"/>
                </a:solidFill>
                <a:latin typeface="Arial"/>
              </a:rPr>
              <a:t>Two hours of steady load against one instance, watching the shape of the process rather than its speed — plus the suite that runs on every push.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94560"/>
            <a:ext cx="2553462" cy="10972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77824" y="2432304"/>
            <a:ext cx="566928" cy="54864"/>
          </a:xfrm>
          <a:prstGeom prst="roundRect">
            <a:avLst>
              <a:gd name="adj" fmla="val 50000"/>
            </a:avLst>
          </a:prstGeom>
          <a:solidFill>
            <a:srgbClr val="1D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615184"/>
            <a:ext cx="211455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300" b="1">
                <a:solidFill>
                  <a:srgbClr val="001B35"/>
                </a:solidFill>
                <a:latin typeface="Arial"/>
              </a:rPr>
              <a:t>268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64748B"/>
                </a:solidFill>
                <a:latin typeface="Arial"/>
              </a:rPr>
              <a:t>tests — 213 pytest, 55 vitest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31286" y="2194560"/>
            <a:ext cx="2553462" cy="10972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3650742" y="2432304"/>
            <a:ext cx="566928" cy="54864"/>
          </a:xfrm>
          <a:prstGeom prst="roundRect">
            <a:avLst>
              <a:gd name="adj" fmla="val 50000"/>
            </a:avLst>
          </a:prstGeom>
          <a:solidFill>
            <a:srgbClr val="109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0742" y="2615184"/>
            <a:ext cx="211455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300" b="1">
                <a:solidFill>
                  <a:srgbClr val="001B35"/>
                </a:solidFill>
                <a:latin typeface="Arial"/>
              </a:rPr>
              <a:t>49,501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64748B"/>
                </a:solidFill>
                <a:latin typeface="Arial"/>
              </a:rPr>
              <a:t>purchases in two hours, 6.9/s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4204" y="2194560"/>
            <a:ext cx="2553462" cy="10972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423660" y="2432304"/>
            <a:ext cx="566928" cy="54864"/>
          </a:xfrm>
          <a:prstGeom prst="roundRect">
            <a:avLst>
              <a:gd name="adj" fmla="val 50000"/>
            </a:avLst>
          </a:prstGeom>
          <a:solidFill>
            <a:srgbClr val="109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3660" y="2615184"/>
            <a:ext cx="211455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300" b="1">
                <a:solidFill>
                  <a:srgbClr val="001B35"/>
                </a:solidFill>
                <a:latin typeface="Arial"/>
              </a:rPr>
              <a:t>0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64748B"/>
                </a:solidFill>
                <a:latin typeface="Arial"/>
              </a:rPr>
              <a:t>transport or server errors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77122" y="2194560"/>
            <a:ext cx="2553462" cy="10972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9196578" y="2432304"/>
            <a:ext cx="566928" cy="54864"/>
          </a:xfrm>
          <a:prstGeom prst="roundRect">
            <a:avLst>
              <a:gd name="adj" fmla="val 50000"/>
            </a:avLst>
          </a:prstGeom>
          <a:solidFill>
            <a:srgbClr val="109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96578" y="2615184"/>
            <a:ext cx="211455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300" b="1">
                <a:solidFill>
                  <a:srgbClr val="001B35"/>
                </a:solidFill>
                <a:latin typeface="Arial"/>
              </a:rPr>
              <a:t>1.02×</a:t>
            </a:r>
          </a:p>
          <a:p>
            <a:pPr algn="l">
              <a:spcBef>
                <a:spcPts val="400"/>
              </a:spcBef>
            </a:pPr>
            <a:r>
              <a:rPr sz="1050" b="0">
                <a:solidFill>
                  <a:srgbClr val="64748B"/>
                </a:solidFill>
                <a:latin typeface="Arial"/>
              </a:rPr>
              <a:t>p50 latency drift, 66→67 ms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511296"/>
            <a:ext cx="5289804" cy="2048256"/>
          </a:xfrm>
          <a:prstGeom prst="roundRect">
            <a:avLst>
              <a:gd name="adj" fmla="val 4500"/>
            </a:avLst>
          </a:prstGeom>
          <a:solidFill>
            <a:srgbClr val="F4F7FA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96112" y="3767328"/>
            <a:ext cx="566928" cy="54864"/>
          </a:xfrm>
          <a:prstGeom prst="roundRect">
            <a:avLst>
              <a:gd name="adj" fmla="val 50000"/>
            </a:avLst>
          </a:prstGeom>
          <a:solidFill>
            <a:srgbClr val="1098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3950208"/>
            <a:ext cx="4814316" cy="1444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1B35"/>
                </a:solidFill>
                <a:latin typeface="Arial"/>
              </a:rPr>
              <a:t>What held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33506B"/>
                </a:solidFill>
                <a:latin typeface="Arial"/>
              </a:rPr>
              <a:t>593,961 SSE frames to one subscriber held open for two hours, with zero reconnects.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33506B"/>
                </a:solidFill>
                <a:latin typeface="Arial"/>
              </a:rPr>
              <a:t>File descriptors ended lower than they started. Threads flat at 27.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109881"/>
                </a:solidFill>
                <a:latin typeface="Arial"/>
              </a:rPr>
              <a:t>The ledger's 49,501 orders total ₹4,86,50,572.82 — agreeing with what the harness settled, to the paise.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0780" y="3511296"/>
            <a:ext cx="5289804" cy="2048256"/>
          </a:xfrm>
          <a:prstGeom prst="roundRect">
            <a:avLst>
              <a:gd name="adj" fmla="val 4500"/>
            </a:avLst>
          </a:prstGeom>
          <a:solidFill>
            <a:srgbClr val="F4F7FA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6478524" y="3767328"/>
            <a:ext cx="566928" cy="54864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78524" y="3950208"/>
            <a:ext cx="4814316" cy="1444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1B35"/>
                </a:solidFill>
                <a:latin typeface="Arial"/>
              </a:rPr>
              <a:t>What did not, and was fixed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33506B"/>
                </a:solidFill>
                <a:latin typeface="Arial"/>
              </a:rPr>
              <a:t>RSS climbed +21 MB/hour and did not flatten — a 512 MB machine reached in about 17 hours. A burst test cannot see this.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33506B"/>
                </a:solidFill>
                <a:latin typeface="Arial"/>
              </a:rPr>
              <a:t>Cause: the simulated rail was keeping every intent it ever created.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109881"/>
                </a:solidFill>
                <a:latin typeface="Arial"/>
              </a:rPr>
              <a:t>Fixed and confirmed on a run that crosses the fix while it is running: 620 bytes per purchase before, 7 after.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5797296"/>
            <a:ext cx="10872216" cy="47548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0">
                <a:solidFill>
                  <a:srgbClr val="64748B"/>
                </a:solidFill>
                <a:latin typeface="Arial"/>
              </a:rPr>
              <a:t>The soak table in docs/soak.md is left as it was measured on the day. It is the run that found the problem, and rewriting it would delete the evidence.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722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1">
                <a:solidFill>
                  <a:srgbClr val="64748B"/>
                </a:solidFill>
                <a:latin typeface="Arial"/>
              </a:rPr>
              <a:t>THE HONEST BOUNDARY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7221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800" b="1">
                <a:solidFill>
                  <a:srgbClr val="001B35"/>
                </a:solidFill>
                <a:latin typeface="Arial"/>
              </a:rPr>
              <a:t>What this does not yet do.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71600"/>
            <a:ext cx="10872216" cy="12700"/>
          </a:xfrm>
          <a:prstGeom prst="roundRect">
            <a:avLst>
              <a:gd name="adj" fmla="val 0"/>
            </a:avLst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391656"/>
            <a:ext cx="108722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50" b="0">
                <a:solidFill>
                  <a:srgbClr val="64748B"/>
                </a:solidFill>
                <a:latin typeface="Arial"/>
              </a:rPr>
              <a:t>PACT ·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72768"/>
            <a:ext cx="1087221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550" b="0">
                <a:solidFill>
                  <a:srgbClr val="33506B"/>
                </a:solidFill>
                <a:latin typeface="Arial"/>
              </a:rPr>
              <a:t>Stated here rather than discovered by a reviewer. None of it is hidden in a footnote elsewhere.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94560"/>
            <a:ext cx="5289804" cy="2615184"/>
          </a:xfrm>
          <a:prstGeom prst="roundRect">
            <a:avLst>
              <a:gd name="adj" fmla="val 4500"/>
            </a:avLst>
          </a:prstGeom>
          <a:solidFill>
            <a:srgbClr val="F4F7FA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96112" y="2450592"/>
            <a:ext cx="566928" cy="54864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633472"/>
            <a:ext cx="4814316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1B35"/>
                </a:solidFill>
                <a:latin typeface="Arial"/>
              </a:rPr>
              <a:t>Not proven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33506B"/>
                </a:solidFill>
                <a:latin typeface="Arial"/>
              </a:rPr>
              <a:t>The Razorpay client has never run against the live API — no test keys existed in the build environment. The mock UPI rail is what every number here was measured on.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33506B"/>
                </a:solidFill>
                <a:latin typeface="Arial"/>
              </a:rPr>
              <a:t>Arm A is modelled, not simulated: a 34% completion and 11% addon rate, stated as assumptions rather than buried.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33506B"/>
                </a:solidFill>
                <a:latin typeface="Arial"/>
              </a:rPr>
              <a:t>Two attack variants target a model auditor that was not running.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0780" y="2194560"/>
            <a:ext cx="5289804" cy="2615184"/>
          </a:xfrm>
          <a:prstGeom prst="roundRect">
            <a:avLst>
              <a:gd name="adj" fmla="val 4500"/>
            </a:avLst>
          </a:prstGeom>
          <a:solidFill>
            <a:srgbClr val="F4F7FA"/>
          </a:solidFill>
          <a:ln w="12700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6478524" y="2450592"/>
            <a:ext cx="566928" cy="54864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8524" y="2633472"/>
            <a:ext cx="4814316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1B35"/>
                </a:solidFill>
                <a:latin typeface="Arial"/>
              </a:rPr>
              <a:t>Known limits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33506B"/>
                </a:solidFill>
                <a:latin typeface="Arial"/>
              </a:rPr>
              <a:t>The 8% adversarial rate is an assumption. Below roughly 20%, an ungated channel still nets more under this loss model.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33506B"/>
                </a:solidFill>
                <a:latin typeface="Arial"/>
              </a:rPr>
              <a:t>The app needs a persistent process — SQLite in WAL mode and a held-open SSE stream — so it is not serverless-deployable as it stands.</a:t>
            </a:r>
          </a:p>
          <a:p>
            <a:pPr algn="l">
              <a:spcBef>
                <a:spcPts val="600"/>
              </a:spcBef>
            </a:pPr>
            <a:r>
              <a:rPr sz="1050" b="0">
                <a:solidFill>
                  <a:srgbClr val="33506B"/>
                </a:solidFill>
                <a:latin typeface="Arial"/>
              </a:rPr>
              <a:t>One instance, one volume. Horizontal scale would need the ledger moved off SQLite; nothing in the design prevents it, but nothing has measured it either.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797296"/>
            <a:ext cx="10872216" cy="47548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0">
                <a:solidFill>
                  <a:srgbClr val="64748B"/>
                </a:solidFill>
                <a:latin typeface="Arial"/>
              </a:rPr>
              <a:t>A spending control that overstates what it has proven is the one thing this system cannot afford to be.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1737360"/>
            <a:ext cx="1087221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5400" b="1">
                <a:solidFill>
                  <a:srgbClr val="001B35"/>
                </a:solidFill>
                <a:latin typeface="Arial"/>
              </a:rPr>
              <a:t>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2743200"/>
            <a:ext cx="96926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2000" b="1">
                <a:solidFill>
                  <a:srgbClr val="001B35"/>
                </a:solidFill>
                <a:latin typeface="Arial"/>
              </a:rPr>
              <a:t>A signed delegation the agent carries, a gate that decides on authority alone, and a merchant that only ever offers what will be approved.</a:t>
            </a:r>
          </a:p>
          <a:p>
            <a:pPr algn="l">
              <a:spcBef>
                <a:spcPts val="1000"/>
              </a:spcBef>
            </a:pPr>
            <a:r>
              <a:rPr sz="1350" b="0">
                <a:solidFill>
                  <a:srgbClr val="33506B"/>
                </a:solidFill>
                <a:latin typeface="Arial"/>
              </a:rPr>
              <a:t>Agentic commerce standardised how an agent pays. This is the part that says what it is allowed to spend.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4443984"/>
            <a:ext cx="10872216" cy="12700"/>
          </a:xfrm>
          <a:prstGeom prst="roundRect">
            <a:avLst>
              <a:gd name="adj" fmla="val 0"/>
            </a:avLst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663440"/>
            <a:ext cx="1087221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>
                <a:solidFill>
                  <a:srgbClr val="1D6FC4"/>
                </a:solidFill>
                <a:latin typeface="Courier New"/>
              </a:rPr>
              <a:t>github.com/swetank18/PACT     ·     pact-9btr.onrender.com</a:t>
            </a:r>
          </a:p>
          <a:p>
            <a:pPr algn="l">
              <a:spcBef>
                <a:spcPts val="800"/>
              </a:spcBef>
            </a:pPr>
            <a:r>
              <a:rPr sz="1050" b="0">
                <a:solidFill>
                  <a:srgbClr val="64748B"/>
                </a:solidFill>
                <a:latin typeface="Arial"/>
              </a:rPr>
              <a:t>docs/RUNBOOK.md for the live demo · eval/README.md for the simulation · docs/soak.md for the load 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